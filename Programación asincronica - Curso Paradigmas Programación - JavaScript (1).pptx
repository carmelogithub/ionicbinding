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Lst>
  <p:sldSz cy="6858000" cx="12192000"/>
  <p:notesSz cx="6858000" cy="9144000"/>
  <p:embeddedFontLst>
    <p:embeddedFont>
      <p:font typeface="Montserrat"/>
      <p:regular r:id="rId87"/>
      <p:bold r:id="rId88"/>
      <p:italic r:id="rId89"/>
      <p:boldItalic r:id="rId9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91" roundtripDataSignature="AMtx7mioiFUvKqvECehp/hdP5iLqqERL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84" Type="http://schemas.openxmlformats.org/officeDocument/2006/relationships/slide" Target="slides/slide80.xml"/><Relationship Id="rId83" Type="http://schemas.openxmlformats.org/officeDocument/2006/relationships/slide" Target="slides/slide79.xml"/><Relationship Id="rId42" Type="http://schemas.openxmlformats.org/officeDocument/2006/relationships/slide" Target="slides/slide38.xml"/><Relationship Id="rId86" Type="http://schemas.openxmlformats.org/officeDocument/2006/relationships/slide" Target="slides/slide82.xml"/><Relationship Id="rId41" Type="http://schemas.openxmlformats.org/officeDocument/2006/relationships/slide" Target="slides/slide37.xml"/><Relationship Id="rId85" Type="http://schemas.openxmlformats.org/officeDocument/2006/relationships/slide" Target="slides/slide81.xml"/><Relationship Id="rId44" Type="http://schemas.openxmlformats.org/officeDocument/2006/relationships/slide" Target="slides/slide40.xml"/><Relationship Id="rId88" Type="http://schemas.openxmlformats.org/officeDocument/2006/relationships/font" Target="fonts/Montserrat-bold.fntdata"/><Relationship Id="rId43" Type="http://schemas.openxmlformats.org/officeDocument/2006/relationships/slide" Target="slides/slide39.xml"/><Relationship Id="rId87" Type="http://schemas.openxmlformats.org/officeDocument/2006/relationships/font" Target="fonts/Montserrat-regular.fntdata"/><Relationship Id="rId46" Type="http://schemas.openxmlformats.org/officeDocument/2006/relationships/slide" Target="slides/slide42.xml"/><Relationship Id="rId45" Type="http://schemas.openxmlformats.org/officeDocument/2006/relationships/slide" Target="slides/slide41.xml"/><Relationship Id="rId89" Type="http://schemas.openxmlformats.org/officeDocument/2006/relationships/font" Target="fonts/Montserrat-italic.fntdata"/><Relationship Id="rId80" Type="http://schemas.openxmlformats.org/officeDocument/2006/relationships/slide" Target="slides/slide76.xml"/><Relationship Id="rId82" Type="http://schemas.openxmlformats.org/officeDocument/2006/relationships/slide" Target="slides/slide78.xml"/><Relationship Id="rId81" Type="http://schemas.openxmlformats.org/officeDocument/2006/relationships/slide" Target="slides/slide7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31" Type="http://schemas.openxmlformats.org/officeDocument/2006/relationships/slide" Target="slides/slide27.xml"/><Relationship Id="rId75" Type="http://schemas.openxmlformats.org/officeDocument/2006/relationships/slide" Target="slides/slide71.xml"/><Relationship Id="rId30" Type="http://schemas.openxmlformats.org/officeDocument/2006/relationships/slide" Target="slides/slide26.xml"/><Relationship Id="rId74" Type="http://schemas.openxmlformats.org/officeDocument/2006/relationships/slide" Target="slides/slide70.xml"/><Relationship Id="rId33" Type="http://schemas.openxmlformats.org/officeDocument/2006/relationships/slide" Target="slides/slide29.xml"/><Relationship Id="rId77" Type="http://schemas.openxmlformats.org/officeDocument/2006/relationships/slide" Target="slides/slide73.xml"/><Relationship Id="rId32" Type="http://schemas.openxmlformats.org/officeDocument/2006/relationships/slide" Target="slides/slide28.xml"/><Relationship Id="rId76" Type="http://schemas.openxmlformats.org/officeDocument/2006/relationships/slide" Target="slides/slide72.xml"/><Relationship Id="rId35" Type="http://schemas.openxmlformats.org/officeDocument/2006/relationships/slide" Target="slides/slide31.xml"/><Relationship Id="rId79" Type="http://schemas.openxmlformats.org/officeDocument/2006/relationships/slide" Target="slides/slide75.xml"/><Relationship Id="rId34" Type="http://schemas.openxmlformats.org/officeDocument/2006/relationships/slide" Target="slides/slide30.xml"/><Relationship Id="rId78" Type="http://schemas.openxmlformats.org/officeDocument/2006/relationships/slide" Target="slides/slide74.xml"/><Relationship Id="rId71" Type="http://schemas.openxmlformats.org/officeDocument/2006/relationships/slide" Target="slides/slide67.xml"/><Relationship Id="rId70" Type="http://schemas.openxmlformats.org/officeDocument/2006/relationships/slide" Target="slides/slide66.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91" Type="http://customschemas.google.com/relationships/presentationmetadata" Target="metadata"/><Relationship Id="rId90" Type="http://schemas.openxmlformats.org/officeDocument/2006/relationships/font" Target="fonts/Montserrat-boldItalic.fntdata"/><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7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7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7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7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7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7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8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8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8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8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8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8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8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8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8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8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8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8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8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23" name="Shape 23"/>
        <p:cNvGrpSpPr/>
        <p:nvPr/>
      </p:nvGrpSpPr>
      <p:grpSpPr>
        <a:xfrm>
          <a:off x="0" y="0"/>
          <a:ext cx="0" cy="0"/>
          <a:chOff x="0" y="0"/>
          <a:chExt cx="0" cy="0"/>
        </a:xfrm>
      </p:grpSpPr>
      <p:sp>
        <p:nvSpPr>
          <p:cNvPr id="24" name="Google Shape;24;p8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8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8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7" name="Shape 27"/>
        <p:cNvGrpSpPr/>
        <p:nvPr/>
      </p:nvGrpSpPr>
      <p:grpSpPr>
        <a:xfrm>
          <a:off x="0" y="0"/>
          <a:ext cx="0" cy="0"/>
          <a:chOff x="0" y="0"/>
          <a:chExt cx="0" cy="0"/>
        </a:xfrm>
      </p:grpSpPr>
      <p:sp>
        <p:nvSpPr>
          <p:cNvPr id="28" name="Google Shape;28;p8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8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8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8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8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33" name="Shape 33"/>
        <p:cNvGrpSpPr/>
        <p:nvPr/>
      </p:nvGrpSpPr>
      <p:grpSpPr>
        <a:xfrm>
          <a:off x="0" y="0"/>
          <a:ext cx="0" cy="0"/>
          <a:chOff x="0" y="0"/>
          <a:chExt cx="0" cy="0"/>
        </a:xfrm>
      </p:grpSpPr>
      <p:sp>
        <p:nvSpPr>
          <p:cNvPr id="34" name="Google Shape;34;p8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8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8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8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8" name="Shape 38"/>
        <p:cNvGrpSpPr/>
        <p:nvPr/>
      </p:nvGrpSpPr>
      <p:grpSpPr>
        <a:xfrm>
          <a:off x="0" y="0"/>
          <a:ext cx="0" cy="0"/>
          <a:chOff x="0" y="0"/>
          <a:chExt cx="0" cy="0"/>
        </a:xfrm>
      </p:grpSpPr>
      <p:sp>
        <p:nvSpPr>
          <p:cNvPr id="39" name="Google Shape;39;p8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8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8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8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8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8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5" name="Shape 45"/>
        <p:cNvGrpSpPr/>
        <p:nvPr/>
      </p:nvGrpSpPr>
      <p:grpSpPr>
        <a:xfrm>
          <a:off x="0" y="0"/>
          <a:ext cx="0" cy="0"/>
          <a:chOff x="0" y="0"/>
          <a:chExt cx="0" cy="0"/>
        </a:xfrm>
      </p:grpSpPr>
      <p:sp>
        <p:nvSpPr>
          <p:cNvPr id="46" name="Google Shape;46;p9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9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9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9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9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9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9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9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9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9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92"/>
          <p:cNvSpPr/>
          <p:nvPr>
            <p:ph idx="2" type="pic"/>
          </p:nvPr>
        </p:nvSpPr>
        <p:spPr>
          <a:xfrm>
            <a:off x="5183188" y="987425"/>
            <a:ext cx="6172200" cy="4873625"/>
          </a:xfrm>
          <a:prstGeom prst="rect">
            <a:avLst/>
          </a:prstGeom>
          <a:noFill/>
          <a:ln>
            <a:noFill/>
          </a:ln>
        </p:spPr>
      </p:sp>
      <p:sp>
        <p:nvSpPr>
          <p:cNvPr id="64" name="Google Shape;64;p9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9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9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9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9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9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9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9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9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9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9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9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9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9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8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8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8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8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6.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8.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2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19.png"/><Relationship Id="rId4" Type="http://schemas.openxmlformats.org/officeDocument/2006/relationships/image" Target="../media/image26.gi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23.gif"/><Relationship Id="rId4" Type="http://schemas.openxmlformats.org/officeDocument/2006/relationships/image" Target="../media/image20.gi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2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2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2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2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hyperlink" Target="http://callbackhell.com/"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hyperlink" Target="https://www.promisejs.org/"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hyperlink" Target="https://www.promisejs.org/generators/"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hyperlink" Target="https://tc39.github.io/ecmascript-asyncawait/"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2.xml"/><Relationship Id="rId3" Type="http://schemas.openxmlformats.org/officeDocument/2006/relationships/hyperlink" Target="http://lemoncode.net/lemoncode-blog/2018/1/29/javascript-asincrono" TargetMode="External"/><Relationship Id="rId4" Type="http://schemas.openxmlformats.org/officeDocument/2006/relationships/hyperlink" Target="https://carlosazaustre.es/manejando-la-asincronia-en-javascrip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solidFill>
            <a:schemeClr val="accent2"/>
          </a:solidFill>
          <a:ln cap="flat" cmpd="sng" w="12700">
            <a:solidFill>
              <a:srgbClr val="AC5B23"/>
            </a:solidFill>
            <a:prstDash val="solid"/>
            <a:miter lim="8000"/>
            <a:headEnd len="sm" w="sm" type="none"/>
            <a:tailEnd len="sm" w="sm" type="none"/>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Calibri"/>
              <a:buNone/>
            </a:pPr>
            <a:r>
              <a:rPr lang="es-ES">
                <a:solidFill>
                  <a:schemeClr val="lt1"/>
                </a:solidFill>
                <a:latin typeface="Calibri"/>
                <a:ea typeface="Calibri"/>
                <a:cs typeface="Calibri"/>
                <a:sym typeface="Calibri"/>
              </a:rPr>
              <a:t>PARADIGMAS DE PROGRAMAS - JAVASCRIPT</a:t>
            </a:r>
            <a:endParaRPr/>
          </a:p>
        </p:txBody>
      </p:sp>
      <p:sp>
        <p:nvSpPr>
          <p:cNvPr id="85" name="Google Shape;85;p1"/>
          <p:cNvSpPr txBox="1"/>
          <p:nvPr/>
        </p:nvSpPr>
        <p:spPr>
          <a:xfrm>
            <a:off x="458189" y="4236481"/>
            <a:ext cx="10515600" cy="1325563"/>
          </a:xfrm>
          <a:prstGeom prst="rect">
            <a:avLst/>
          </a:prstGeom>
          <a:solidFill>
            <a:schemeClr val="lt1"/>
          </a:solidFill>
          <a:ln cap="flat" cmpd="sng" w="12700">
            <a:solidFill>
              <a:schemeClr val="accent2"/>
            </a:solidFill>
            <a:prstDash val="solid"/>
            <a:miter lim="8000"/>
            <a:headEnd len="sm" w="sm" type="none"/>
            <a:tailEnd len="sm" w="sm" type="none"/>
          </a:ln>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6000"/>
              <a:buFont typeface="Calibri"/>
              <a:buNone/>
            </a:pPr>
            <a:r>
              <a:rPr b="0" i="0" lang="es-ES" sz="6000" u="none" cap="none" strike="noStrike">
                <a:solidFill>
                  <a:schemeClr val="dk1"/>
                </a:solidFill>
                <a:latin typeface="Calibri"/>
                <a:ea typeface="Calibri"/>
                <a:cs typeface="Calibri"/>
                <a:sym typeface="Calibri"/>
              </a:rPr>
              <a:t>Programación asincrónica </a:t>
            </a:r>
            <a:endParaRPr b="0" i="0" sz="6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solidFill>
            <a:schemeClr val="lt1"/>
          </a:solidFill>
          <a:ln cap="flat" cmpd="sng" w="12700">
            <a:solidFill>
              <a:schemeClr val="accent2"/>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solidFill>
                  <a:schemeClr val="dk1"/>
                </a:solidFill>
                <a:latin typeface="Calibri"/>
                <a:ea typeface="Calibri"/>
                <a:cs typeface="Calibri"/>
                <a:sym typeface="Calibri"/>
              </a:rPr>
              <a:t>Programación asincrónica </a:t>
            </a:r>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s-ES"/>
              <a:t>Programación Asíncrona </a:t>
            </a:r>
            <a:endParaRPr/>
          </a:p>
          <a:p>
            <a:pPr indent="-228600" lvl="0" marL="228600" rtl="0" algn="l">
              <a:lnSpc>
                <a:spcPct val="90000"/>
              </a:lnSpc>
              <a:spcBef>
                <a:spcPts val="1000"/>
              </a:spcBef>
              <a:spcAft>
                <a:spcPts val="0"/>
              </a:spcAft>
              <a:buClr>
                <a:schemeClr val="dk1"/>
              </a:buClr>
              <a:buSzPts val="2800"/>
              <a:buChar char="•"/>
            </a:pPr>
            <a:r>
              <a:rPr lang="es-ES"/>
              <a:t>¿Qué es y qué no es? </a:t>
            </a:r>
            <a:endParaRPr/>
          </a:p>
          <a:p>
            <a:pPr indent="-228600" lvl="0" marL="228600" rtl="0" algn="l">
              <a:lnSpc>
                <a:spcPct val="90000"/>
              </a:lnSpc>
              <a:spcBef>
                <a:spcPts val="1000"/>
              </a:spcBef>
              <a:spcAft>
                <a:spcPts val="0"/>
              </a:spcAft>
              <a:buClr>
                <a:schemeClr val="dk1"/>
              </a:buClr>
              <a:buSzPts val="2800"/>
              <a:buChar char="•"/>
            </a:pPr>
            <a:r>
              <a:rPr lang="es-ES"/>
              <a:t>AJAX y JSON </a:t>
            </a:r>
            <a:endParaRPr/>
          </a:p>
          <a:p>
            <a:pPr indent="-228600" lvl="0" marL="228600" rtl="0" algn="l">
              <a:lnSpc>
                <a:spcPct val="90000"/>
              </a:lnSpc>
              <a:spcBef>
                <a:spcPts val="1000"/>
              </a:spcBef>
              <a:spcAft>
                <a:spcPts val="0"/>
              </a:spcAft>
              <a:buClr>
                <a:schemeClr val="dk1"/>
              </a:buClr>
              <a:buSzPts val="2800"/>
              <a:buChar char="•"/>
            </a:pPr>
            <a:r>
              <a:rPr lang="es-ES"/>
              <a:t>Control de flujo asíncrono </a:t>
            </a:r>
            <a:endParaRPr/>
          </a:p>
          <a:p>
            <a:pPr indent="-228600" lvl="0" marL="228600" rtl="0" algn="l">
              <a:lnSpc>
                <a:spcPct val="90000"/>
              </a:lnSpc>
              <a:spcBef>
                <a:spcPts val="1000"/>
              </a:spcBef>
              <a:spcAft>
                <a:spcPts val="0"/>
              </a:spcAft>
              <a:buClr>
                <a:schemeClr val="dk1"/>
              </a:buClr>
              <a:buSzPts val="2800"/>
              <a:buChar char="•"/>
            </a:pPr>
            <a:r>
              <a:rPr lang="es-ES"/>
              <a:t>Callbacks </a:t>
            </a:r>
            <a:endParaRPr/>
          </a:p>
          <a:p>
            <a:pPr indent="-228600" lvl="0" marL="228600" rtl="0" algn="l">
              <a:lnSpc>
                <a:spcPct val="90000"/>
              </a:lnSpc>
              <a:spcBef>
                <a:spcPts val="1000"/>
              </a:spcBef>
              <a:spcAft>
                <a:spcPts val="0"/>
              </a:spcAft>
              <a:buClr>
                <a:schemeClr val="dk1"/>
              </a:buClr>
              <a:buSzPts val="2800"/>
              <a:buChar char="•"/>
            </a:pPr>
            <a:r>
              <a:rPr lang="es-ES"/>
              <a:t>Promesas </a:t>
            </a:r>
            <a:endParaRPr/>
          </a:p>
          <a:p>
            <a:pPr indent="-228600" lvl="0" marL="228600" rtl="0" algn="l">
              <a:lnSpc>
                <a:spcPct val="90000"/>
              </a:lnSpc>
              <a:spcBef>
                <a:spcPts val="1000"/>
              </a:spcBef>
              <a:spcAft>
                <a:spcPts val="0"/>
              </a:spcAft>
              <a:buClr>
                <a:schemeClr val="dk1"/>
              </a:buClr>
              <a:buSzPts val="2800"/>
              <a:buChar char="•"/>
            </a:pPr>
            <a:r>
              <a:rPr lang="es-ES"/>
              <a:t>Generadores </a:t>
            </a:r>
            <a:endParaRPr/>
          </a:p>
          <a:p>
            <a:pPr indent="-228600" lvl="0" marL="228600" rtl="0" algn="l">
              <a:lnSpc>
                <a:spcPct val="90000"/>
              </a:lnSpc>
              <a:spcBef>
                <a:spcPts val="1000"/>
              </a:spcBef>
              <a:spcAft>
                <a:spcPts val="0"/>
              </a:spcAft>
              <a:buClr>
                <a:schemeClr val="dk1"/>
              </a:buClr>
              <a:buSzPts val="2800"/>
              <a:buChar char="•"/>
            </a:pPr>
            <a:r>
              <a:rPr lang="es-ES"/>
              <a:t>Funciones Asíncronas (async y await)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descr="Resultado de imagen de programacion asincrona javascript" id="92" name="Google Shape;92;p2"/>
          <p:cNvPicPr preferRelativeResize="0"/>
          <p:nvPr/>
        </p:nvPicPr>
        <p:blipFill rotWithShape="1">
          <a:blip r:embed="rId3">
            <a:alphaModFix/>
          </a:blip>
          <a:srcRect b="0" l="0" r="0" t="0"/>
          <a:stretch/>
        </p:blipFill>
        <p:spPr>
          <a:xfrm>
            <a:off x="5656916" y="1690688"/>
            <a:ext cx="6160477" cy="3336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p:nvPr/>
        </p:nvSpPr>
        <p:spPr>
          <a:xfrm>
            <a:off x="695459" y="425003"/>
            <a:ext cx="3837904" cy="1223493"/>
          </a:xfrm>
          <a:prstGeom prst="roundRect">
            <a:avLst>
              <a:gd fmla="val 16667" name="adj"/>
            </a:avLst>
          </a:prstGeom>
          <a:solidFill>
            <a:schemeClr val="accent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s-ES" sz="2000" u="none" cap="none" strike="noStrike">
                <a:solidFill>
                  <a:schemeClr val="lt1"/>
                </a:solidFill>
                <a:latin typeface="Calibri"/>
                <a:ea typeface="Calibri"/>
                <a:cs typeface="Calibri"/>
                <a:sym typeface="Calibri"/>
              </a:rPr>
              <a:t>La asincronía es uno de los pilares fundamentales de Javascript</a:t>
            </a:r>
            <a:endParaRPr/>
          </a:p>
        </p:txBody>
      </p:sp>
      <p:sp>
        <p:nvSpPr>
          <p:cNvPr id="98" name="Google Shape;98;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s-ES"/>
              <a:t>Concurrencia</a:t>
            </a:r>
            <a:r>
              <a:rPr lang="es-ES"/>
              <a:t>: cuando dos o mas tareas progresan simultáneamente.</a:t>
            </a:r>
            <a:endParaRPr/>
          </a:p>
          <a:p>
            <a:pPr indent="-228600" lvl="0" marL="228600" rtl="0" algn="l">
              <a:lnSpc>
                <a:spcPct val="90000"/>
              </a:lnSpc>
              <a:spcBef>
                <a:spcPts val="1000"/>
              </a:spcBef>
              <a:spcAft>
                <a:spcPts val="0"/>
              </a:spcAft>
              <a:buClr>
                <a:schemeClr val="dk1"/>
              </a:buClr>
              <a:buSzPts val="2800"/>
              <a:buChar char="•"/>
            </a:pPr>
            <a:r>
              <a:rPr b="1" lang="es-ES"/>
              <a:t>Paralelismo</a:t>
            </a:r>
            <a:r>
              <a:rPr lang="es-ES"/>
              <a:t>: cuando dos o más tareas se ejecutan, literalmente, a la vez, en el mismo instante de tiempo.</a:t>
            </a:r>
            <a:endParaRPr/>
          </a:p>
          <a:p>
            <a:pPr indent="-50800" lvl="0" marL="228600" rtl="0" algn="l">
              <a:lnSpc>
                <a:spcPct val="90000"/>
              </a:lnSpc>
              <a:spcBef>
                <a:spcPts val="1000"/>
              </a:spcBef>
              <a:spcAft>
                <a:spcPts val="0"/>
              </a:spcAft>
              <a:buClr>
                <a:schemeClr val="dk1"/>
              </a:buClr>
              <a:buSzPts val="2800"/>
              <a:buNone/>
            </a:pPr>
            <a:r>
              <a:t/>
            </a:r>
            <a:endParaRPr/>
          </a:p>
        </p:txBody>
      </p:sp>
      <p:sp>
        <p:nvSpPr>
          <p:cNvPr id="99" name="Google Shape;99;p3"/>
          <p:cNvSpPr/>
          <p:nvPr/>
        </p:nvSpPr>
        <p:spPr>
          <a:xfrm>
            <a:off x="1094703" y="4159875"/>
            <a:ext cx="3374265" cy="1674253"/>
          </a:xfrm>
          <a:prstGeom prst="roundRect">
            <a:avLst>
              <a:gd fmla="val 16667" name="adj"/>
            </a:avLst>
          </a:prstGeom>
          <a:gradFill>
            <a:gsLst>
              <a:gs pos="0">
                <a:srgbClr val="FFDC9B"/>
              </a:gs>
              <a:gs pos="50000">
                <a:srgbClr val="FFD68D"/>
              </a:gs>
              <a:gs pos="100000">
                <a:srgbClr val="FFD478"/>
              </a:gs>
            </a:gsLst>
            <a:lin ang="5400000" scaled="0"/>
          </a:gra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s-ES" sz="1800" u="none" cap="none" strike="noStrike">
                <a:solidFill>
                  <a:schemeClr val="dk1"/>
                </a:solidFill>
                <a:latin typeface="Calibri"/>
                <a:ea typeface="Calibri"/>
                <a:cs typeface="Calibri"/>
                <a:sym typeface="Calibri"/>
              </a:rPr>
              <a:t>Mucha gente aún sigue creyendo que la concurrencia implica necesariamente más de un </a:t>
            </a:r>
            <a:r>
              <a:rPr b="0" i="1" lang="es-ES" sz="1800" u="none" cap="none" strike="noStrike">
                <a:solidFill>
                  <a:schemeClr val="dk1"/>
                </a:solidFill>
                <a:latin typeface="Calibri"/>
                <a:ea typeface="Calibri"/>
                <a:cs typeface="Calibri"/>
                <a:sym typeface="Calibri"/>
              </a:rPr>
              <a:t>thread</a:t>
            </a:r>
            <a:r>
              <a:rPr b="0" i="0" lang="es-ES" sz="1800" u="none" cap="none" strike="noStrike">
                <a:solidFill>
                  <a:schemeClr val="dk1"/>
                </a:solidFill>
                <a:latin typeface="Calibri"/>
                <a:ea typeface="Calibri"/>
                <a:cs typeface="Calibri"/>
                <a:sym typeface="Calibri"/>
              </a:rPr>
              <a:t>.</a:t>
            </a:r>
            <a:endParaRPr/>
          </a:p>
          <a:p>
            <a:pPr indent="0" lvl="0" marL="0" marR="0" rtl="0" algn="ctr">
              <a:spcBef>
                <a:spcPts val="0"/>
              </a:spcBef>
              <a:spcAft>
                <a:spcPts val="0"/>
              </a:spcAft>
              <a:buNone/>
            </a:pPr>
            <a:r>
              <a:rPr b="1" i="0" lang="es-ES" sz="2400" u="none" cap="none" strike="noStrike">
                <a:solidFill>
                  <a:srgbClr val="FF0000"/>
                </a:solidFill>
                <a:latin typeface="Calibri"/>
                <a:ea typeface="Calibri"/>
                <a:cs typeface="Calibri"/>
                <a:sym typeface="Calibri"/>
              </a:rPr>
              <a:t> Esto no es cierto</a:t>
            </a:r>
            <a:endParaRPr/>
          </a:p>
        </p:txBody>
      </p:sp>
      <p:pic>
        <p:nvPicPr>
          <p:cNvPr descr="https://encrypted-tbn0.gstatic.com/images?q=tbn:ANd9GcReuB2wgRcqe9a_n9Z071nVh_pmlFfrpBV3N83-g-yjG489zr0t4Q" id="100" name="Google Shape;100;p3"/>
          <p:cNvPicPr preferRelativeResize="0"/>
          <p:nvPr/>
        </p:nvPicPr>
        <p:blipFill rotWithShape="1">
          <a:blip r:embed="rId3">
            <a:alphaModFix/>
          </a:blip>
          <a:srcRect b="0" l="0" r="0" t="0"/>
          <a:stretch/>
        </p:blipFill>
        <p:spPr>
          <a:xfrm>
            <a:off x="6787166" y="2964999"/>
            <a:ext cx="4790225" cy="314737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descr="concurrency_es.png" id="105" name="Google Shape;105;p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06" name="Google Shape;106;p4"/>
          <p:cNvPicPr preferRelativeResize="0"/>
          <p:nvPr/>
        </p:nvPicPr>
        <p:blipFill rotWithShape="1">
          <a:blip r:embed="rId3">
            <a:alphaModFix/>
          </a:blip>
          <a:srcRect b="0" l="0" r="0" t="0"/>
          <a:stretch/>
        </p:blipFill>
        <p:spPr>
          <a:xfrm>
            <a:off x="155575" y="7937"/>
            <a:ext cx="6858000" cy="6858000"/>
          </a:xfrm>
          <a:prstGeom prst="rect">
            <a:avLst/>
          </a:prstGeom>
          <a:noFill/>
          <a:ln>
            <a:noFill/>
          </a:ln>
        </p:spPr>
      </p:pic>
      <p:sp>
        <p:nvSpPr>
          <p:cNvPr id="107" name="Google Shape;107;p4"/>
          <p:cNvSpPr/>
          <p:nvPr/>
        </p:nvSpPr>
        <p:spPr>
          <a:xfrm>
            <a:off x="6864439" y="257578"/>
            <a:ext cx="5061398" cy="6297768"/>
          </a:xfrm>
          <a:prstGeom prst="roundRect">
            <a:avLst>
              <a:gd fmla="val 16667" name="adj"/>
            </a:avLst>
          </a:prstGeom>
          <a:solidFill>
            <a:schemeClr val="accent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1800">
                <a:solidFill>
                  <a:schemeClr val="lt1"/>
                </a:solidFill>
                <a:latin typeface="Calibri"/>
                <a:ea typeface="Calibri"/>
                <a:cs typeface="Calibri"/>
                <a:sym typeface="Calibri"/>
              </a:rPr>
              <a:t>Escenario 1</a:t>
            </a:r>
            <a:r>
              <a:rPr lang="es-ES" sz="1800">
                <a:solidFill>
                  <a:schemeClr val="lt1"/>
                </a:solidFill>
                <a:latin typeface="Calibri"/>
                <a:ea typeface="Calibri"/>
                <a:cs typeface="Calibri"/>
                <a:sym typeface="Calibri"/>
              </a:rPr>
              <a:t>: no es ni concurrente ni paralelo. Es simplemente una ejecución </a:t>
            </a:r>
            <a:r>
              <a:rPr b="1" lang="es-ES" sz="1800">
                <a:solidFill>
                  <a:srgbClr val="FF0000"/>
                </a:solidFill>
                <a:latin typeface="Calibri"/>
                <a:ea typeface="Calibri"/>
                <a:cs typeface="Calibri"/>
                <a:sym typeface="Calibri"/>
              </a:rPr>
              <a:t>secuencial</a:t>
            </a:r>
            <a:r>
              <a:rPr lang="es-ES" sz="1800">
                <a:solidFill>
                  <a:schemeClr val="lt1"/>
                </a:solidFill>
                <a:latin typeface="Calibri"/>
                <a:ea typeface="Calibri"/>
                <a:cs typeface="Calibri"/>
                <a:sym typeface="Calibri"/>
              </a:rPr>
              <a:t>, primero una tarea, después la siguiente.</a:t>
            </a:r>
            <a:endParaRPr/>
          </a:p>
          <a:p>
            <a:pPr indent="0" lvl="0" marL="0" marR="0" rtl="0" algn="l">
              <a:spcBef>
                <a:spcPts val="0"/>
              </a:spcBef>
              <a:spcAft>
                <a:spcPts val="0"/>
              </a:spcAft>
              <a:buNone/>
            </a:pPr>
            <a:r>
              <a:rPr b="1" lang="es-ES" sz="1800">
                <a:solidFill>
                  <a:schemeClr val="lt1"/>
                </a:solidFill>
                <a:latin typeface="Calibri"/>
                <a:ea typeface="Calibri"/>
                <a:cs typeface="Calibri"/>
                <a:sym typeface="Calibri"/>
              </a:rPr>
              <a:t>Escenario 2</a:t>
            </a:r>
            <a:r>
              <a:rPr lang="es-ES" sz="1800">
                <a:solidFill>
                  <a:schemeClr val="lt1"/>
                </a:solidFill>
                <a:latin typeface="Calibri"/>
                <a:ea typeface="Calibri"/>
                <a:cs typeface="Calibri"/>
                <a:sym typeface="Calibri"/>
              </a:rPr>
              <a:t>, </a:t>
            </a:r>
            <a:r>
              <a:rPr b="1" lang="es-ES" sz="1800">
                <a:solidFill>
                  <a:schemeClr val="lt1"/>
                </a:solidFill>
                <a:latin typeface="Calibri"/>
                <a:ea typeface="Calibri"/>
                <a:cs typeface="Calibri"/>
                <a:sym typeface="Calibri"/>
              </a:rPr>
              <a:t>3</a:t>
            </a:r>
            <a:r>
              <a:rPr lang="es-ES" sz="1800">
                <a:solidFill>
                  <a:schemeClr val="lt1"/>
                </a:solidFill>
                <a:latin typeface="Calibri"/>
                <a:ea typeface="Calibri"/>
                <a:cs typeface="Calibri"/>
                <a:sym typeface="Calibri"/>
              </a:rPr>
              <a:t> y </a:t>
            </a:r>
            <a:r>
              <a:rPr b="1" lang="es-ES" sz="1800">
                <a:solidFill>
                  <a:schemeClr val="lt1"/>
                </a:solidFill>
                <a:latin typeface="Calibri"/>
                <a:ea typeface="Calibri"/>
                <a:cs typeface="Calibri"/>
                <a:sym typeface="Calibri"/>
              </a:rPr>
              <a:t>4</a:t>
            </a:r>
            <a:r>
              <a:rPr lang="es-ES" sz="1800">
                <a:solidFill>
                  <a:schemeClr val="lt1"/>
                </a:solidFill>
                <a:latin typeface="Calibri"/>
                <a:ea typeface="Calibri"/>
                <a:cs typeface="Calibri"/>
                <a:sym typeface="Calibri"/>
              </a:rPr>
              <a:t>: son escenarios donde se ilustra la </a:t>
            </a:r>
            <a:r>
              <a:rPr b="1" lang="es-ES" sz="1800">
                <a:solidFill>
                  <a:srgbClr val="FF0000"/>
                </a:solidFill>
                <a:latin typeface="Calibri"/>
                <a:ea typeface="Calibri"/>
                <a:cs typeface="Calibri"/>
                <a:sym typeface="Calibri"/>
              </a:rPr>
              <a:t>concurrencia</a:t>
            </a:r>
            <a:r>
              <a:rPr lang="es-ES" sz="1800">
                <a:solidFill>
                  <a:schemeClr val="lt1"/>
                </a:solidFill>
                <a:latin typeface="Calibri"/>
                <a:ea typeface="Calibri"/>
                <a:cs typeface="Calibri"/>
                <a:sym typeface="Calibri"/>
              </a:rPr>
              <a:t> bajo distintas técnicas:</a:t>
            </a:r>
            <a:endParaRPr/>
          </a:p>
          <a:p>
            <a:pPr indent="0" lvl="1" marL="457200" marR="0" rtl="0" algn="l">
              <a:spcBef>
                <a:spcPts val="0"/>
              </a:spcBef>
              <a:spcAft>
                <a:spcPts val="0"/>
              </a:spcAft>
              <a:buNone/>
            </a:pPr>
            <a:r>
              <a:rPr b="1" i="0" lang="es-ES" sz="1800" u="none" cap="none" strike="noStrike">
                <a:solidFill>
                  <a:schemeClr val="lt1"/>
                </a:solidFill>
                <a:latin typeface="Calibri"/>
                <a:ea typeface="Calibri"/>
                <a:cs typeface="Calibri"/>
                <a:sym typeface="Calibri"/>
              </a:rPr>
              <a:t>Escenario 3</a:t>
            </a:r>
            <a:r>
              <a:rPr b="0" i="0" lang="es-ES" sz="1800" u="none" cap="none" strike="noStrike">
                <a:solidFill>
                  <a:schemeClr val="lt1"/>
                </a:solidFill>
                <a:latin typeface="Calibri"/>
                <a:ea typeface="Calibri"/>
                <a:cs typeface="Calibri"/>
                <a:sym typeface="Calibri"/>
              </a:rPr>
              <a:t>: muestra cómo la </a:t>
            </a:r>
            <a:r>
              <a:rPr b="1" i="0" lang="es-ES" sz="1800" u="none" cap="none" strike="noStrike">
                <a:solidFill>
                  <a:srgbClr val="FF0000"/>
                </a:solidFill>
                <a:latin typeface="Calibri"/>
                <a:ea typeface="Calibri"/>
                <a:cs typeface="Calibri"/>
                <a:sym typeface="Calibri"/>
              </a:rPr>
              <a:t>concurrencia</a:t>
            </a:r>
            <a:r>
              <a:rPr b="0" i="0" lang="es-ES" sz="1800" u="none" cap="none" strike="noStrike">
                <a:solidFill>
                  <a:schemeClr val="lt1"/>
                </a:solidFill>
                <a:latin typeface="Calibri"/>
                <a:ea typeface="Calibri"/>
                <a:cs typeface="Calibri"/>
                <a:sym typeface="Calibri"/>
              </a:rPr>
              <a:t> puede conseguirse con un único </a:t>
            </a:r>
            <a:r>
              <a:rPr b="0" i="1" lang="es-ES" sz="1800" u="none" cap="none" strike="noStrike">
                <a:solidFill>
                  <a:schemeClr val="lt1"/>
                </a:solidFill>
                <a:latin typeface="Calibri"/>
                <a:ea typeface="Calibri"/>
                <a:cs typeface="Calibri"/>
                <a:sym typeface="Calibri"/>
              </a:rPr>
              <a:t>thread</a:t>
            </a:r>
            <a:r>
              <a:rPr b="0" i="0" lang="es-ES" sz="1800" u="none" cap="none" strike="noStrike">
                <a:solidFill>
                  <a:schemeClr val="lt1"/>
                </a:solidFill>
                <a:latin typeface="Calibri"/>
                <a:ea typeface="Calibri"/>
                <a:cs typeface="Calibri"/>
                <a:sym typeface="Calibri"/>
              </a:rPr>
              <a:t>. Pequeñas porciones de cada tarea se entrelazan para que ambas mantengan un progreso constante. Esto es posible siempre y cuando las tareas puedan descompuestas en subtareas mas simples.</a:t>
            </a:r>
            <a:endParaRPr/>
          </a:p>
          <a:p>
            <a:pPr indent="0" lvl="1" marL="457200" marR="0" rtl="0" algn="l">
              <a:spcBef>
                <a:spcPts val="0"/>
              </a:spcBef>
              <a:spcAft>
                <a:spcPts val="0"/>
              </a:spcAft>
              <a:buNone/>
            </a:pPr>
            <a:r>
              <a:rPr b="1" i="0" lang="es-ES" sz="1800" u="none" cap="none" strike="noStrike">
                <a:solidFill>
                  <a:schemeClr val="lt1"/>
                </a:solidFill>
                <a:latin typeface="Calibri"/>
                <a:ea typeface="Calibri"/>
                <a:cs typeface="Calibri"/>
                <a:sym typeface="Calibri"/>
              </a:rPr>
              <a:t>Escenario 2</a:t>
            </a:r>
            <a:r>
              <a:rPr b="0" i="0" lang="es-ES" sz="1800" u="none" cap="none" strike="noStrike">
                <a:solidFill>
                  <a:schemeClr val="lt1"/>
                </a:solidFill>
                <a:latin typeface="Calibri"/>
                <a:ea typeface="Calibri"/>
                <a:cs typeface="Calibri"/>
                <a:sym typeface="Calibri"/>
              </a:rPr>
              <a:t> y </a:t>
            </a:r>
            <a:r>
              <a:rPr b="1" i="0" lang="es-ES" sz="1800" u="none" cap="none" strike="noStrike">
                <a:solidFill>
                  <a:schemeClr val="lt1"/>
                </a:solidFill>
                <a:latin typeface="Calibri"/>
                <a:ea typeface="Calibri"/>
                <a:cs typeface="Calibri"/>
                <a:sym typeface="Calibri"/>
              </a:rPr>
              <a:t>4</a:t>
            </a:r>
            <a:r>
              <a:rPr b="0" i="0" lang="es-ES" sz="1800" u="none" cap="none" strike="noStrike">
                <a:solidFill>
                  <a:schemeClr val="lt1"/>
                </a:solidFill>
                <a:latin typeface="Calibri"/>
                <a:ea typeface="Calibri"/>
                <a:cs typeface="Calibri"/>
                <a:sym typeface="Calibri"/>
              </a:rPr>
              <a:t>: ilustran </a:t>
            </a:r>
            <a:r>
              <a:rPr b="1" i="0" lang="es-ES" sz="1800" u="none" cap="none" strike="noStrike">
                <a:solidFill>
                  <a:srgbClr val="FF0000"/>
                </a:solidFill>
                <a:latin typeface="Calibri"/>
                <a:ea typeface="Calibri"/>
                <a:cs typeface="Calibri"/>
                <a:sym typeface="Calibri"/>
              </a:rPr>
              <a:t>paralelismo</a:t>
            </a:r>
            <a:r>
              <a:rPr b="0" i="0" lang="es-ES" sz="1800" u="none" cap="none" strike="noStrike">
                <a:solidFill>
                  <a:schemeClr val="lt1"/>
                </a:solidFill>
                <a:latin typeface="Calibri"/>
                <a:ea typeface="Calibri"/>
                <a:cs typeface="Calibri"/>
                <a:sym typeface="Calibri"/>
              </a:rPr>
              <a:t>, utilizando multiples </a:t>
            </a:r>
            <a:r>
              <a:rPr b="0" i="1" lang="es-ES" sz="1800" u="none" cap="none" strike="noStrike">
                <a:solidFill>
                  <a:schemeClr val="lt1"/>
                </a:solidFill>
                <a:latin typeface="Calibri"/>
                <a:ea typeface="Calibri"/>
                <a:cs typeface="Calibri"/>
                <a:sym typeface="Calibri"/>
              </a:rPr>
              <a:t>threads</a:t>
            </a:r>
            <a:r>
              <a:rPr b="0" i="0" lang="es-ES" sz="1800" u="none" cap="none" strike="noStrike">
                <a:solidFill>
                  <a:schemeClr val="lt1"/>
                </a:solidFill>
                <a:latin typeface="Calibri"/>
                <a:ea typeface="Calibri"/>
                <a:cs typeface="Calibri"/>
                <a:sym typeface="Calibri"/>
              </a:rPr>
              <a:t> donde las tareas o subtareas corren en paralelo exactamente al mismo tiempo. A nivel de </a:t>
            </a:r>
            <a:r>
              <a:rPr b="0" i="1" lang="es-ES" sz="1800" u="none" cap="none" strike="noStrike">
                <a:solidFill>
                  <a:schemeClr val="lt1"/>
                </a:solidFill>
                <a:latin typeface="Calibri"/>
                <a:ea typeface="Calibri"/>
                <a:cs typeface="Calibri"/>
                <a:sym typeface="Calibri"/>
              </a:rPr>
              <a:t>thread</a:t>
            </a:r>
            <a:r>
              <a:rPr b="0" i="0" lang="es-ES" sz="1800" u="none" cap="none" strike="noStrike">
                <a:solidFill>
                  <a:schemeClr val="lt1"/>
                </a:solidFill>
                <a:latin typeface="Calibri"/>
                <a:ea typeface="Calibri"/>
                <a:cs typeface="Calibri"/>
                <a:sym typeface="Calibri"/>
              </a:rPr>
              <a:t>, el escenario </a:t>
            </a:r>
            <a:r>
              <a:rPr b="1" i="0" lang="es-ES" sz="1800" u="none" cap="none" strike="noStrike">
                <a:solidFill>
                  <a:schemeClr val="lt1"/>
                </a:solidFill>
                <a:latin typeface="Calibri"/>
                <a:ea typeface="Calibri"/>
                <a:cs typeface="Calibri"/>
                <a:sym typeface="Calibri"/>
              </a:rPr>
              <a:t>2</a:t>
            </a:r>
            <a:r>
              <a:rPr b="0" i="0" lang="es-ES" sz="1800" u="none" cap="none" strike="noStrike">
                <a:solidFill>
                  <a:schemeClr val="lt1"/>
                </a:solidFill>
                <a:latin typeface="Calibri"/>
                <a:ea typeface="Calibri"/>
                <a:cs typeface="Calibri"/>
                <a:sym typeface="Calibri"/>
              </a:rPr>
              <a:t> es secuencial, mientras que </a:t>
            </a:r>
            <a:r>
              <a:rPr b="1" i="0" lang="es-ES" sz="1800" u="none" cap="none" strike="noStrike">
                <a:solidFill>
                  <a:schemeClr val="lt1"/>
                </a:solidFill>
                <a:latin typeface="Calibri"/>
                <a:ea typeface="Calibri"/>
                <a:cs typeface="Calibri"/>
                <a:sym typeface="Calibri"/>
              </a:rPr>
              <a:t>4</a:t>
            </a:r>
            <a:r>
              <a:rPr b="0" i="0" lang="es-ES" sz="1800" u="none" cap="none" strike="noStrike">
                <a:solidFill>
                  <a:schemeClr val="lt1"/>
                </a:solidFill>
                <a:latin typeface="Calibri"/>
                <a:ea typeface="Calibri"/>
                <a:cs typeface="Calibri"/>
                <a:sym typeface="Calibri"/>
              </a:rPr>
              <a:t> aplica entrelazado.</a:t>
            </a:r>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5"/>
          <p:cNvPicPr preferRelativeResize="0"/>
          <p:nvPr/>
        </p:nvPicPr>
        <p:blipFill rotWithShape="1">
          <a:blip r:embed="rId3">
            <a:alphaModFix/>
          </a:blip>
          <a:srcRect b="0" l="0" r="0" t="0"/>
          <a:stretch/>
        </p:blipFill>
        <p:spPr>
          <a:xfrm>
            <a:off x="455915" y="564497"/>
            <a:ext cx="11096434" cy="563568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6"/>
          <p:cNvSpPr txBox="1"/>
          <p:nvPr>
            <p:ph type="title"/>
          </p:nvPr>
        </p:nvSpPr>
        <p:spPr>
          <a:xfrm>
            <a:off x="838200" y="365125"/>
            <a:ext cx="10515600" cy="1325563"/>
          </a:xfrm>
          <a:prstGeom prst="rect">
            <a:avLst/>
          </a:prstGeom>
          <a:solidFill>
            <a:schemeClr val="lt1"/>
          </a:solidFill>
          <a:ln cap="flat" cmpd="sng" w="12700">
            <a:solidFill>
              <a:schemeClr val="accent2"/>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solidFill>
                  <a:schemeClr val="dk1"/>
                </a:solidFill>
                <a:latin typeface="Calibri"/>
                <a:ea typeface="Calibri"/>
                <a:cs typeface="Calibri"/>
                <a:sym typeface="Calibri"/>
              </a:rPr>
              <a:t>CPU-bound vs I/O-bound</a:t>
            </a:r>
            <a:endParaRPr/>
          </a:p>
        </p:txBody>
      </p:sp>
      <p:sp>
        <p:nvSpPr>
          <p:cNvPr id="118" name="Google Shape;118;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s-ES"/>
              <a:t>La naturaleza de las operaciones </a:t>
            </a:r>
            <a:r>
              <a:rPr i="1" lang="es-ES"/>
              <a:t>CPU-bound</a:t>
            </a:r>
            <a:r>
              <a:rPr lang="es-ES"/>
              <a:t> es intrínsecamente síncrona (o secuencial, si la CPU esta ocupada no puede ejecutar otra tarea hasta que se libere) a menos que se utilicen mecanismos de concurrencia como los vistos anteriormente (entrelazado o paralelismo por ejemplo).</a:t>
            </a:r>
            <a:endParaRPr/>
          </a:p>
          <a:p>
            <a:pPr indent="-228600" lvl="0" marL="228600" rtl="0" algn="l">
              <a:lnSpc>
                <a:spcPct val="90000"/>
              </a:lnSpc>
              <a:spcBef>
                <a:spcPts val="1000"/>
              </a:spcBef>
              <a:spcAft>
                <a:spcPts val="0"/>
              </a:spcAft>
              <a:buClr>
                <a:srgbClr val="FF0000"/>
              </a:buClr>
              <a:buSzPts val="2800"/>
              <a:buChar char="•"/>
            </a:pPr>
            <a:r>
              <a:rPr lang="es-ES">
                <a:solidFill>
                  <a:srgbClr val="FF0000"/>
                </a:solidFill>
              </a:rPr>
              <a:t> ¿Qué sucede con las operaciones </a:t>
            </a:r>
            <a:r>
              <a:rPr i="1" lang="es-ES">
                <a:solidFill>
                  <a:srgbClr val="FF0000"/>
                </a:solidFill>
              </a:rPr>
              <a:t>I/O-bound</a:t>
            </a:r>
            <a:r>
              <a:rPr lang="es-ES">
                <a:solidFill>
                  <a:srgbClr val="FF0000"/>
                </a:solidFill>
              </a:rPr>
              <a:t>? </a:t>
            </a:r>
            <a:endParaRPr>
              <a:solidFill>
                <a:srgbClr val="FF0000"/>
              </a:solidFill>
            </a:endParaRPr>
          </a:p>
          <a:p>
            <a:pPr indent="-228600" lvl="1" marL="685800" rtl="0" algn="l">
              <a:lnSpc>
                <a:spcPct val="90000"/>
              </a:lnSpc>
              <a:spcBef>
                <a:spcPts val="500"/>
              </a:spcBef>
              <a:spcAft>
                <a:spcPts val="0"/>
              </a:spcAft>
              <a:buClr>
                <a:schemeClr val="dk1"/>
              </a:buClr>
              <a:buSzPts val="2400"/>
              <a:buChar char="•"/>
            </a:pPr>
            <a:r>
              <a:rPr lang="es-ES"/>
              <a:t>Un hecho interesante es que pueden ser asíncronas, y la </a:t>
            </a:r>
            <a:r>
              <a:rPr lang="es-ES">
                <a:solidFill>
                  <a:srgbClr val="FF0000"/>
                </a:solidFill>
              </a:rPr>
              <a:t>asincronía</a:t>
            </a:r>
            <a:r>
              <a:rPr lang="es-ES"/>
              <a:t> es una forma muy útil de concurrencia.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7"/>
          <p:cNvSpPr txBox="1"/>
          <p:nvPr>
            <p:ph type="title"/>
          </p:nvPr>
        </p:nvSpPr>
        <p:spPr>
          <a:xfrm>
            <a:off x="838200" y="365125"/>
            <a:ext cx="10515600" cy="1669737"/>
          </a:xfrm>
          <a:prstGeom prst="rect">
            <a:avLst/>
          </a:prstGeom>
          <a:solidFill>
            <a:schemeClr val="lt1"/>
          </a:solidFill>
          <a:ln cap="flat" cmpd="sng" w="12700">
            <a:solidFill>
              <a:schemeClr val="accent4"/>
            </a:solidFill>
            <a:prstDash val="solid"/>
            <a:miter lim="8000"/>
            <a:headEnd len="sm" w="sm" type="none"/>
            <a:tailEnd len="sm" w="sm" type="none"/>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b="1" lang="es-ES">
                <a:solidFill>
                  <a:schemeClr val="dk1"/>
                </a:solidFill>
                <a:latin typeface="Calibri"/>
                <a:ea typeface="Calibri"/>
                <a:cs typeface="Calibri"/>
                <a:sym typeface="Calibri"/>
              </a:rPr>
              <a:t>Naturaleza I/O: </a:t>
            </a:r>
            <a:br>
              <a:rPr b="1" lang="es-ES">
                <a:solidFill>
                  <a:schemeClr val="dk1"/>
                </a:solidFill>
                <a:latin typeface="Calibri"/>
                <a:ea typeface="Calibri"/>
                <a:cs typeface="Calibri"/>
                <a:sym typeface="Calibri"/>
              </a:rPr>
            </a:br>
            <a:r>
              <a:rPr b="1" lang="es-ES">
                <a:solidFill>
                  <a:schemeClr val="dk1"/>
                </a:solidFill>
                <a:latin typeface="Calibri"/>
                <a:ea typeface="Calibri"/>
                <a:cs typeface="Calibri"/>
                <a:sym typeface="Calibri"/>
              </a:rPr>
              <a:t>Bloqueante vs. No-bloqueante </a:t>
            </a:r>
            <a:br>
              <a:rPr b="1" lang="es-ES">
                <a:solidFill>
                  <a:schemeClr val="dk1"/>
                </a:solidFill>
                <a:latin typeface="Calibri"/>
                <a:ea typeface="Calibri"/>
                <a:cs typeface="Calibri"/>
                <a:sym typeface="Calibri"/>
              </a:rPr>
            </a:br>
            <a:r>
              <a:rPr b="1" lang="es-ES">
                <a:solidFill>
                  <a:schemeClr val="dk1"/>
                </a:solidFill>
                <a:latin typeface="Calibri"/>
                <a:ea typeface="Calibri"/>
                <a:cs typeface="Calibri"/>
                <a:sym typeface="Calibri"/>
              </a:rPr>
              <a:t>&amp; Síncrono vs. Asíncrono</a:t>
            </a:r>
            <a:endParaRPr/>
          </a:p>
        </p:txBody>
      </p:sp>
      <p:sp>
        <p:nvSpPr>
          <p:cNvPr id="124" name="Google Shape;124;p7"/>
          <p:cNvSpPr txBox="1"/>
          <p:nvPr>
            <p:ph idx="1" type="body"/>
          </p:nvPr>
        </p:nvSpPr>
        <p:spPr>
          <a:xfrm>
            <a:off x="838200" y="2034862"/>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s-ES" sz="3200"/>
              <a:t>Una posible clasificación en el contexto </a:t>
            </a:r>
            <a:r>
              <a:rPr i="1" lang="es-ES" sz="3200"/>
              <a:t>I/O</a:t>
            </a:r>
            <a:r>
              <a:rPr lang="es-ES" sz="3200"/>
              <a:t> podría hacerse si imaginamos las operaciones I/O comprendidas en dos fases:</a:t>
            </a:r>
            <a:endParaRPr/>
          </a:p>
          <a:p>
            <a:pPr indent="-228600" lvl="1" marL="685800" rtl="0" algn="l">
              <a:lnSpc>
                <a:spcPct val="90000"/>
              </a:lnSpc>
              <a:spcBef>
                <a:spcPts val="500"/>
              </a:spcBef>
              <a:spcAft>
                <a:spcPts val="0"/>
              </a:spcAft>
              <a:buClr>
                <a:schemeClr val="dk1"/>
              </a:buClr>
              <a:buSzPts val="2800"/>
              <a:buChar char="•"/>
            </a:pPr>
            <a:r>
              <a:rPr b="1" lang="es-ES" sz="2800"/>
              <a:t>Fase de Espera</a:t>
            </a:r>
            <a:r>
              <a:rPr lang="es-ES" sz="2800"/>
              <a:t> a que el dispositivo este listo, a que la operación se complete o que los datos esten disponibles.</a:t>
            </a:r>
            <a:endParaRPr/>
          </a:p>
          <a:p>
            <a:pPr indent="-228600" lvl="1" marL="685800" rtl="0" algn="l">
              <a:lnSpc>
                <a:spcPct val="90000"/>
              </a:lnSpc>
              <a:spcBef>
                <a:spcPts val="500"/>
              </a:spcBef>
              <a:spcAft>
                <a:spcPts val="0"/>
              </a:spcAft>
              <a:buClr>
                <a:schemeClr val="dk1"/>
              </a:buClr>
              <a:buSzPts val="2800"/>
              <a:buChar char="•"/>
            </a:pPr>
            <a:r>
              <a:rPr b="1" lang="es-ES" sz="2800"/>
              <a:t>Fase de Ejecución</a:t>
            </a:r>
            <a:r>
              <a:rPr lang="es-ES" sz="2800"/>
              <a:t> entendida como la propia respuesta, lo que sea que quiera hacerse como respuesta a los datos recibidos.</a:t>
            </a:r>
            <a:endParaRPr sz="2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8"/>
          <p:cNvSpPr txBox="1"/>
          <p:nvPr>
            <p:ph type="title"/>
          </p:nvPr>
        </p:nvSpPr>
        <p:spPr>
          <a:xfrm>
            <a:off x="838200" y="365125"/>
            <a:ext cx="10515600" cy="1325563"/>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s-ES">
                <a:solidFill>
                  <a:schemeClr val="dk1"/>
                </a:solidFill>
                <a:latin typeface="Calibri"/>
                <a:ea typeface="Calibri"/>
                <a:cs typeface="Calibri"/>
                <a:sym typeface="Calibri"/>
              </a:rPr>
              <a:t>Bloqueante vs. No-bloqueante</a:t>
            </a:r>
            <a:endParaRPr/>
          </a:p>
        </p:txBody>
      </p:sp>
      <p:sp>
        <p:nvSpPr>
          <p:cNvPr id="130" name="Google Shape;130;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s-ES"/>
              <a:t>Bloqueante vs No-bloqueante hace referencia a como la fase de espera afecta a nuestro programa:</a:t>
            </a:r>
            <a:endParaRPr/>
          </a:p>
          <a:p>
            <a:pPr indent="-228600" lvl="1" marL="685800" rtl="0" algn="l">
              <a:lnSpc>
                <a:spcPct val="90000"/>
              </a:lnSpc>
              <a:spcBef>
                <a:spcPts val="500"/>
              </a:spcBef>
              <a:spcAft>
                <a:spcPts val="0"/>
              </a:spcAft>
              <a:buClr>
                <a:schemeClr val="dk1"/>
              </a:buClr>
              <a:buSzPts val="2400"/>
              <a:buChar char="•"/>
            </a:pPr>
            <a:r>
              <a:rPr b="1" lang="es-ES"/>
              <a:t>Bloqueante</a:t>
            </a:r>
            <a:r>
              <a:rPr lang="es-ES"/>
              <a:t>: </a:t>
            </a:r>
            <a:endParaRPr/>
          </a:p>
          <a:p>
            <a:pPr indent="-228600" lvl="2" marL="1143000" rtl="0" algn="l">
              <a:lnSpc>
                <a:spcPct val="90000"/>
              </a:lnSpc>
              <a:spcBef>
                <a:spcPts val="500"/>
              </a:spcBef>
              <a:spcAft>
                <a:spcPts val="0"/>
              </a:spcAft>
              <a:buClr>
                <a:schemeClr val="dk1"/>
              </a:buClr>
              <a:buSzPts val="2000"/>
              <a:buChar char="•"/>
            </a:pPr>
            <a:r>
              <a:rPr lang="es-ES"/>
              <a:t>Una llamada u operación bloqueante no devuelve el control a nuestra aplicación hasta que se ha completado. </a:t>
            </a:r>
            <a:endParaRPr/>
          </a:p>
          <a:p>
            <a:pPr indent="-228600" lvl="2" marL="1143000" rtl="0" algn="l">
              <a:lnSpc>
                <a:spcPct val="90000"/>
              </a:lnSpc>
              <a:spcBef>
                <a:spcPts val="500"/>
              </a:spcBef>
              <a:spcAft>
                <a:spcPts val="0"/>
              </a:spcAft>
              <a:buClr>
                <a:schemeClr val="dk1"/>
              </a:buClr>
              <a:buSzPts val="2000"/>
              <a:buChar char="•"/>
            </a:pPr>
            <a:r>
              <a:rPr lang="es-ES"/>
              <a:t>Por tanto el </a:t>
            </a:r>
            <a:r>
              <a:rPr i="1" lang="es-ES"/>
              <a:t>thread</a:t>
            </a:r>
            <a:r>
              <a:rPr lang="es-ES"/>
              <a:t> queda bloqueado en estado de espera.</a:t>
            </a:r>
            <a:endParaRPr/>
          </a:p>
          <a:p>
            <a:pPr indent="-228600" lvl="1" marL="685800" rtl="0" algn="l">
              <a:lnSpc>
                <a:spcPct val="90000"/>
              </a:lnSpc>
              <a:spcBef>
                <a:spcPts val="500"/>
              </a:spcBef>
              <a:spcAft>
                <a:spcPts val="0"/>
              </a:spcAft>
              <a:buClr>
                <a:schemeClr val="dk1"/>
              </a:buClr>
              <a:buSzPts val="2400"/>
              <a:buChar char="•"/>
            </a:pPr>
            <a:r>
              <a:rPr b="1" lang="es-ES"/>
              <a:t>No Bloqueante</a:t>
            </a:r>
            <a:r>
              <a:rPr lang="es-ES"/>
              <a:t>: </a:t>
            </a:r>
            <a:endParaRPr/>
          </a:p>
          <a:p>
            <a:pPr indent="-228600" lvl="2" marL="1143000" rtl="0" algn="l">
              <a:lnSpc>
                <a:spcPct val="90000"/>
              </a:lnSpc>
              <a:spcBef>
                <a:spcPts val="500"/>
              </a:spcBef>
              <a:spcAft>
                <a:spcPts val="0"/>
              </a:spcAft>
              <a:buClr>
                <a:schemeClr val="dk1"/>
              </a:buClr>
              <a:buSzPts val="2000"/>
              <a:buChar char="•"/>
            </a:pPr>
            <a:r>
              <a:rPr lang="es-ES"/>
              <a:t>Una llamada no bloqueante devuelve inmediatamente con independencia del resultado. </a:t>
            </a:r>
            <a:endParaRPr/>
          </a:p>
          <a:p>
            <a:pPr indent="-228600" lvl="2" marL="1143000" rtl="0" algn="l">
              <a:lnSpc>
                <a:spcPct val="90000"/>
              </a:lnSpc>
              <a:spcBef>
                <a:spcPts val="500"/>
              </a:spcBef>
              <a:spcAft>
                <a:spcPts val="0"/>
              </a:spcAft>
              <a:buClr>
                <a:schemeClr val="dk1"/>
              </a:buClr>
              <a:buSzPts val="2000"/>
              <a:buChar char="•"/>
            </a:pPr>
            <a:r>
              <a:rPr lang="es-ES"/>
              <a:t>En caso de que se haya completado, devolverá los datos solicitados. </a:t>
            </a:r>
            <a:endParaRPr/>
          </a:p>
          <a:p>
            <a:pPr indent="-228600" lvl="2" marL="1143000" rtl="0" algn="l">
              <a:lnSpc>
                <a:spcPct val="90000"/>
              </a:lnSpc>
              <a:spcBef>
                <a:spcPts val="500"/>
              </a:spcBef>
              <a:spcAft>
                <a:spcPts val="0"/>
              </a:spcAft>
              <a:buClr>
                <a:schemeClr val="dk1"/>
              </a:buClr>
              <a:buSzPts val="2000"/>
              <a:buChar char="•"/>
            </a:pPr>
            <a:r>
              <a:rPr lang="es-ES"/>
              <a:t>En caso contrario (si la operación no ha podido ser satisfecha) podría devolver un código de error indicando algo así como '</a:t>
            </a:r>
            <a:r>
              <a:rPr i="1" lang="es-ES"/>
              <a:t>Temporalmente no disponible</a:t>
            </a:r>
            <a:r>
              <a:rPr lang="es-ES"/>
              <a:t>', '</a:t>
            </a:r>
            <a:r>
              <a:rPr i="1" lang="es-ES"/>
              <a:t>No estoy listo</a:t>
            </a:r>
            <a:r>
              <a:rPr lang="es-ES"/>
              <a:t>' o '</a:t>
            </a:r>
            <a:r>
              <a:rPr i="1" lang="es-ES"/>
              <a:t>En este momento la llamada sería bloqueante. Por favor, posponga la llamada</a:t>
            </a:r>
            <a:r>
              <a:rPr lang="es-ES"/>
              <a:t>'. </a:t>
            </a:r>
            <a:endParaRPr/>
          </a:p>
          <a:p>
            <a:pPr indent="-228600" lvl="2" marL="1143000" rtl="0" algn="l">
              <a:lnSpc>
                <a:spcPct val="90000"/>
              </a:lnSpc>
              <a:spcBef>
                <a:spcPts val="500"/>
              </a:spcBef>
              <a:spcAft>
                <a:spcPts val="0"/>
              </a:spcAft>
              <a:buClr>
                <a:schemeClr val="dk1"/>
              </a:buClr>
              <a:buSzPts val="2000"/>
              <a:buChar char="•"/>
            </a:pPr>
            <a:r>
              <a:rPr lang="es-ES"/>
              <a:t>En este caso se sobreentiende que algún tipo de </a:t>
            </a:r>
            <a:r>
              <a:rPr i="1" lang="es-ES"/>
              <a:t>polling</a:t>
            </a:r>
            <a:r>
              <a:rPr lang="es-ES"/>
              <a:t> debería hacerse para completar el trabajo o para lanzar una nueva petición más tarde, en un mejor momento.</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9"/>
          <p:cNvPicPr preferRelativeResize="0"/>
          <p:nvPr/>
        </p:nvPicPr>
        <p:blipFill rotWithShape="1">
          <a:blip r:embed="rId3">
            <a:alphaModFix/>
          </a:blip>
          <a:srcRect b="0" l="0" r="0" t="0"/>
          <a:stretch/>
        </p:blipFill>
        <p:spPr>
          <a:xfrm>
            <a:off x="1866900" y="333375"/>
            <a:ext cx="8458200" cy="61912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0"/>
          <p:cNvSpPr txBox="1"/>
          <p:nvPr>
            <p:ph type="title"/>
          </p:nvPr>
        </p:nvSpPr>
        <p:spPr>
          <a:xfrm>
            <a:off x="838200" y="365125"/>
            <a:ext cx="10515600" cy="1325563"/>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solidFill>
                  <a:schemeClr val="dk1"/>
                </a:solidFill>
                <a:latin typeface="Calibri"/>
                <a:ea typeface="Calibri"/>
                <a:cs typeface="Calibri"/>
                <a:sym typeface="Calibri"/>
              </a:rPr>
              <a:t>Síncrono vs Asíncrono</a:t>
            </a:r>
            <a:endParaRPr/>
          </a:p>
        </p:txBody>
      </p:sp>
      <p:sp>
        <p:nvSpPr>
          <p:cNvPr id="141" name="Google Shape;141;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s-ES"/>
              <a:t>Síncrono</a:t>
            </a:r>
            <a:r>
              <a:rPr lang="es-ES"/>
              <a:t>: es frecuente emplear 'bloqueante' y 'síncrono' como sinónimos, dando a entender que toda la operación de entrada/salida se ejecuta de forma secuencial y, por tanto, debemos esperar a que se complete para procesar el resultado.</a:t>
            </a:r>
            <a:endParaRPr/>
          </a:p>
          <a:p>
            <a:pPr indent="-228600" lvl="0" marL="228600" rtl="0" algn="l">
              <a:lnSpc>
                <a:spcPct val="90000"/>
              </a:lnSpc>
              <a:spcBef>
                <a:spcPts val="1000"/>
              </a:spcBef>
              <a:spcAft>
                <a:spcPts val="0"/>
              </a:spcAft>
              <a:buClr>
                <a:schemeClr val="dk1"/>
              </a:buClr>
              <a:buSzPts val="2800"/>
              <a:buChar char="•"/>
            </a:pPr>
            <a:r>
              <a:rPr b="1" lang="es-ES"/>
              <a:t>Asíncrono</a:t>
            </a:r>
            <a:r>
              <a:rPr lang="es-ES"/>
              <a:t>: la finalización de la operación </a:t>
            </a:r>
            <a:r>
              <a:rPr i="1" lang="es-ES"/>
              <a:t>I/O</a:t>
            </a:r>
            <a:r>
              <a:rPr lang="es-ES"/>
              <a:t> se señaliza más tarde, mediante un mecanismo específico como por ejemplo un </a:t>
            </a:r>
            <a:r>
              <a:rPr i="1" lang="es-ES"/>
              <a:t>callback</a:t>
            </a:r>
            <a:r>
              <a:rPr lang="es-ES"/>
              <a:t>, una promesa o un evento, lo que hace posible que la respuesta sea procesada en diferido. </a:t>
            </a:r>
            <a:endParaRPr/>
          </a:p>
          <a:p>
            <a:pPr indent="-228600" lvl="1" marL="685800" rtl="0" algn="l">
              <a:lnSpc>
                <a:spcPct val="90000"/>
              </a:lnSpc>
              <a:spcBef>
                <a:spcPts val="500"/>
              </a:spcBef>
              <a:spcAft>
                <a:spcPts val="0"/>
              </a:spcAft>
              <a:buClr>
                <a:schemeClr val="dk1"/>
              </a:buClr>
              <a:buSzPts val="2400"/>
              <a:buChar char="•"/>
            </a:pPr>
            <a:r>
              <a:rPr lang="es-ES"/>
              <a:t>Como se puede adivinar, su comportamiento es no bloqueante ya que la llamda </a:t>
            </a:r>
            <a:r>
              <a:rPr i="1" lang="es-ES"/>
              <a:t>I/O</a:t>
            </a:r>
            <a:r>
              <a:rPr lang="es-ES"/>
              <a:t> devuelve inmediatamente.</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42" name="Google Shape;142;p10"/>
          <p:cNvSpPr/>
          <p:nvPr/>
        </p:nvSpPr>
        <p:spPr>
          <a:xfrm>
            <a:off x="6581104" y="365125"/>
            <a:ext cx="5035640" cy="1167461"/>
          </a:xfrm>
          <a:prstGeom prst="roundRect">
            <a:avLst>
              <a:gd fmla="val 16667" name="adj"/>
            </a:avLst>
          </a:prstGeom>
          <a:gradFill>
            <a:gsLst>
              <a:gs pos="0">
                <a:srgbClr val="7FB75F"/>
              </a:gs>
              <a:gs pos="50000">
                <a:srgbClr val="6FB241"/>
              </a:gs>
              <a:gs pos="100000">
                <a:srgbClr val="5FA134"/>
              </a:gs>
            </a:gsLst>
            <a:lin ang="5400000" scaled="0"/>
          </a:grad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000">
                <a:solidFill>
                  <a:schemeClr val="lt1"/>
                </a:solidFill>
                <a:latin typeface="Calibri"/>
                <a:ea typeface="Calibri"/>
                <a:cs typeface="Calibri"/>
                <a:sym typeface="Calibri"/>
              </a:rPr>
              <a:t>Síncrono vs Asíncrono se refiere a cuando tendrá lugar la respuesta</a:t>
            </a:r>
            <a:endParaRPr sz="2000">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11"/>
          <p:cNvPicPr preferRelativeResize="0"/>
          <p:nvPr/>
        </p:nvPicPr>
        <p:blipFill rotWithShape="1">
          <a:blip r:embed="rId3">
            <a:alphaModFix/>
          </a:blip>
          <a:srcRect b="0" l="0" r="0" t="0"/>
          <a:stretch/>
        </p:blipFill>
        <p:spPr>
          <a:xfrm>
            <a:off x="1866900" y="333375"/>
            <a:ext cx="8458200" cy="61912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2"/>
          <p:cNvSpPr txBox="1"/>
          <p:nvPr>
            <p:ph type="title"/>
          </p:nvPr>
        </p:nvSpPr>
        <p:spPr>
          <a:xfrm>
            <a:off x="838200" y="365125"/>
            <a:ext cx="10515600" cy="1325563"/>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solidFill>
                  <a:schemeClr val="dk1"/>
                </a:solidFill>
                <a:latin typeface="Calibri"/>
                <a:ea typeface="Calibri"/>
                <a:cs typeface="Calibri"/>
                <a:sym typeface="Calibri"/>
              </a:rPr>
              <a:t>Tipos de operaciones I/O</a:t>
            </a:r>
            <a:endParaRPr/>
          </a:p>
        </p:txBody>
      </p:sp>
      <p:sp>
        <p:nvSpPr>
          <p:cNvPr id="153" name="Google Shape;153;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lang="es-ES"/>
              <a:t>Síncronas y Bloqueantes. Toda la operación se hace de una vez, bloqueando el flujo de ejecución:</a:t>
            </a:r>
            <a:endParaRPr/>
          </a:p>
          <a:p>
            <a:pPr indent="-228600" lvl="1" marL="685800" rtl="0" algn="l">
              <a:lnSpc>
                <a:spcPct val="90000"/>
              </a:lnSpc>
              <a:spcBef>
                <a:spcPts val="500"/>
              </a:spcBef>
              <a:spcAft>
                <a:spcPts val="0"/>
              </a:spcAft>
              <a:buClr>
                <a:schemeClr val="dk1"/>
              </a:buClr>
              <a:buSzPct val="100000"/>
              <a:buChar char="•"/>
            </a:pPr>
            <a:r>
              <a:rPr lang="es-ES"/>
              <a:t>El </a:t>
            </a:r>
            <a:r>
              <a:rPr i="1" lang="es-ES"/>
              <a:t>thread</a:t>
            </a:r>
            <a:r>
              <a:rPr lang="es-ES"/>
              <a:t> es bloqueado mientras espera.</a:t>
            </a:r>
            <a:endParaRPr/>
          </a:p>
          <a:p>
            <a:pPr indent="-228600" lvl="1" marL="685800" rtl="0" algn="l">
              <a:lnSpc>
                <a:spcPct val="90000"/>
              </a:lnSpc>
              <a:spcBef>
                <a:spcPts val="500"/>
              </a:spcBef>
              <a:spcAft>
                <a:spcPts val="0"/>
              </a:spcAft>
              <a:buClr>
                <a:schemeClr val="dk1"/>
              </a:buClr>
              <a:buSzPct val="100000"/>
              <a:buChar char="•"/>
            </a:pPr>
            <a:r>
              <a:rPr lang="es-ES"/>
              <a:t>La respuesta se procesa inmediatamente después de terminar la operación.</a:t>
            </a:r>
            <a:endParaRPr/>
          </a:p>
          <a:p>
            <a:pPr indent="-228600" lvl="0" marL="228600" rtl="0" algn="l">
              <a:lnSpc>
                <a:spcPct val="90000"/>
              </a:lnSpc>
              <a:spcBef>
                <a:spcPts val="1000"/>
              </a:spcBef>
              <a:spcAft>
                <a:spcPts val="0"/>
              </a:spcAft>
              <a:buClr>
                <a:schemeClr val="dk1"/>
              </a:buClr>
              <a:buSzPct val="100000"/>
              <a:buChar char="•"/>
            </a:pPr>
            <a:r>
              <a:rPr lang="es-ES"/>
              <a:t>Síncronas y No-Bloqueantes. Similar a la anterior pero usando alguna técnica de </a:t>
            </a:r>
            <a:r>
              <a:rPr i="1" lang="es-ES"/>
              <a:t>polling</a:t>
            </a:r>
            <a:r>
              <a:rPr lang="es-ES"/>
              <a:t> para evitar el bloqueo en la primera fase:</a:t>
            </a:r>
            <a:endParaRPr/>
          </a:p>
          <a:p>
            <a:pPr indent="-228600" lvl="1" marL="685800" rtl="0" algn="l">
              <a:lnSpc>
                <a:spcPct val="90000"/>
              </a:lnSpc>
              <a:spcBef>
                <a:spcPts val="500"/>
              </a:spcBef>
              <a:spcAft>
                <a:spcPts val="0"/>
              </a:spcAft>
              <a:buClr>
                <a:schemeClr val="dk1"/>
              </a:buClr>
              <a:buSzPct val="100000"/>
              <a:buChar char="•"/>
            </a:pPr>
            <a:r>
              <a:rPr lang="es-ES"/>
              <a:t>La llamada devuelve inmediatamente, el </a:t>
            </a:r>
            <a:r>
              <a:rPr i="1" lang="es-ES"/>
              <a:t>thread</a:t>
            </a:r>
            <a:r>
              <a:rPr lang="es-ES"/>
              <a:t> no se bloquea. Se necesitarán sucesivos intentos hasta completar la operación.</a:t>
            </a:r>
            <a:endParaRPr/>
          </a:p>
          <a:p>
            <a:pPr indent="-228600" lvl="1" marL="685800" rtl="0" algn="l">
              <a:lnSpc>
                <a:spcPct val="90000"/>
              </a:lnSpc>
              <a:spcBef>
                <a:spcPts val="500"/>
              </a:spcBef>
              <a:spcAft>
                <a:spcPts val="0"/>
              </a:spcAft>
              <a:buClr>
                <a:schemeClr val="dk1"/>
              </a:buClr>
              <a:buSzPct val="100000"/>
              <a:buChar char="•"/>
            </a:pPr>
            <a:r>
              <a:rPr lang="es-ES"/>
              <a:t>La respuesta se procesa inmediatamente después de terminar la operación.</a:t>
            </a:r>
            <a:endParaRPr/>
          </a:p>
          <a:p>
            <a:pPr indent="-228600" lvl="0" marL="228600" rtl="0" algn="l">
              <a:lnSpc>
                <a:spcPct val="90000"/>
              </a:lnSpc>
              <a:spcBef>
                <a:spcPts val="1000"/>
              </a:spcBef>
              <a:spcAft>
                <a:spcPts val="0"/>
              </a:spcAft>
              <a:buClr>
                <a:schemeClr val="dk1"/>
              </a:buClr>
              <a:buSzPct val="100000"/>
              <a:buChar char="•"/>
            </a:pPr>
            <a:r>
              <a:rPr lang="es-ES"/>
              <a:t>Asíncronas y No-Bloqueantes:</a:t>
            </a:r>
            <a:endParaRPr/>
          </a:p>
          <a:p>
            <a:pPr indent="-228600" lvl="1" marL="685800" rtl="0" algn="l">
              <a:lnSpc>
                <a:spcPct val="90000"/>
              </a:lnSpc>
              <a:spcBef>
                <a:spcPts val="500"/>
              </a:spcBef>
              <a:spcAft>
                <a:spcPts val="0"/>
              </a:spcAft>
              <a:buClr>
                <a:schemeClr val="dk1"/>
              </a:buClr>
              <a:buSzPct val="100000"/>
              <a:buChar char="•"/>
            </a:pPr>
            <a:r>
              <a:rPr lang="es-ES"/>
              <a:t>La petición devuelve inmediatamente para evitar el bloqueo.</a:t>
            </a:r>
            <a:endParaRPr/>
          </a:p>
          <a:p>
            <a:pPr indent="-228600" lvl="1" marL="685800" rtl="0" algn="l">
              <a:lnSpc>
                <a:spcPct val="90000"/>
              </a:lnSpc>
              <a:spcBef>
                <a:spcPts val="500"/>
              </a:spcBef>
              <a:spcAft>
                <a:spcPts val="0"/>
              </a:spcAft>
              <a:buClr>
                <a:schemeClr val="dk1"/>
              </a:buClr>
              <a:buSzPct val="100000"/>
              <a:buChar char="•"/>
            </a:pPr>
            <a:r>
              <a:rPr lang="es-ES"/>
              <a:t>Se envía una notificación una vez que la operación se ha completado. Es entonces cuando la función que procesará la respuesta (</a:t>
            </a:r>
            <a:r>
              <a:rPr i="1" lang="es-ES"/>
              <a:t>callback</a:t>
            </a:r>
            <a:r>
              <a:rPr lang="es-ES"/>
              <a:t>) se encola para ser ejecutada en algún momento en nuestra aplicación.</a:t>
            </a:r>
            <a:endParaRPr/>
          </a:p>
          <a:p>
            <a:pPr indent="-7747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3"/>
          <p:cNvSpPr txBox="1"/>
          <p:nvPr>
            <p:ph type="title"/>
          </p:nvPr>
        </p:nvSpPr>
        <p:spPr>
          <a:xfrm>
            <a:off x="838200" y="365125"/>
            <a:ext cx="10515600" cy="1325563"/>
          </a:xfrm>
          <a:prstGeom prst="rect">
            <a:avLst/>
          </a:prstGeom>
          <a:solidFill>
            <a:schemeClr val="lt1"/>
          </a:solidFill>
          <a:ln cap="flat" cmpd="sng" w="12700">
            <a:solidFill>
              <a:schemeClr val="accent2"/>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s-ES">
                <a:solidFill>
                  <a:schemeClr val="dk1"/>
                </a:solidFill>
                <a:latin typeface="Calibri"/>
                <a:ea typeface="Calibri"/>
                <a:cs typeface="Calibri"/>
                <a:sym typeface="Calibri"/>
              </a:rPr>
              <a:t>El Modelo de Javascript</a:t>
            </a:r>
            <a:endParaRPr/>
          </a:p>
        </p:txBody>
      </p:sp>
      <p:sp>
        <p:nvSpPr>
          <p:cNvPr id="159" name="Google Shape;15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lang="es-ES"/>
              <a:t>Javascript fue diseñado para ser ejecutado en navegadores, trabajar con peticiones sobre la red y procesar las interacciones de usuario, al tiempo que se mantiene una interfaz fluida. Ser bloqueante o síncrono no ayudaría a conseguir estos objetivos, es por ello que Javascript ha evolucionado intencionadamente pensando en operaciones de tipo I/O. </a:t>
            </a:r>
            <a:endParaRPr/>
          </a:p>
          <a:p>
            <a:pPr indent="-228600" lvl="0" marL="228600" rtl="0" algn="l">
              <a:lnSpc>
                <a:spcPct val="90000"/>
              </a:lnSpc>
              <a:spcBef>
                <a:spcPts val="1000"/>
              </a:spcBef>
              <a:spcAft>
                <a:spcPts val="0"/>
              </a:spcAft>
              <a:buClr>
                <a:srgbClr val="FF0000"/>
              </a:buClr>
              <a:buSzPct val="100000"/>
              <a:buChar char="•"/>
            </a:pPr>
            <a:r>
              <a:rPr lang="es-ES">
                <a:solidFill>
                  <a:srgbClr val="FF0000"/>
                </a:solidFill>
              </a:rPr>
              <a:t>Javascript utiliza un modelo asíncrono y no bloqueante, con un loop de eventos implementado con un único thread para sus interfaces de entrada/salida.</a:t>
            </a:r>
            <a:endParaRPr/>
          </a:p>
          <a:p>
            <a:pPr indent="-228600" lvl="0" marL="228600" rtl="0" algn="l">
              <a:lnSpc>
                <a:spcPct val="90000"/>
              </a:lnSpc>
              <a:spcBef>
                <a:spcPts val="1000"/>
              </a:spcBef>
              <a:spcAft>
                <a:spcPts val="0"/>
              </a:spcAft>
              <a:buClr>
                <a:schemeClr val="dk1"/>
              </a:buClr>
              <a:buSzPct val="100000"/>
              <a:buChar char="•"/>
            </a:pPr>
            <a:r>
              <a:rPr lang="es-ES"/>
              <a:t>Gracias a esta solución, Javascript es áltamente concurrente a pesar de emplear un único thread. Ya conocemos el significado de asíncrono y no bloqueante, pero ¿qué es el loop de eventos?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4"/>
          <p:cNvSpPr/>
          <p:nvPr/>
        </p:nvSpPr>
        <p:spPr>
          <a:xfrm>
            <a:off x="8706118" y="115909"/>
            <a:ext cx="3245476" cy="3863663"/>
          </a:xfrm>
          <a:prstGeom prst="roundRect">
            <a:avLst>
              <a:gd fmla="val 16667" name="adj"/>
            </a:avLst>
          </a:prstGeom>
          <a:solidFill>
            <a:schemeClr val="accent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2000">
                <a:solidFill>
                  <a:schemeClr val="lt1"/>
                </a:solidFill>
                <a:latin typeface="Calibri"/>
                <a:ea typeface="Calibri"/>
                <a:cs typeface="Calibri"/>
                <a:sym typeface="Calibri"/>
              </a:rPr>
              <a:t>Javascript</a:t>
            </a:r>
            <a:r>
              <a:rPr lang="es-ES" sz="2000">
                <a:solidFill>
                  <a:schemeClr val="lt1"/>
                </a:solidFill>
                <a:latin typeface="Calibri"/>
                <a:ea typeface="Calibri"/>
                <a:cs typeface="Calibri"/>
                <a:sym typeface="Calibri"/>
              </a:rPr>
              <a:t> utiliza un modelo </a:t>
            </a:r>
            <a:r>
              <a:rPr b="1" lang="es-ES" sz="2000">
                <a:solidFill>
                  <a:schemeClr val="lt1"/>
                </a:solidFill>
                <a:latin typeface="Calibri"/>
                <a:ea typeface="Calibri"/>
                <a:cs typeface="Calibri"/>
                <a:sym typeface="Calibri"/>
              </a:rPr>
              <a:t>asíncrono y no bloqueante</a:t>
            </a:r>
            <a:r>
              <a:rPr lang="es-ES" sz="2000">
                <a:solidFill>
                  <a:schemeClr val="lt1"/>
                </a:solidFill>
                <a:latin typeface="Calibri"/>
                <a:ea typeface="Calibri"/>
                <a:cs typeface="Calibri"/>
                <a:sym typeface="Calibri"/>
              </a:rPr>
              <a:t>, con un </a:t>
            </a:r>
            <a:r>
              <a:rPr b="1" i="1" lang="es-ES" sz="2000">
                <a:solidFill>
                  <a:schemeClr val="lt1"/>
                </a:solidFill>
                <a:latin typeface="Calibri"/>
                <a:ea typeface="Calibri"/>
                <a:cs typeface="Calibri"/>
                <a:sym typeface="Calibri"/>
              </a:rPr>
              <a:t>loop</a:t>
            </a:r>
            <a:r>
              <a:rPr b="1" lang="es-ES" sz="2000">
                <a:solidFill>
                  <a:schemeClr val="lt1"/>
                </a:solidFill>
                <a:latin typeface="Calibri"/>
                <a:ea typeface="Calibri"/>
                <a:cs typeface="Calibri"/>
                <a:sym typeface="Calibri"/>
              </a:rPr>
              <a:t> de eventos implementado con un único </a:t>
            </a:r>
            <a:r>
              <a:rPr b="1" i="1" lang="es-ES" sz="2000">
                <a:solidFill>
                  <a:schemeClr val="lt1"/>
                </a:solidFill>
                <a:latin typeface="Calibri"/>
                <a:ea typeface="Calibri"/>
                <a:cs typeface="Calibri"/>
                <a:sym typeface="Calibri"/>
              </a:rPr>
              <a:t>thread</a:t>
            </a:r>
            <a:r>
              <a:rPr lang="es-ES" sz="2000">
                <a:solidFill>
                  <a:schemeClr val="lt1"/>
                </a:solidFill>
                <a:latin typeface="Calibri"/>
                <a:ea typeface="Calibri"/>
                <a:cs typeface="Calibri"/>
                <a:sym typeface="Calibri"/>
              </a:rPr>
              <a:t> para sus interfaces de entrada/salida.</a:t>
            </a:r>
            <a:endParaRPr/>
          </a:p>
        </p:txBody>
      </p:sp>
      <p:pic>
        <p:nvPicPr>
          <p:cNvPr id="165" name="Google Shape;165;p14"/>
          <p:cNvPicPr preferRelativeResize="0"/>
          <p:nvPr/>
        </p:nvPicPr>
        <p:blipFill rotWithShape="1">
          <a:blip r:embed="rId3">
            <a:alphaModFix/>
          </a:blip>
          <a:srcRect b="0" l="0" r="0" t="0"/>
          <a:stretch/>
        </p:blipFill>
        <p:spPr>
          <a:xfrm>
            <a:off x="-973641" y="1184856"/>
            <a:ext cx="11423451" cy="58017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15"/>
          <p:cNvPicPr preferRelativeResize="0"/>
          <p:nvPr/>
        </p:nvPicPr>
        <p:blipFill rotWithShape="1">
          <a:blip r:embed="rId3">
            <a:alphaModFix/>
          </a:blip>
          <a:srcRect b="0" l="0" r="0" t="0"/>
          <a:stretch/>
        </p:blipFill>
        <p:spPr>
          <a:xfrm>
            <a:off x="2152230" y="0"/>
            <a:ext cx="4255698" cy="6858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6"/>
          <p:cNvSpPr txBox="1"/>
          <p:nvPr>
            <p:ph type="title"/>
          </p:nvPr>
        </p:nvSpPr>
        <p:spPr>
          <a:xfrm>
            <a:off x="838200" y="365125"/>
            <a:ext cx="10515600" cy="1325563"/>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s-ES">
                <a:solidFill>
                  <a:schemeClr val="dk1"/>
                </a:solidFill>
                <a:latin typeface="Calibri"/>
                <a:ea typeface="Calibri"/>
                <a:cs typeface="Calibri"/>
                <a:sym typeface="Calibri"/>
              </a:rPr>
              <a:t>El </a:t>
            </a:r>
            <a:r>
              <a:rPr b="1" i="1" lang="es-ES">
                <a:solidFill>
                  <a:schemeClr val="dk1"/>
                </a:solidFill>
                <a:latin typeface="Calibri"/>
                <a:ea typeface="Calibri"/>
                <a:cs typeface="Calibri"/>
                <a:sym typeface="Calibri"/>
              </a:rPr>
              <a:t>Loop</a:t>
            </a:r>
            <a:r>
              <a:rPr b="1" lang="es-ES">
                <a:solidFill>
                  <a:schemeClr val="dk1"/>
                </a:solidFill>
                <a:latin typeface="Calibri"/>
                <a:ea typeface="Calibri"/>
                <a:cs typeface="Calibri"/>
                <a:sym typeface="Calibri"/>
              </a:rPr>
              <a:t> de Eventos de Javascript</a:t>
            </a:r>
            <a:endParaRPr/>
          </a:p>
        </p:txBody>
      </p:sp>
      <p:pic>
        <p:nvPicPr>
          <p:cNvPr id="176" name="Google Shape;176;p16"/>
          <p:cNvPicPr preferRelativeResize="0"/>
          <p:nvPr/>
        </p:nvPicPr>
        <p:blipFill rotWithShape="1">
          <a:blip r:embed="rId3">
            <a:alphaModFix/>
          </a:blip>
          <a:srcRect b="0" l="0" r="0" t="0"/>
          <a:stretch/>
        </p:blipFill>
        <p:spPr>
          <a:xfrm>
            <a:off x="838200" y="1690688"/>
            <a:ext cx="10058400" cy="510848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descr="https://encrypted-tbn0.gstatic.com/images?q=tbn:ANd9GcQQe3HhCci5o2l0UgP3iHj3f-b5hw-d8vu-UmDr7Tj4_ci1QepW4A" id="181" name="Google Shape;181;p17"/>
          <p:cNvPicPr preferRelativeResize="0"/>
          <p:nvPr/>
        </p:nvPicPr>
        <p:blipFill rotWithShape="1">
          <a:blip r:embed="rId3">
            <a:alphaModFix/>
          </a:blip>
          <a:srcRect b="0" l="0" r="0" t="0"/>
          <a:stretch/>
        </p:blipFill>
        <p:spPr>
          <a:xfrm>
            <a:off x="1250279" y="1288200"/>
            <a:ext cx="9852432" cy="471335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8"/>
          <p:cNvSpPr txBox="1"/>
          <p:nvPr>
            <p:ph type="title"/>
          </p:nvPr>
        </p:nvSpPr>
        <p:spPr>
          <a:xfrm>
            <a:off x="838200" y="365125"/>
            <a:ext cx="10515600" cy="1325563"/>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s-ES">
                <a:solidFill>
                  <a:schemeClr val="dk1"/>
                </a:solidFill>
                <a:latin typeface="Calibri"/>
                <a:ea typeface="Calibri"/>
                <a:cs typeface="Calibri"/>
                <a:sym typeface="Calibri"/>
              </a:rPr>
              <a:t>Call Stack - </a:t>
            </a:r>
            <a:r>
              <a:rPr lang="es-ES">
                <a:solidFill>
                  <a:schemeClr val="dk1"/>
                </a:solidFill>
                <a:latin typeface="Calibri"/>
                <a:ea typeface="Calibri"/>
                <a:cs typeface="Calibri"/>
                <a:sym typeface="Calibri"/>
              </a:rPr>
              <a:t>pila de llamadas</a:t>
            </a:r>
            <a:endParaRPr/>
          </a:p>
        </p:txBody>
      </p:sp>
      <p:sp>
        <p:nvSpPr>
          <p:cNvPr id="187" name="Google Shape;187;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s-ES"/>
              <a:t>Se encarga de albergar las instrucciones que deben ejecutarse. </a:t>
            </a:r>
            <a:endParaRPr/>
          </a:p>
          <a:p>
            <a:pPr indent="-228600" lvl="0" marL="228600" rtl="0" algn="l">
              <a:lnSpc>
                <a:spcPct val="90000"/>
              </a:lnSpc>
              <a:spcBef>
                <a:spcPts val="1000"/>
              </a:spcBef>
              <a:spcAft>
                <a:spcPts val="0"/>
              </a:spcAft>
              <a:buClr>
                <a:schemeClr val="dk1"/>
              </a:buClr>
              <a:buSzPts val="2800"/>
              <a:buChar char="•"/>
            </a:pPr>
            <a:r>
              <a:rPr lang="es-ES"/>
              <a:t>Nos indica en que punto del programa estamos, por donde vamos. </a:t>
            </a:r>
            <a:endParaRPr/>
          </a:p>
          <a:p>
            <a:pPr indent="-228600" lvl="0" marL="228600" rtl="0" algn="l">
              <a:lnSpc>
                <a:spcPct val="90000"/>
              </a:lnSpc>
              <a:spcBef>
                <a:spcPts val="1000"/>
              </a:spcBef>
              <a:spcAft>
                <a:spcPts val="0"/>
              </a:spcAft>
              <a:buClr>
                <a:schemeClr val="dk1"/>
              </a:buClr>
              <a:buSzPts val="2800"/>
              <a:buChar char="•"/>
            </a:pPr>
            <a:r>
              <a:rPr lang="es-ES"/>
              <a:t>Cada llamada a función de nuestra aplicación, entra a la pila generando un nuevo </a:t>
            </a:r>
            <a:r>
              <a:rPr i="1" lang="es-ES"/>
              <a:t>frame</a:t>
            </a:r>
            <a:r>
              <a:rPr lang="es-ES"/>
              <a:t>.</a:t>
            </a:r>
            <a:endParaRPr/>
          </a:p>
          <a:p>
            <a:pPr indent="-228600" lvl="0" marL="228600" rtl="0" algn="l">
              <a:lnSpc>
                <a:spcPct val="90000"/>
              </a:lnSpc>
              <a:spcBef>
                <a:spcPts val="1000"/>
              </a:spcBef>
              <a:spcAft>
                <a:spcPts val="0"/>
              </a:spcAft>
              <a:buClr>
                <a:schemeClr val="dk1"/>
              </a:buClr>
              <a:buSzPts val="2800"/>
              <a:buChar char="•"/>
            </a:pPr>
            <a:r>
              <a:rPr lang="es-ES"/>
              <a:t>Por tanto, cuando se llama a una función, su </a:t>
            </a:r>
            <a:r>
              <a:rPr i="1" lang="es-ES"/>
              <a:t>frame</a:t>
            </a:r>
            <a:r>
              <a:rPr lang="es-ES"/>
              <a:t> es insertado arriba en la pila, cuando una función se ha completado y devuelve, su </a:t>
            </a:r>
            <a:r>
              <a:rPr i="1" lang="es-ES"/>
              <a:t>frame</a:t>
            </a:r>
            <a:r>
              <a:rPr lang="es-ES"/>
              <a:t> se saca de la pila también por arriba. </a:t>
            </a:r>
            <a:endParaRPr/>
          </a:p>
          <a:p>
            <a:pPr indent="-228600" lvl="0" marL="228600" rtl="0" algn="l">
              <a:lnSpc>
                <a:spcPct val="90000"/>
              </a:lnSpc>
              <a:spcBef>
                <a:spcPts val="1000"/>
              </a:spcBef>
              <a:spcAft>
                <a:spcPts val="0"/>
              </a:spcAft>
              <a:buClr>
                <a:schemeClr val="dk1"/>
              </a:buClr>
              <a:buSzPts val="2800"/>
              <a:buChar char="•"/>
            </a:pPr>
            <a:r>
              <a:rPr lang="es-ES"/>
              <a:t>El funcionamiento es LIFO: </a:t>
            </a:r>
            <a:r>
              <a:rPr i="1" lang="es-ES"/>
              <a:t>last in, first out</a:t>
            </a:r>
            <a:r>
              <a:rPr lang="es-ES"/>
              <a:t>. </a:t>
            </a:r>
            <a:endParaRPr/>
          </a:p>
          <a:p>
            <a:pPr indent="-228600" lvl="1" marL="685800" rtl="0" algn="l">
              <a:lnSpc>
                <a:spcPct val="90000"/>
              </a:lnSpc>
              <a:spcBef>
                <a:spcPts val="500"/>
              </a:spcBef>
              <a:spcAft>
                <a:spcPts val="0"/>
              </a:spcAft>
              <a:buClr>
                <a:schemeClr val="dk1"/>
              </a:buClr>
              <a:buSzPts val="2400"/>
              <a:buChar char="•"/>
            </a:pPr>
            <a:r>
              <a:rPr lang="es-ES"/>
              <a:t>De este modo, las llamadas a función que están dentro de otra función contenedora son apiladas encima y serán atendidas primero.</a:t>
            </a:r>
            <a:endParaRPr/>
          </a:p>
        </p:txBody>
      </p:sp>
      <p:sp>
        <p:nvSpPr>
          <p:cNvPr id="188" name="Google Shape;188;p18"/>
          <p:cNvSpPr/>
          <p:nvPr/>
        </p:nvSpPr>
        <p:spPr>
          <a:xfrm>
            <a:off x="7997780" y="476518"/>
            <a:ext cx="3876541" cy="1339403"/>
          </a:xfrm>
          <a:prstGeom prst="roundRect">
            <a:avLst>
              <a:gd fmla="val 16667" name="adj"/>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000">
                <a:solidFill>
                  <a:schemeClr val="dk1"/>
                </a:solidFill>
                <a:latin typeface="Calibri"/>
                <a:ea typeface="Calibri"/>
                <a:cs typeface="Calibri"/>
                <a:sym typeface="Calibri"/>
              </a:rPr>
              <a:t>Frame  : bloque de memoria reservada para los argumentos y variables locales de dicha función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p19"/>
          <p:cNvPicPr preferRelativeResize="0"/>
          <p:nvPr/>
        </p:nvPicPr>
        <p:blipFill rotWithShape="1">
          <a:blip r:embed="rId3">
            <a:alphaModFix/>
          </a:blip>
          <a:srcRect b="0" l="0" r="0" t="0"/>
          <a:stretch/>
        </p:blipFill>
        <p:spPr>
          <a:xfrm>
            <a:off x="799562" y="342966"/>
            <a:ext cx="9348989" cy="596706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0"/>
          <p:cNvSpPr txBox="1"/>
          <p:nvPr>
            <p:ph type="title"/>
          </p:nvPr>
        </p:nvSpPr>
        <p:spPr>
          <a:xfrm>
            <a:off x="838200" y="365125"/>
            <a:ext cx="10515600" cy="1325563"/>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solidFill>
                  <a:schemeClr val="dk1"/>
                </a:solidFill>
                <a:latin typeface="Calibri"/>
                <a:ea typeface="Calibri"/>
                <a:cs typeface="Calibri"/>
                <a:sym typeface="Calibri"/>
              </a:rPr>
              <a:t>Conceptos </a:t>
            </a:r>
            <a:endParaRPr/>
          </a:p>
        </p:txBody>
      </p:sp>
      <p:sp>
        <p:nvSpPr>
          <p:cNvPr id="199" name="Google Shape;199;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b="1" i="1" lang="es-ES"/>
              <a:t>Heap</a:t>
            </a:r>
            <a:endParaRPr b="1"/>
          </a:p>
          <a:p>
            <a:pPr indent="-228600" lvl="1" marL="685800" rtl="0" algn="l">
              <a:lnSpc>
                <a:spcPct val="90000"/>
              </a:lnSpc>
              <a:spcBef>
                <a:spcPts val="500"/>
              </a:spcBef>
              <a:spcAft>
                <a:spcPts val="0"/>
              </a:spcAft>
              <a:buClr>
                <a:schemeClr val="dk1"/>
              </a:buClr>
              <a:buSzPct val="100000"/>
              <a:buChar char="•"/>
            </a:pPr>
            <a:r>
              <a:rPr lang="es-ES"/>
              <a:t>Región de memoria libre, normalmente de gran tamaño, dedicada al alojamiento dinámico de objetos. </a:t>
            </a:r>
            <a:endParaRPr/>
          </a:p>
          <a:p>
            <a:pPr indent="-228600" lvl="1" marL="685800" rtl="0" algn="l">
              <a:lnSpc>
                <a:spcPct val="90000"/>
              </a:lnSpc>
              <a:spcBef>
                <a:spcPts val="500"/>
              </a:spcBef>
              <a:spcAft>
                <a:spcPts val="0"/>
              </a:spcAft>
              <a:buClr>
                <a:schemeClr val="dk1"/>
              </a:buClr>
              <a:buSzPct val="100000"/>
              <a:buChar char="•"/>
            </a:pPr>
            <a:r>
              <a:rPr lang="es-ES"/>
              <a:t>Es compartida por todo el programa y controlada por un recolector de basura que se encarga de liberar aquello que no se necesita.</a:t>
            </a:r>
            <a:endParaRPr/>
          </a:p>
          <a:p>
            <a:pPr indent="-228600" lvl="0" marL="228600" rtl="0" algn="l">
              <a:lnSpc>
                <a:spcPct val="90000"/>
              </a:lnSpc>
              <a:spcBef>
                <a:spcPts val="1000"/>
              </a:spcBef>
              <a:spcAft>
                <a:spcPts val="0"/>
              </a:spcAft>
              <a:buClr>
                <a:schemeClr val="dk1"/>
              </a:buClr>
              <a:buSzPct val="100000"/>
              <a:buChar char="•"/>
            </a:pPr>
            <a:r>
              <a:rPr b="1" lang="es-ES"/>
              <a:t>Cola o </a:t>
            </a:r>
            <a:r>
              <a:rPr b="1" i="1" lang="es-ES"/>
              <a:t>Queue</a:t>
            </a:r>
            <a:endParaRPr b="1"/>
          </a:p>
          <a:p>
            <a:pPr indent="-228600" lvl="1" marL="685800" rtl="0" algn="l">
              <a:lnSpc>
                <a:spcPct val="90000"/>
              </a:lnSpc>
              <a:spcBef>
                <a:spcPts val="500"/>
              </a:spcBef>
              <a:spcAft>
                <a:spcPts val="0"/>
              </a:spcAft>
              <a:buClr>
                <a:schemeClr val="dk1"/>
              </a:buClr>
              <a:buSzPct val="100000"/>
              <a:buChar char="•"/>
            </a:pPr>
            <a:r>
              <a:rPr lang="es-ES"/>
              <a:t>Cada vez que nuestro programa recibe una notificación del exterior o de otro contexto distinto al de la aplicación (como es el caso de operaciones asíncronas), el mensaje se inserta en una cola de mensajes pendientes y se registra su </a:t>
            </a:r>
            <a:r>
              <a:rPr i="1" lang="es-ES"/>
              <a:t>callback</a:t>
            </a:r>
            <a:r>
              <a:rPr lang="es-ES"/>
              <a:t> correspondiente. </a:t>
            </a:r>
            <a:endParaRPr/>
          </a:p>
          <a:p>
            <a:pPr indent="-228600" lvl="1" marL="685800" rtl="0" algn="l">
              <a:lnSpc>
                <a:spcPct val="90000"/>
              </a:lnSpc>
              <a:spcBef>
                <a:spcPts val="500"/>
              </a:spcBef>
              <a:spcAft>
                <a:spcPts val="0"/>
              </a:spcAft>
              <a:buClr>
                <a:schemeClr val="dk1"/>
              </a:buClr>
              <a:buSzPct val="100000"/>
              <a:buChar char="•"/>
            </a:pPr>
            <a:r>
              <a:rPr lang="es-ES"/>
              <a:t>Un </a:t>
            </a:r>
            <a:r>
              <a:rPr i="1" lang="es-ES"/>
              <a:t>callback</a:t>
            </a:r>
            <a:r>
              <a:rPr lang="es-ES"/>
              <a:t> es la función que se ejecutará como respuesta.</a:t>
            </a:r>
            <a:endParaRPr/>
          </a:p>
          <a:p>
            <a:pPr indent="-228600" lvl="0" marL="228600" rtl="0" algn="l">
              <a:lnSpc>
                <a:spcPct val="90000"/>
              </a:lnSpc>
              <a:spcBef>
                <a:spcPts val="1000"/>
              </a:spcBef>
              <a:spcAft>
                <a:spcPts val="0"/>
              </a:spcAft>
              <a:buClr>
                <a:schemeClr val="dk1"/>
              </a:buClr>
              <a:buSzPct val="100000"/>
              <a:buChar char="•"/>
            </a:pPr>
            <a:r>
              <a:rPr b="1" i="1" lang="es-ES"/>
              <a:t>Loop</a:t>
            </a:r>
            <a:r>
              <a:rPr b="1" lang="es-ES"/>
              <a:t> de Eventos</a:t>
            </a:r>
            <a:endParaRPr/>
          </a:p>
          <a:p>
            <a:pPr indent="-228600" lvl="1" marL="685800" rtl="0" algn="l">
              <a:lnSpc>
                <a:spcPct val="90000"/>
              </a:lnSpc>
              <a:spcBef>
                <a:spcPts val="500"/>
              </a:spcBef>
              <a:spcAft>
                <a:spcPts val="0"/>
              </a:spcAft>
              <a:buClr>
                <a:schemeClr val="dk1"/>
              </a:buClr>
              <a:buSzPct val="100000"/>
              <a:buChar char="•"/>
            </a:pPr>
            <a:r>
              <a:rPr lang="es-ES"/>
              <a:t>Cuando la pila de llamadas (</a:t>
            </a:r>
            <a:r>
              <a:rPr i="1" lang="es-ES"/>
              <a:t>call stack</a:t>
            </a:r>
            <a:r>
              <a:rPr lang="es-ES"/>
              <a:t>) se vacía, es decir, no hay nada más que ejecutar, se procesan los mensajes de la cola. </a:t>
            </a:r>
            <a:endParaRPr/>
          </a:p>
          <a:p>
            <a:pPr indent="-228600" lvl="1" marL="685800" rtl="0" algn="l">
              <a:lnSpc>
                <a:spcPct val="90000"/>
              </a:lnSpc>
              <a:spcBef>
                <a:spcPts val="500"/>
              </a:spcBef>
              <a:spcAft>
                <a:spcPts val="0"/>
              </a:spcAft>
              <a:buClr>
                <a:schemeClr val="dk1"/>
              </a:buClr>
              <a:buSzPct val="100000"/>
              <a:buChar char="•"/>
            </a:pPr>
            <a:r>
              <a:rPr lang="es-ES"/>
              <a:t>Con cada '</a:t>
            </a:r>
            <a:r>
              <a:rPr i="1" lang="es-ES"/>
              <a:t>tick</a:t>
            </a:r>
            <a:r>
              <a:rPr lang="es-ES"/>
              <a:t>' del bucle de eventos, se procesa un nuevo mensaje. </a:t>
            </a:r>
            <a:endParaRPr/>
          </a:p>
          <a:p>
            <a:pPr indent="-228600" lvl="1" marL="685800" rtl="0" algn="l">
              <a:lnSpc>
                <a:spcPct val="90000"/>
              </a:lnSpc>
              <a:spcBef>
                <a:spcPts val="500"/>
              </a:spcBef>
              <a:spcAft>
                <a:spcPts val="0"/>
              </a:spcAft>
              <a:buClr>
                <a:schemeClr val="dk1"/>
              </a:buClr>
              <a:buSzPct val="100000"/>
              <a:buChar char="•"/>
            </a:pPr>
            <a:r>
              <a:rPr lang="es-ES"/>
              <a:t>Este procesamiento consiste en llamar al </a:t>
            </a:r>
            <a:r>
              <a:rPr i="1" lang="es-ES"/>
              <a:t>callback</a:t>
            </a:r>
            <a:r>
              <a:rPr lang="es-ES"/>
              <a:t> asociado a cada mensaje lo que dará lugar a un nuevo </a:t>
            </a:r>
            <a:r>
              <a:rPr i="1" lang="es-ES"/>
              <a:t>frame</a:t>
            </a:r>
            <a:r>
              <a:rPr lang="es-ES"/>
              <a:t> en la pila de llamadas. </a:t>
            </a:r>
            <a:endParaRPr/>
          </a:p>
          <a:p>
            <a:pPr indent="-228600" lvl="1" marL="685800" rtl="0" algn="l">
              <a:lnSpc>
                <a:spcPct val="90000"/>
              </a:lnSpc>
              <a:spcBef>
                <a:spcPts val="500"/>
              </a:spcBef>
              <a:spcAft>
                <a:spcPts val="0"/>
              </a:spcAft>
              <a:buClr>
                <a:schemeClr val="dk1"/>
              </a:buClr>
              <a:buSzPct val="100000"/>
              <a:buChar char="•"/>
            </a:pPr>
            <a:r>
              <a:rPr lang="es-ES"/>
              <a:t>Este </a:t>
            </a:r>
            <a:r>
              <a:rPr i="1" lang="es-ES"/>
              <a:t>frame</a:t>
            </a:r>
            <a:r>
              <a:rPr lang="es-ES"/>
              <a:t> inicial puede derivar en muchos más, todo depende del contenido del </a:t>
            </a:r>
            <a:r>
              <a:rPr i="1" lang="es-ES"/>
              <a:t>callback</a:t>
            </a:r>
            <a:r>
              <a:rPr lang="es-ES"/>
              <a:t>.</a:t>
            </a:r>
            <a:endParaRPr/>
          </a:p>
          <a:p>
            <a:pPr indent="-228600" lvl="1" marL="685800" rtl="0" algn="l">
              <a:lnSpc>
                <a:spcPct val="90000"/>
              </a:lnSpc>
              <a:spcBef>
                <a:spcPts val="500"/>
              </a:spcBef>
              <a:spcAft>
                <a:spcPts val="0"/>
              </a:spcAft>
              <a:buClr>
                <a:schemeClr val="dk1"/>
              </a:buClr>
              <a:buSzPct val="100000"/>
              <a:buChar char="•"/>
            </a:pPr>
            <a:r>
              <a:rPr lang="es-ES"/>
              <a:t>Un mensaje se termina de procesar cuando la pila vuleve a estar vacía de nuevo. </a:t>
            </a:r>
            <a:endParaRPr/>
          </a:p>
          <a:p>
            <a:pPr indent="-228600" lvl="1" marL="685800" rtl="0" algn="l">
              <a:lnSpc>
                <a:spcPct val="90000"/>
              </a:lnSpc>
              <a:spcBef>
                <a:spcPts val="500"/>
              </a:spcBef>
              <a:spcAft>
                <a:spcPts val="0"/>
              </a:spcAft>
              <a:buClr>
                <a:schemeClr val="dk1"/>
              </a:buClr>
              <a:buSzPct val="100000"/>
              <a:buChar char="•"/>
            </a:pPr>
            <a:r>
              <a:rPr lang="es-ES"/>
              <a:t>A este comportamiento se le conoce como '</a:t>
            </a:r>
            <a:r>
              <a:rPr i="1" lang="es-ES"/>
              <a:t>run-to-completion</a:t>
            </a:r>
            <a:r>
              <a:rPr lang="es-ES"/>
              <a:t>'.</a:t>
            </a:r>
            <a:endParaRPr/>
          </a:p>
          <a:p>
            <a:pPr indent="-10414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id="204" name="Google Shape;204;p21"/>
          <p:cNvPicPr preferRelativeResize="0"/>
          <p:nvPr/>
        </p:nvPicPr>
        <p:blipFill rotWithShape="1">
          <a:blip r:embed="rId3">
            <a:alphaModFix/>
          </a:blip>
          <a:srcRect b="0" l="0" r="0" t="0"/>
          <a:stretch/>
        </p:blipFill>
        <p:spPr>
          <a:xfrm>
            <a:off x="475445" y="244162"/>
            <a:ext cx="4724400" cy="3124200"/>
          </a:xfrm>
          <a:prstGeom prst="rect">
            <a:avLst/>
          </a:prstGeom>
          <a:noFill/>
          <a:ln>
            <a:noFill/>
          </a:ln>
        </p:spPr>
      </p:pic>
      <p:pic>
        <p:nvPicPr>
          <p:cNvPr id="205" name="Google Shape;205;p21"/>
          <p:cNvPicPr preferRelativeResize="0"/>
          <p:nvPr/>
        </p:nvPicPr>
        <p:blipFill rotWithShape="1">
          <a:blip r:embed="rId4">
            <a:alphaModFix/>
          </a:blip>
          <a:srcRect b="0" l="0" r="0" t="0"/>
          <a:stretch/>
        </p:blipFill>
        <p:spPr>
          <a:xfrm>
            <a:off x="5752966" y="244162"/>
            <a:ext cx="4781550" cy="3124200"/>
          </a:xfrm>
          <a:prstGeom prst="rect">
            <a:avLst/>
          </a:prstGeom>
          <a:noFill/>
          <a:ln>
            <a:noFill/>
          </a:ln>
        </p:spPr>
      </p:pic>
      <p:pic>
        <p:nvPicPr>
          <p:cNvPr id="206" name="Google Shape;206;p21"/>
          <p:cNvPicPr preferRelativeResize="0"/>
          <p:nvPr/>
        </p:nvPicPr>
        <p:blipFill rotWithShape="1">
          <a:blip r:embed="rId5">
            <a:alphaModFix/>
          </a:blip>
          <a:srcRect b="0" l="0" r="0" t="0"/>
          <a:stretch/>
        </p:blipFill>
        <p:spPr>
          <a:xfrm>
            <a:off x="399245" y="3368362"/>
            <a:ext cx="4800600" cy="3048000"/>
          </a:xfrm>
          <a:prstGeom prst="rect">
            <a:avLst/>
          </a:prstGeom>
          <a:noFill/>
          <a:ln>
            <a:noFill/>
          </a:ln>
        </p:spPr>
      </p:pic>
      <p:pic>
        <p:nvPicPr>
          <p:cNvPr id="207" name="Google Shape;207;p21"/>
          <p:cNvPicPr preferRelativeResize="0"/>
          <p:nvPr/>
        </p:nvPicPr>
        <p:blipFill rotWithShape="1">
          <a:blip r:embed="rId6">
            <a:alphaModFix/>
          </a:blip>
          <a:srcRect b="0" l="0" r="0" t="0"/>
          <a:stretch/>
        </p:blipFill>
        <p:spPr>
          <a:xfrm>
            <a:off x="5819641" y="3454087"/>
            <a:ext cx="4714875" cy="29622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Cola de llamadas</a:t>
            </a:r>
            <a:endParaRPr/>
          </a:p>
        </p:txBody>
      </p:sp>
      <p:sp>
        <p:nvSpPr>
          <p:cNvPr id="213" name="Google Shape;213;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s-ES"/>
              <a:t>De esta forma, podemos entender </a:t>
            </a:r>
            <a:r>
              <a:rPr b="1" lang="es-ES"/>
              <a:t>la cola como el almacén de los mensajes (notificaciones) y sus </a:t>
            </a:r>
            <a:r>
              <a:rPr b="1" i="1" lang="es-ES"/>
              <a:t>callbacks</a:t>
            </a:r>
            <a:r>
              <a:rPr b="1" lang="es-ES"/>
              <a:t> asociados</a:t>
            </a:r>
            <a:r>
              <a:rPr lang="es-ES"/>
              <a:t> mientras que </a:t>
            </a:r>
            <a:r>
              <a:rPr b="1" lang="es-ES"/>
              <a:t>el </a:t>
            </a:r>
            <a:r>
              <a:rPr b="1" i="1" lang="es-ES"/>
              <a:t>loop </a:t>
            </a:r>
            <a:r>
              <a:rPr b="1" lang="es-ES"/>
              <a:t>de eventos es el mecanismo para despacharlos</a:t>
            </a:r>
            <a:r>
              <a:rPr lang="es-ES"/>
              <a:t>. </a:t>
            </a:r>
            <a:endParaRPr/>
          </a:p>
          <a:p>
            <a:pPr indent="-228600" lvl="1" marL="685800" rtl="0" algn="l">
              <a:lnSpc>
                <a:spcPct val="90000"/>
              </a:lnSpc>
              <a:spcBef>
                <a:spcPts val="500"/>
              </a:spcBef>
              <a:spcAft>
                <a:spcPts val="0"/>
              </a:spcAft>
              <a:buClr>
                <a:schemeClr val="dk1"/>
              </a:buClr>
              <a:buSzPct val="100000"/>
              <a:buChar char="•"/>
            </a:pPr>
            <a:r>
              <a:rPr lang="es-ES"/>
              <a:t>Este mecanismo sigue un comportamiento </a:t>
            </a:r>
            <a:r>
              <a:rPr lang="es-ES">
                <a:solidFill>
                  <a:srgbClr val="FF0000"/>
                </a:solidFill>
              </a:rPr>
              <a:t>síncrono</a:t>
            </a:r>
            <a:r>
              <a:rPr lang="es-ES"/>
              <a:t>: cada mensaje debe ser procesado de forma completa para que pueda comenzar el siguiente.</a:t>
            </a:r>
            <a:endParaRPr/>
          </a:p>
          <a:p>
            <a:pPr indent="-228600" lvl="0" marL="228600" rtl="0" algn="l">
              <a:lnSpc>
                <a:spcPct val="90000"/>
              </a:lnSpc>
              <a:spcBef>
                <a:spcPts val="1000"/>
              </a:spcBef>
              <a:spcAft>
                <a:spcPts val="0"/>
              </a:spcAft>
              <a:buClr>
                <a:schemeClr val="dk1"/>
              </a:buClr>
              <a:buSzPct val="100000"/>
              <a:buChar char="•"/>
            </a:pPr>
            <a:r>
              <a:rPr lang="es-ES"/>
              <a:t>Una de las implicaciones más relevantes de este bucle de eventos es que </a:t>
            </a:r>
            <a:r>
              <a:rPr b="1" lang="es-ES"/>
              <a:t>los </a:t>
            </a:r>
            <a:r>
              <a:rPr b="1" i="1" lang="es-ES"/>
              <a:t>callbacks</a:t>
            </a:r>
            <a:r>
              <a:rPr b="1" lang="es-ES"/>
              <a:t> no serán despachados tan pronto como sean encolados</a:t>
            </a:r>
            <a:r>
              <a:rPr lang="es-ES"/>
              <a:t>, sino que deben esperar su turno. </a:t>
            </a:r>
            <a:endParaRPr/>
          </a:p>
          <a:p>
            <a:pPr indent="-228600" lvl="0" marL="228600" rtl="0" algn="l">
              <a:lnSpc>
                <a:spcPct val="90000"/>
              </a:lnSpc>
              <a:spcBef>
                <a:spcPts val="1000"/>
              </a:spcBef>
              <a:spcAft>
                <a:spcPts val="0"/>
              </a:spcAft>
              <a:buClr>
                <a:schemeClr val="dk1"/>
              </a:buClr>
              <a:buSzPct val="100000"/>
              <a:buChar char="•"/>
            </a:pPr>
            <a:r>
              <a:rPr lang="es-ES"/>
              <a:t>Este tiempo de espera dependerá del numero de mensajes pendientes de procesar (por delante en la cola) así como del tiempo que se tardará en cada uno de ellos. </a:t>
            </a:r>
            <a:endParaRPr/>
          </a:p>
          <a:p>
            <a:pPr indent="-228600" lvl="0" marL="228600" rtl="0" algn="l">
              <a:lnSpc>
                <a:spcPct val="90000"/>
              </a:lnSpc>
              <a:spcBef>
                <a:spcPts val="1000"/>
              </a:spcBef>
              <a:spcAft>
                <a:spcPts val="0"/>
              </a:spcAft>
              <a:buClr>
                <a:schemeClr val="dk1"/>
              </a:buClr>
              <a:buSzPct val="100000"/>
              <a:buChar char="•"/>
            </a:pPr>
            <a:r>
              <a:rPr lang="es-ES"/>
              <a:t>Aunque pueda parecer obvio, esto explica la razón por la cual la finalización de una operación asíncrona no puede predecirse con seguridad, sino que se atiende en modo </a:t>
            </a:r>
            <a:r>
              <a:rPr i="1" lang="es-ES">
                <a:solidFill>
                  <a:srgbClr val="FF0000"/>
                </a:solidFill>
              </a:rPr>
              <a:t>best effort</a:t>
            </a:r>
            <a:r>
              <a:rPr lang="es-ES"/>
              <a:t>.</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3"/>
          <p:cNvSpPr txBox="1"/>
          <p:nvPr>
            <p:ph type="title"/>
          </p:nvPr>
        </p:nvSpPr>
        <p:spPr>
          <a:xfrm>
            <a:off x="168499" y="159063"/>
            <a:ext cx="10675512" cy="987157"/>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solidFill>
                  <a:schemeClr val="dk1"/>
                </a:solidFill>
                <a:latin typeface="Calibri"/>
                <a:ea typeface="Calibri"/>
                <a:cs typeface="Calibri"/>
                <a:sym typeface="Calibri"/>
              </a:rPr>
              <a:t>Loop eventos : situaciones comprometidas</a:t>
            </a:r>
            <a:endParaRPr/>
          </a:p>
        </p:txBody>
      </p:sp>
      <p:sp>
        <p:nvSpPr>
          <p:cNvPr id="219" name="Google Shape;219;p23"/>
          <p:cNvSpPr txBox="1"/>
          <p:nvPr>
            <p:ph idx="1" type="body"/>
          </p:nvPr>
        </p:nvSpPr>
        <p:spPr>
          <a:xfrm>
            <a:off x="283335" y="1339403"/>
            <a:ext cx="11758411" cy="483756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s-ES" sz="2400"/>
              <a:t>La pila de llamadas no se vacía ya que nuestra aplicación hace uso intensivo de ella.</a:t>
            </a:r>
            <a:endParaRPr/>
          </a:p>
          <a:p>
            <a:pPr indent="-228600" lvl="1" marL="685800" rtl="0" algn="l">
              <a:lnSpc>
                <a:spcPct val="90000"/>
              </a:lnSpc>
              <a:spcBef>
                <a:spcPts val="500"/>
              </a:spcBef>
              <a:spcAft>
                <a:spcPts val="0"/>
              </a:spcAft>
              <a:buClr>
                <a:schemeClr val="dk1"/>
              </a:buClr>
              <a:buSzPts val="1800"/>
              <a:buChar char="•"/>
            </a:pPr>
            <a:r>
              <a:rPr lang="es-ES" sz="1800"/>
              <a:t> No habrá </a:t>
            </a:r>
            <a:r>
              <a:rPr i="1" lang="es-ES" sz="1800"/>
              <a:t>tick</a:t>
            </a:r>
            <a:r>
              <a:rPr lang="es-ES" sz="1800"/>
              <a:t> en el bucle de eventos y por tanto los mensajes no se procesan.</a:t>
            </a:r>
            <a:endParaRPr/>
          </a:p>
          <a:p>
            <a:pPr indent="-228600" lvl="0" marL="228600" rtl="0" algn="l">
              <a:lnSpc>
                <a:spcPct val="90000"/>
              </a:lnSpc>
              <a:spcBef>
                <a:spcPts val="1000"/>
              </a:spcBef>
              <a:spcAft>
                <a:spcPts val="0"/>
              </a:spcAft>
              <a:buClr>
                <a:schemeClr val="dk1"/>
              </a:buClr>
              <a:buSzPts val="2400"/>
              <a:buChar char="•"/>
            </a:pPr>
            <a:r>
              <a:rPr lang="es-ES" sz="2400"/>
              <a:t>El flujo de mensajes que se van encolando es mayor que el de mensajes procesados.</a:t>
            </a:r>
            <a:endParaRPr/>
          </a:p>
          <a:p>
            <a:pPr indent="-228600" lvl="1" marL="685800" rtl="0" algn="l">
              <a:lnSpc>
                <a:spcPct val="90000"/>
              </a:lnSpc>
              <a:spcBef>
                <a:spcPts val="500"/>
              </a:spcBef>
              <a:spcAft>
                <a:spcPts val="0"/>
              </a:spcAft>
              <a:buClr>
                <a:schemeClr val="dk1"/>
              </a:buClr>
              <a:buSzPts val="1800"/>
              <a:buChar char="•"/>
            </a:pPr>
            <a:r>
              <a:rPr lang="es-ES" sz="1800"/>
              <a:t> Demasiados eventos a la vez.</a:t>
            </a:r>
            <a:endParaRPr/>
          </a:p>
          <a:p>
            <a:pPr indent="-228600" lvl="0" marL="228600" rtl="0" algn="l">
              <a:lnSpc>
                <a:spcPct val="90000"/>
              </a:lnSpc>
              <a:spcBef>
                <a:spcPts val="1000"/>
              </a:spcBef>
              <a:spcAft>
                <a:spcPts val="0"/>
              </a:spcAft>
              <a:buClr>
                <a:schemeClr val="dk1"/>
              </a:buClr>
              <a:buSzPts val="2400"/>
              <a:buChar char="•"/>
            </a:pPr>
            <a:r>
              <a:rPr lang="es-ES" sz="2400"/>
              <a:t>Un </a:t>
            </a:r>
            <a:r>
              <a:rPr i="1" lang="es-ES" sz="2400"/>
              <a:t>callback</a:t>
            </a:r>
            <a:r>
              <a:rPr lang="es-ES" sz="2400"/>
              <a:t> requiere procesamiento intensivo y acapara la pila. </a:t>
            </a:r>
            <a:endParaRPr sz="2400"/>
          </a:p>
          <a:p>
            <a:pPr indent="-228600" lvl="1" marL="685800" rtl="0" algn="l">
              <a:lnSpc>
                <a:spcPct val="90000"/>
              </a:lnSpc>
              <a:spcBef>
                <a:spcPts val="500"/>
              </a:spcBef>
              <a:spcAft>
                <a:spcPts val="0"/>
              </a:spcAft>
              <a:buClr>
                <a:schemeClr val="dk1"/>
              </a:buClr>
              <a:buSzPts val="1800"/>
              <a:buChar char="•"/>
            </a:pPr>
            <a:r>
              <a:rPr lang="es-ES" sz="1800"/>
              <a:t>De nuevo bloqueamos los </a:t>
            </a:r>
            <a:r>
              <a:rPr i="1" lang="es-ES" sz="1800"/>
              <a:t>ticks</a:t>
            </a:r>
            <a:r>
              <a:rPr lang="es-ES" sz="1800"/>
              <a:t> del bucle de eventos y el resto de mensajes no se despachan.</a:t>
            </a:r>
            <a:endParaRPr/>
          </a:p>
          <a:p>
            <a:pPr indent="-228600" lvl="0" marL="228600" rtl="0" algn="l">
              <a:lnSpc>
                <a:spcPct val="90000"/>
              </a:lnSpc>
              <a:spcBef>
                <a:spcPts val="1000"/>
              </a:spcBef>
              <a:spcAft>
                <a:spcPts val="0"/>
              </a:spcAft>
              <a:buClr>
                <a:schemeClr val="dk1"/>
              </a:buClr>
              <a:buSzPts val="2400"/>
              <a:buChar char="•"/>
            </a:pPr>
            <a:r>
              <a:rPr lang="es-ES" sz="2400"/>
              <a:t>Lo más probable es que un cuello de botella se produzca como consecuencia de una mezcla de factores. </a:t>
            </a:r>
            <a:endParaRPr sz="2400"/>
          </a:p>
          <a:p>
            <a:pPr indent="-228600" lvl="0" marL="228600" rtl="0" algn="l">
              <a:lnSpc>
                <a:spcPct val="90000"/>
              </a:lnSpc>
              <a:spcBef>
                <a:spcPts val="1000"/>
              </a:spcBef>
              <a:spcAft>
                <a:spcPts val="0"/>
              </a:spcAft>
              <a:buClr>
                <a:schemeClr val="dk1"/>
              </a:buClr>
              <a:buSzPts val="2400"/>
              <a:buChar char="•"/>
            </a:pPr>
            <a:r>
              <a:rPr lang="es-ES" sz="2400"/>
              <a:t>En cualquier caso, acabarían </a:t>
            </a:r>
            <a:r>
              <a:rPr b="1" lang="es-ES" sz="2400"/>
              <a:t>retrasando el flujo de ejecución</a:t>
            </a:r>
            <a:r>
              <a:rPr lang="es-ES" sz="2400"/>
              <a:t>. </a:t>
            </a:r>
            <a:endParaRPr sz="2400"/>
          </a:p>
          <a:p>
            <a:pPr indent="-228600" lvl="0" marL="228600" rtl="0" algn="l">
              <a:lnSpc>
                <a:spcPct val="90000"/>
              </a:lnSpc>
              <a:spcBef>
                <a:spcPts val="1000"/>
              </a:spcBef>
              <a:spcAft>
                <a:spcPts val="0"/>
              </a:spcAft>
              <a:buClr>
                <a:schemeClr val="dk1"/>
              </a:buClr>
              <a:buSzPts val="2400"/>
              <a:buChar char="•"/>
            </a:pPr>
            <a:r>
              <a:rPr lang="es-ES" sz="2400"/>
              <a:t>Y por tanto retrasando el renderizado, el procesado de eventos, etc. </a:t>
            </a:r>
            <a:endParaRPr sz="2400"/>
          </a:p>
          <a:p>
            <a:pPr indent="-228600" lvl="0" marL="228600" rtl="0" algn="l">
              <a:lnSpc>
                <a:spcPct val="90000"/>
              </a:lnSpc>
              <a:spcBef>
                <a:spcPts val="1000"/>
              </a:spcBef>
              <a:spcAft>
                <a:spcPts val="0"/>
              </a:spcAft>
              <a:buClr>
                <a:schemeClr val="dk1"/>
              </a:buClr>
              <a:buSzPts val="2400"/>
              <a:buChar char="•"/>
            </a:pPr>
            <a:r>
              <a:rPr lang="es-ES" sz="2400"/>
              <a:t>La experiencia de usuario se degradaría y la aplicación dejaría de responder de forma fluida. </a:t>
            </a:r>
            <a:endParaRPr sz="2400"/>
          </a:p>
          <a:p>
            <a:pPr indent="-228600" lvl="0" marL="228600" rtl="0" algn="l">
              <a:lnSpc>
                <a:spcPct val="90000"/>
              </a:lnSpc>
              <a:spcBef>
                <a:spcPts val="1000"/>
              </a:spcBef>
              <a:spcAft>
                <a:spcPts val="0"/>
              </a:spcAft>
              <a:buClr>
                <a:schemeClr val="dk1"/>
              </a:buClr>
              <a:buSzPts val="2400"/>
              <a:buChar char="•"/>
            </a:pPr>
            <a:r>
              <a:rPr lang="es-ES" sz="2400"/>
              <a:t>Para evitar esta situación, se debe  </a:t>
            </a:r>
            <a:r>
              <a:rPr b="1" lang="es-ES" sz="2400"/>
              <a:t>mantener los </a:t>
            </a:r>
            <a:r>
              <a:rPr b="1" i="1" lang="es-ES" sz="2400"/>
              <a:t>callbacks</a:t>
            </a:r>
            <a:r>
              <a:rPr b="1" lang="es-ES" sz="2400"/>
              <a:t> lo más ligeros posible</a:t>
            </a:r>
            <a:r>
              <a:rPr lang="es-ES" sz="2400"/>
              <a:t>. </a:t>
            </a:r>
            <a:endParaRPr sz="2400"/>
          </a:p>
          <a:p>
            <a:pPr indent="-228600" lvl="1" marL="685800" rtl="0" algn="l">
              <a:lnSpc>
                <a:spcPct val="90000"/>
              </a:lnSpc>
              <a:spcBef>
                <a:spcPts val="500"/>
              </a:spcBef>
              <a:spcAft>
                <a:spcPts val="0"/>
              </a:spcAft>
              <a:buClr>
                <a:schemeClr val="dk1"/>
              </a:buClr>
              <a:buSzPts val="1800"/>
              <a:buChar char="•"/>
            </a:pPr>
            <a:r>
              <a:rPr lang="es-ES" sz="1800"/>
              <a:t>En general, evita código que acapare la CPU y permite que el </a:t>
            </a:r>
            <a:r>
              <a:rPr i="1" lang="es-ES" sz="1800"/>
              <a:t>loop</a:t>
            </a:r>
            <a:r>
              <a:rPr lang="es-ES" sz="1800"/>
              <a:t> de eventos se ejecute a buen ritmo.</a:t>
            </a:r>
            <a:endParaRPr/>
          </a:p>
          <a:p>
            <a:pPr indent="-76200" lvl="0" marL="228600" rtl="0" algn="l">
              <a:lnSpc>
                <a:spcPct val="90000"/>
              </a:lnSpc>
              <a:spcBef>
                <a:spcPts val="1000"/>
              </a:spcBef>
              <a:spcAft>
                <a:spcPts val="0"/>
              </a:spcAft>
              <a:buClr>
                <a:schemeClr val="dk1"/>
              </a:buClr>
              <a:buSzPts val="2400"/>
              <a:buNone/>
            </a:pPr>
            <a:r>
              <a:t/>
            </a:r>
            <a:endParaRPr sz="24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4"/>
          <p:cNvSpPr txBox="1"/>
          <p:nvPr>
            <p:ph type="title"/>
          </p:nvPr>
        </p:nvSpPr>
        <p:spPr>
          <a:xfrm>
            <a:off x="838200" y="365125"/>
            <a:ext cx="10515600" cy="1325563"/>
          </a:xfrm>
          <a:prstGeom prst="rect">
            <a:avLst/>
          </a:prstGeom>
          <a:solidFill>
            <a:schemeClr val="lt1"/>
          </a:solidFill>
          <a:ln cap="flat" cmpd="sng" w="12700">
            <a:solidFill>
              <a:schemeClr val="accent2"/>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solidFill>
                  <a:schemeClr val="dk1"/>
                </a:solidFill>
                <a:latin typeface="Calibri"/>
                <a:ea typeface="Calibri"/>
                <a:cs typeface="Calibri"/>
                <a:sym typeface="Calibri"/>
              </a:rPr>
              <a:t>Paralelismo</a:t>
            </a:r>
            <a:endParaRPr/>
          </a:p>
        </p:txBody>
      </p:sp>
      <p:sp>
        <p:nvSpPr>
          <p:cNvPr id="225" name="Google Shape;225;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lang="es-ES"/>
              <a:t>Aunque Javascript ha sido concebido con las operaciones de entrada/salida en mente, no significa que no pueda ejecutar tareas de procesado intesivo. </a:t>
            </a:r>
            <a:endParaRPr/>
          </a:p>
          <a:p>
            <a:pPr indent="-228600" lvl="1" marL="685800" rtl="0" algn="l">
              <a:lnSpc>
                <a:spcPct val="90000"/>
              </a:lnSpc>
              <a:spcBef>
                <a:spcPts val="500"/>
              </a:spcBef>
              <a:spcAft>
                <a:spcPts val="0"/>
              </a:spcAft>
              <a:buClr>
                <a:schemeClr val="dk1"/>
              </a:buClr>
              <a:buSzPct val="100000"/>
              <a:buChar char="•"/>
            </a:pPr>
            <a:r>
              <a:rPr lang="es-ES"/>
              <a:t>Por supuesto que puede hacerlo, pero si no se manejan adecuadamente, podría dar lugar a los problemas mencionados en el apartado anterior.</a:t>
            </a:r>
            <a:endParaRPr/>
          </a:p>
          <a:p>
            <a:pPr indent="-228600" lvl="0" marL="228600" rtl="0" algn="l">
              <a:lnSpc>
                <a:spcPct val="90000"/>
              </a:lnSpc>
              <a:spcBef>
                <a:spcPts val="1000"/>
              </a:spcBef>
              <a:spcAft>
                <a:spcPts val="0"/>
              </a:spcAft>
              <a:buClr>
                <a:schemeClr val="dk1"/>
              </a:buClr>
              <a:buSzPct val="100000"/>
              <a:buChar char="•"/>
            </a:pPr>
            <a:r>
              <a:rPr lang="es-ES"/>
              <a:t>Se ha invertido un considerable esfuerzo ultimamente para minimizar estos problemas. Como resultado, entidades como los </a:t>
            </a:r>
            <a:r>
              <a:rPr lang="es-ES">
                <a:solidFill>
                  <a:srgbClr val="FF0000"/>
                </a:solidFill>
              </a:rPr>
              <a:t>WebWorkers</a:t>
            </a:r>
            <a:r>
              <a:rPr lang="es-ES"/>
              <a:t> y los </a:t>
            </a:r>
            <a:r>
              <a:rPr lang="es-ES">
                <a:solidFill>
                  <a:srgbClr val="FF0000"/>
                </a:solidFill>
              </a:rPr>
              <a:t>SharedArrayBuffer</a:t>
            </a:r>
            <a:r>
              <a:rPr lang="es-ES"/>
              <a:t> han visto la luz recientemente para introducir el paralelismo en Javascript. </a:t>
            </a:r>
            <a:endParaRPr/>
          </a:p>
          <a:p>
            <a:pPr indent="-228600" lvl="0" marL="228600" rtl="0" algn="l">
              <a:lnSpc>
                <a:spcPct val="90000"/>
              </a:lnSpc>
              <a:spcBef>
                <a:spcPts val="1000"/>
              </a:spcBef>
              <a:spcAft>
                <a:spcPts val="0"/>
              </a:spcAft>
              <a:buClr>
                <a:schemeClr val="dk1"/>
              </a:buClr>
              <a:buSzPct val="100000"/>
              <a:buChar char="•"/>
            </a:pPr>
            <a:r>
              <a:rPr lang="es-ES"/>
              <a:t>Si necesitas ejecutar tareas pesadas que hagan un uso intensivo de CPU deberías considerar el uso de WebWorkers que corran en segundo plano consumiendo </a:t>
            </a:r>
            <a:r>
              <a:rPr i="1" lang="es-ES"/>
              <a:t>threads</a:t>
            </a:r>
            <a:r>
              <a:rPr lang="es-ES"/>
              <a:t> distintos al principal.</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5"/>
          <p:cNvSpPr txBox="1"/>
          <p:nvPr>
            <p:ph type="title"/>
          </p:nvPr>
        </p:nvSpPr>
        <p:spPr>
          <a:xfrm>
            <a:off x="831850" y="1709738"/>
            <a:ext cx="10515600" cy="2852737"/>
          </a:xfrm>
          <a:prstGeom prst="rect">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b="1" lang="es-ES">
                <a:solidFill>
                  <a:schemeClr val="dk1"/>
                </a:solidFill>
                <a:latin typeface="Calibri"/>
                <a:ea typeface="Calibri"/>
                <a:cs typeface="Calibri"/>
                <a:sym typeface="Calibri"/>
              </a:rPr>
              <a:t>Patrones asíncronos en Javascript</a:t>
            </a:r>
            <a:br>
              <a:rPr b="1" lang="es-ES">
                <a:solidFill>
                  <a:schemeClr val="dk1"/>
                </a:solidFill>
                <a:latin typeface="Calibri"/>
                <a:ea typeface="Calibri"/>
                <a:cs typeface="Calibri"/>
                <a:sym typeface="Calibri"/>
              </a:rPr>
            </a:b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6"/>
          <p:cNvSpPr txBox="1"/>
          <p:nvPr>
            <p:ph type="title"/>
          </p:nvPr>
        </p:nvSpPr>
        <p:spPr>
          <a:xfrm>
            <a:off x="838200" y="365125"/>
            <a:ext cx="10515600" cy="1325563"/>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s-ES">
                <a:solidFill>
                  <a:schemeClr val="dk1"/>
                </a:solidFill>
                <a:latin typeface="Calibri"/>
                <a:ea typeface="Calibri"/>
                <a:cs typeface="Calibri"/>
                <a:sym typeface="Calibri"/>
              </a:rPr>
              <a:t>Callbacks</a:t>
            </a:r>
            <a:endParaRPr/>
          </a:p>
        </p:txBody>
      </p:sp>
      <p:sp>
        <p:nvSpPr>
          <p:cNvPr id="236" name="Google Shape;236;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s-ES"/>
              <a:t>Los </a:t>
            </a:r>
            <a:r>
              <a:rPr i="1" lang="es-ES"/>
              <a:t>callbacks</a:t>
            </a:r>
            <a:r>
              <a:rPr lang="es-ES"/>
              <a:t> son la pieza clave para que Javascript pueda funcionar de forma asíncrona. De hecho, el resto de patrones asíncronos en Javascript está basado en </a:t>
            </a:r>
            <a:r>
              <a:rPr i="1" lang="es-ES"/>
              <a:t>callbacks</a:t>
            </a:r>
            <a:r>
              <a:rPr lang="es-ES"/>
              <a:t> de un modo u otro, simplemente añaden azúcar sintáctico para trabajar con ellos más cómodamente.</a:t>
            </a:r>
            <a:endParaRPr/>
          </a:p>
          <a:p>
            <a:pPr indent="-228600" lvl="0" marL="228600" rtl="0" algn="l">
              <a:lnSpc>
                <a:spcPct val="90000"/>
              </a:lnSpc>
              <a:spcBef>
                <a:spcPts val="1000"/>
              </a:spcBef>
              <a:spcAft>
                <a:spcPts val="0"/>
              </a:spcAft>
              <a:buClr>
                <a:schemeClr val="dk1"/>
              </a:buClr>
              <a:buSzPct val="100000"/>
              <a:buChar char="•"/>
            </a:pPr>
            <a:r>
              <a:rPr lang="es-ES"/>
              <a:t>Un </a:t>
            </a:r>
            <a:r>
              <a:rPr i="1" lang="es-ES"/>
              <a:t>callback</a:t>
            </a:r>
            <a:r>
              <a:rPr lang="es-ES"/>
              <a:t> no es más que </a:t>
            </a:r>
            <a:r>
              <a:rPr b="1" lang="es-ES"/>
              <a:t>una función que se pasa como argumento de otra función</a:t>
            </a:r>
            <a:r>
              <a:rPr lang="es-ES"/>
              <a:t>, y que será invocada para completar algún tipo de acción. </a:t>
            </a:r>
            <a:endParaRPr/>
          </a:p>
          <a:p>
            <a:pPr indent="-228600" lvl="0" marL="228600" rtl="0" algn="l">
              <a:lnSpc>
                <a:spcPct val="90000"/>
              </a:lnSpc>
              <a:spcBef>
                <a:spcPts val="1000"/>
              </a:spcBef>
              <a:spcAft>
                <a:spcPts val="0"/>
              </a:spcAft>
              <a:buClr>
                <a:schemeClr val="dk1"/>
              </a:buClr>
              <a:buSzPct val="100000"/>
              <a:buChar char="•"/>
            </a:pPr>
            <a:r>
              <a:rPr lang="es-ES"/>
              <a:t>En nuestro contexto asíncrono, un </a:t>
            </a:r>
            <a:r>
              <a:rPr i="1" lang="es-ES"/>
              <a:t>callback</a:t>
            </a:r>
            <a:r>
              <a:rPr lang="es-ES"/>
              <a:t> representa el '</a:t>
            </a:r>
            <a:r>
              <a:rPr i="1" lang="es-ES"/>
              <a:t>¿Qué quieres hacer una vez que tu operación asíncrona termine?</a:t>
            </a:r>
            <a:r>
              <a:rPr lang="es-ES"/>
              <a:t>'. </a:t>
            </a:r>
            <a:endParaRPr/>
          </a:p>
          <a:p>
            <a:pPr indent="-228600" lvl="0" marL="228600" rtl="0" algn="l">
              <a:lnSpc>
                <a:spcPct val="90000"/>
              </a:lnSpc>
              <a:spcBef>
                <a:spcPts val="1000"/>
              </a:spcBef>
              <a:spcAft>
                <a:spcPts val="0"/>
              </a:spcAft>
              <a:buClr>
                <a:schemeClr val="dk1"/>
              </a:buClr>
              <a:buSzPct val="100000"/>
              <a:buChar char="•"/>
            </a:pPr>
            <a:r>
              <a:rPr lang="es-ES"/>
              <a:t>Por tanto, es el trozo de código que será ejecutado una vez que una operación asíncrona notifique que ha terminado. Esta ejecución se hará en algún momento futuro, gracias al mecanismo que implementa el bucle de eventos.</a:t>
            </a:r>
            <a:endParaRPr/>
          </a:p>
          <a:p>
            <a:pPr indent="-64135" lvl="0" marL="228600" rtl="0" algn="l">
              <a:lnSpc>
                <a:spcPct val="90000"/>
              </a:lnSpc>
              <a:spcBef>
                <a:spcPts val="1000"/>
              </a:spcBef>
              <a:spcAft>
                <a:spcPts val="0"/>
              </a:spcAft>
              <a:buClr>
                <a:schemeClr val="dk1"/>
              </a:buClr>
              <a:buSzPct val="100000"/>
              <a:buNone/>
            </a:pPr>
            <a:r>
              <a:t/>
            </a:r>
            <a:endParaRPr/>
          </a:p>
        </p:txBody>
      </p:sp>
      <p:sp>
        <p:nvSpPr>
          <p:cNvPr id="237" name="Google Shape;237;p26"/>
          <p:cNvSpPr/>
          <p:nvPr/>
        </p:nvSpPr>
        <p:spPr>
          <a:xfrm>
            <a:off x="6336406" y="154546"/>
            <a:ext cx="4636394" cy="1403798"/>
          </a:xfrm>
          <a:prstGeom prst="roundRect">
            <a:avLst>
              <a:gd fmla="val 16667" name="adj"/>
            </a:avLst>
          </a:prstGeom>
          <a:gradFill>
            <a:gsLst>
              <a:gs pos="0">
                <a:srgbClr val="7FB75F"/>
              </a:gs>
              <a:gs pos="50000">
                <a:srgbClr val="6FB241"/>
              </a:gs>
              <a:gs pos="100000">
                <a:srgbClr val="5FA134"/>
              </a:gs>
            </a:gsLst>
            <a:lin ang="5400000" scaled="0"/>
          </a:grad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000">
                <a:solidFill>
                  <a:schemeClr val="lt1"/>
                </a:solidFill>
                <a:latin typeface="Calibri"/>
                <a:ea typeface="Calibri"/>
                <a:cs typeface="Calibri"/>
                <a:sym typeface="Calibri"/>
              </a:rPr>
              <a:t>Es la primera y la forma más común de controlar la asincronía en JavaScript.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7"/>
          <p:cNvSpPr/>
          <p:nvPr/>
        </p:nvSpPr>
        <p:spPr>
          <a:xfrm>
            <a:off x="656824" y="605306"/>
            <a:ext cx="4172754" cy="2459865"/>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setTimeout(function(){</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console.log("Hola Mundo con retraso!");</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a:t>
            </a:r>
            <a:endParaRPr/>
          </a:p>
        </p:txBody>
      </p:sp>
      <p:sp>
        <p:nvSpPr>
          <p:cNvPr id="243" name="Google Shape;243;p27"/>
          <p:cNvSpPr/>
          <p:nvPr/>
        </p:nvSpPr>
        <p:spPr>
          <a:xfrm>
            <a:off x="4365938" y="4440826"/>
            <a:ext cx="4108361" cy="2021983"/>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s-ES" sz="2000">
                <a:solidFill>
                  <a:schemeClr val="dk1"/>
                </a:solidFill>
                <a:latin typeface="Calibri"/>
                <a:ea typeface="Calibri"/>
                <a:cs typeface="Calibri"/>
                <a:sym typeface="Calibri"/>
              </a:rPr>
              <a:t>const myCallback = () =&gt; console.log("Hola Mundo con retraso!");</a:t>
            </a:r>
            <a:endParaRPr/>
          </a:p>
          <a:p>
            <a:pPr indent="0" lvl="0" marL="0" marR="0" rtl="0" algn="l">
              <a:spcBef>
                <a:spcPts val="0"/>
              </a:spcBef>
              <a:spcAft>
                <a:spcPts val="0"/>
              </a:spcAft>
              <a:buNone/>
            </a:pPr>
            <a:r>
              <a:rPr lang="es-ES" sz="2000">
                <a:solidFill>
                  <a:schemeClr val="dk1"/>
                </a:solidFill>
                <a:latin typeface="Calibri"/>
                <a:ea typeface="Calibri"/>
                <a:cs typeface="Calibri"/>
                <a:sym typeface="Calibri"/>
              </a:rPr>
              <a:t>setTimeout(myCallback, 1000);</a:t>
            </a:r>
            <a:endParaRPr/>
          </a:p>
        </p:txBody>
      </p:sp>
      <p:sp>
        <p:nvSpPr>
          <p:cNvPr id="244" name="Google Shape;244;p27"/>
          <p:cNvSpPr/>
          <p:nvPr/>
        </p:nvSpPr>
        <p:spPr>
          <a:xfrm>
            <a:off x="914400" y="3758244"/>
            <a:ext cx="6096000" cy="646331"/>
          </a:xfrm>
          <a:prstGeom prst="rect">
            <a:avLst/>
          </a:prstGeom>
          <a:solidFill>
            <a:schemeClr val="accent1"/>
          </a:solidFill>
          <a:ln cap="flat" cmpd="sng" w="12700">
            <a:solidFill>
              <a:srgbClr val="42719B"/>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rgbClr val="000000"/>
                </a:solidFill>
                <a:latin typeface="Times New Roman"/>
                <a:ea typeface="Times New Roman"/>
                <a:cs typeface="Times New Roman"/>
                <a:sym typeface="Times New Roman"/>
              </a:rPr>
              <a:t>el callback puede ser asignado a una variable con nombre en lugar de ser anónimo:</a:t>
            </a:r>
            <a:endParaRPr sz="1800">
              <a:solidFill>
                <a:schemeClr val="lt1"/>
              </a:solidFill>
              <a:latin typeface="Calibri"/>
              <a:ea typeface="Calibri"/>
              <a:cs typeface="Calibri"/>
              <a:sym typeface="Calibri"/>
            </a:endParaRPr>
          </a:p>
        </p:txBody>
      </p:sp>
      <p:sp>
        <p:nvSpPr>
          <p:cNvPr id="245" name="Google Shape;245;p27"/>
          <p:cNvSpPr/>
          <p:nvPr/>
        </p:nvSpPr>
        <p:spPr>
          <a:xfrm>
            <a:off x="5185893" y="816358"/>
            <a:ext cx="6096000" cy="2308324"/>
          </a:xfrm>
          <a:prstGeom prst="rect">
            <a:avLst/>
          </a:prstGeom>
          <a:solidFill>
            <a:schemeClr val="lt1"/>
          </a:solidFill>
          <a:ln cap="flat" cmpd="sng" w="12700">
            <a:solidFill>
              <a:schemeClr val="accent6"/>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i="1" lang="es-ES" sz="1800">
                <a:solidFill>
                  <a:srgbClr val="000000"/>
                </a:solidFill>
                <a:latin typeface="Times New Roman"/>
                <a:ea typeface="Times New Roman"/>
                <a:cs typeface="Times New Roman"/>
                <a:sym typeface="Times New Roman"/>
              </a:rPr>
              <a:t>setTimeout </a:t>
            </a:r>
            <a:r>
              <a:rPr lang="es-ES" sz="1800">
                <a:solidFill>
                  <a:srgbClr val="000000"/>
                </a:solidFill>
                <a:latin typeface="Times New Roman"/>
                <a:ea typeface="Times New Roman"/>
                <a:cs typeface="Times New Roman"/>
                <a:sym typeface="Times New Roman"/>
              </a:rPr>
              <a:t>es una función asíncrona que programa la ejecución de un </a:t>
            </a:r>
            <a:r>
              <a:rPr i="1" lang="es-ES" sz="1800">
                <a:solidFill>
                  <a:srgbClr val="000000"/>
                </a:solidFill>
                <a:latin typeface="Times New Roman"/>
                <a:ea typeface="Times New Roman"/>
                <a:cs typeface="Times New Roman"/>
                <a:sym typeface="Times New Roman"/>
              </a:rPr>
              <a:t>callback</a:t>
            </a:r>
            <a:r>
              <a:rPr lang="es-ES" sz="1800">
                <a:solidFill>
                  <a:srgbClr val="000000"/>
                </a:solidFill>
                <a:latin typeface="Times New Roman"/>
                <a:ea typeface="Times New Roman"/>
                <a:cs typeface="Times New Roman"/>
                <a:sym typeface="Times New Roman"/>
              </a:rPr>
              <a:t> una vez ha transcurrido, como mínimo, una determinada cantidad de tiempo (1 segundo en el ejemplo anterior). Para ello, dispara un </a:t>
            </a:r>
            <a:r>
              <a:rPr i="1" lang="es-ES" sz="1800">
                <a:solidFill>
                  <a:srgbClr val="000000"/>
                </a:solidFill>
                <a:latin typeface="Times New Roman"/>
                <a:ea typeface="Times New Roman"/>
                <a:cs typeface="Times New Roman"/>
                <a:sym typeface="Times New Roman"/>
              </a:rPr>
              <a:t>timer</a:t>
            </a:r>
            <a:r>
              <a:rPr lang="es-ES" sz="1800">
                <a:solidFill>
                  <a:srgbClr val="000000"/>
                </a:solidFill>
                <a:latin typeface="Times New Roman"/>
                <a:ea typeface="Times New Roman"/>
                <a:cs typeface="Times New Roman"/>
                <a:sym typeface="Times New Roman"/>
              </a:rPr>
              <a:t> en un contexto externo y registra el </a:t>
            </a:r>
            <a:r>
              <a:rPr i="1" lang="es-ES" sz="1800">
                <a:solidFill>
                  <a:srgbClr val="000000"/>
                </a:solidFill>
                <a:latin typeface="Times New Roman"/>
                <a:ea typeface="Times New Roman"/>
                <a:cs typeface="Times New Roman"/>
                <a:sym typeface="Times New Roman"/>
              </a:rPr>
              <a:t>callback</a:t>
            </a:r>
            <a:r>
              <a:rPr lang="es-ES" sz="1800">
                <a:solidFill>
                  <a:srgbClr val="000000"/>
                </a:solidFill>
                <a:latin typeface="Times New Roman"/>
                <a:ea typeface="Times New Roman"/>
                <a:cs typeface="Times New Roman"/>
                <a:sym typeface="Times New Roman"/>
              </a:rPr>
              <a:t> para ser ejecutado una vez que el </a:t>
            </a:r>
            <a:r>
              <a:rPr i="1" lang="es-ES" sz="1800">
                <a:solidFill>
                  <a:srgbClr val="000000"/>
                </a:solidFill>
                <a:latin typeface="Times New Roman"/>
                <a:ea typeface="Times New Roman"/>
                <a:cs typeface="Times New Roman"/>
                <a:sym typeface="Times New Roman"/>
              </a:rPr>
              <a:t>timer</a:t>
            </a:r>
            <a:r>
              <a:rPr lang="es-ES" sz="1800">
                <a:solidFill>
                  <a:srgbClr val="000000"/>
                </a:solidFill>
                <a:latin typeface="Times New Roman"/>
                <a:ea typeface="Times New Roman"/>
                <a:cs typeface="Times New Roman"/>
                <a:sym typeface="Times New Roman"/>
              </a:rPr>
              <a:t> termine. </a:t>
            </a:r>
            <a:endParaRPr sz="18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lang="es-ES" sz="1800">
                <a:solidFill>
                  <a:srgbClr val="000000"/>
                </a:solidFill>
                <a:latin typeface="Times New Roman"/>
                <a:ea typeface="Times New Roman"/>
                <a:cs typeface="Times New Roman"/>
                <a:sym typeface="Times New Roman"/>
              </a:rPr>
              <a:t>En resumen, retrasa una ejecución, como </a:t>
            </a:r>
            <a:r>
              <a:rPr b="1" lang="es-ES" sz="1800">
                <a:solidFill>
                  <a:srgbClr val="000000"/>
                </a:solidFill>
                <a:latin typeface="Times New Roman"/>
                <a:ea typeface="Times New Roman"/>
                <a:cs typeface="Times New Roman"/>
                <a:sym typeface="Times New Roman"/>
              </a:rPr>
              <a:t>mínimo</a:t>
            </a:r>
            <a:r>
              <a:rPr lang="es-ES" sz="1800">
                <a:solidFill>
                  <a:srgbClr val="000000"/>
                </a:solidFill>
                <a:latin typeface="Times New Roman"/>
                <a:ea typeface="Times New Roman"/>
                <a:cs typeface="Times New Roman"/>
                <a:sym typeface="Times New Roman"/>
              </a:rPr>
              <a:t>, la cantidad especificada de tiempo.</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8"/>
          <p:cNvSpPr/>
          <p:nvPr/>
        </p:nvSpPr>
        <p:spPr>
          <a:xfrm>
            <a:off x="386367" y="283335"/>
            <a:ext cx="5344732" cy="6220496"/>
          </a:xfrm>
          <a:prstGeom prst="roundRect">
            <a:avLst>
              <a:gd fmla="val 16667" name="adj"/>
            </a:avLst>
          </a:prstGeom>
          <a:solidFill>
            <a:schemeClr val="lt1"/>
          </a:solidFill>
          <a:ln cap="flat" cmpd="sng" w="12700">
            <a:solidFill>
              <a:schemeClr val="accent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000">
                <a:solidFill>
                  <a:schemeClr val="dk1"/>
                </a:solidFill>
                <a:latin typeface="Calibri"/>
                <a:ea typeface="Calibri"/>
                <a:cs typeface="Calibri"/>
                <a:sym typeface="Calibri"/>
              </a:rPr>
              <a:t>En el siguiente ejemplo tenemos una función que recibe como parámetros un dato de entrada: data, un array con datos array y una función de callback: callback.</a:t>
            </a:r>
            <a:endParaRPr/>
          </a:p>
          <a:p>
            <a:pPr indent="0" lvl="0" marL="0" marR="0" rtl="0" algn="ctr">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ctr">
              <a:spcBef>
                <a:spcPts val="0"/>
              </a:spcBef>
              <a:spcAft>
                <a:spcPts val="0"/>
              </a:spcAft>
              <a:buNone/>
            </a:pPr>
            <a:r>
              <a:rPr lang="es-ES" sz="2000">
                <a:solidFill>
                  <a:schemeClr val="dk1"/>
                </a:solidFill>
                <a:latin typeface="Calibri"/>
                <a:ea typeface="Calibri"/>
                <a:cs typeface="Calibri"/>
                <a:sym typeface="Calibri"/>
              </a:rPr>
              <a:t>El funcionamiento de la función es muy simple, al array se le añade el data que viene por parámetro y cuando termine, llama a la función de callback que recibe por parámetro, en ese caso la llama con el array modificado.</a:t>
            </a:r>
            <a:endParaRPr/>
          </a:p>
          <a:p>
            <a:pPr indent="0" lvl="0" marL="0" marR="0" rtl="0" algn="ctr">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ctr">
              <a:spcBef>
                <a:spcPts val="0"/>
              </a:spcBef>
              <a:spcAft>
                <a:spcPts val="0"/>
              </a:spcAft>
              <a:buNone/>
            </a:pPr>
            <a:r>
              <a:rPr lang="es-ES" sz="2000">
                <a:solidFill>
                  <a:schemeClr val="dk1"/>
                </a:solidFill>
                <a:latin typeface="Calibri"/>
                <a:ea typeface="Calibri"/>
                <a:cs typeface="Calibri"/>
                <a:sym typeface="Calibri"/>
              </a:rPr>
              <a:t>Se ha añadido un pequeño bloque para comprobar si el array existe y si no lanzar un error que pasaremos al callback.</a:t>
            </a:r>
            <a:endParaRPr/>
          </a:p>
        </p:txBody>
      </p:sp>
      <p:sp>
        <p:nvSpPr>
          <p:cNvPr id="251" name="Google Shape;251;p28"/>
          <p:cNvSpPr/>
          <p:nvPr/>
        </p:nvSpPr>
        <p:spPr>
          <a:xfrm>
            <a:off x="6138929" y="1500757"/>
            <a:ext cx="5452056" cy="3785652"/>
          </a:xfrm>
          <a:prstGeom prst="rect">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function addToArray (data, array, callback)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if (!array)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callback(new Error('No existe el array), null)</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 else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array.push(data)</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callback(null, array)</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a:t>
            </a:r>
            <a:endParaRPr/>
          </a:p>
        </p:txBody>
      </p:sp>
      <p:sp>
        <p:nvSpPr>
          <p:cNvPr id="252" name="Google Shape;252;p28"/>
          <p:cNvSpPr/>
          <p:nvPr/>
        </p:nvSpPr>
        <p:spPr>
          <a:xfrm>
            <a:off x="8783392" y="5782614"/>
            <a:ext cx="2807593" cy="875763"/>
          </a:xfrm>
          <a:prstGeom prst="rightArrow">
            <a:avLst>
              <a:gd fmla="val 50000" name="adj1"/>
              <a:gd fmla="val 50000" name="adj2"/>
            </a:avLst>
          </a:prstGeom>
          <a:solidFill>
            <a:schemeClr val="accent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1800">
                <a:solidFill>
                  <a:schemeClr val="lt1"/>
                </a:solidFill>
                <a:latin typeface="Calibri"/>
                <a:ea typeface="Calibri"/>
                <a:cs typeface="Calibri"/>
                <a:sym typeface="Calibri"/>
              </a:rPr>
              <a:t>Ejemplo de uso</a:t>
            </a:r>
            <a:endParaRPr sz="1800">
              <a:solidFill>
                <a:schemeClr val="lt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9"/>
          <p:cNvSpPr/>
          <p:nvPr/>
        </p:nvSpPr>
        <p:spPr>
          <a:xfrm>
            <a:off x="291921" y="504303"/>
            <a:ext cx="4756597" cy="646331"/>
          </a:xfrm>
          <a:prstGeom prst="rect">
            <a:avLst/>
          </a:prstGeom>
          <a:solidFill>
            <a:schemeClr val="accent1"/>
          </a:solidFill>
          <a:ln cap="flat" cmpd="sng" w="12700">
            <a:solidFill>
              <a:srgbClr val="42719B"/>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lt1"/>
                </a:solidFill>
                <a:latin typeface="Calibri"/>
                <a:ea typeface="Calibri"/>
                <a:cs typeface="Calibri"/>
                <a:sym typeface="Calibri"/>
              </a:rPr>
              <a:t>En el siguiente código vemos cómo llamar a este función y tratar el callback:</a:t>
            </a:r>
            <a:endParaRPr/>
          </a:p>
        </p:txBody>
      </p:sp>
      <p:sp>
        <p:nvSpPr>
          <p:cNvPr id="258" name="Google Shape;258;p29"/>
          <p:cNvSpPr/>
          <p:nvPr/>
        </p:nvSpPr>
        <p:spPr>
          <a:xfrm>
            <a:off x="5443470" y="504303"/>
            <a:ext cx="6096000" cy="3046988"/>
          </a:xfrm>
          <a:prstGeom prst="rect">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var array = [1,2,3];</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addToArray(4, array, function (err)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if (err) return console.log(err.message)</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console.log(array)</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[1, 2, 3, 4]</a:t>
            </a:r>
            <a:endParaRPr/>
          </a:p>
        </p:txBody>
      </p:sp>
      <p:sp>
        <p:nvSpPr>
          <p:cNvPr id="259" name="Google Shape;259;p29"/>
          <p:cNvSpPr/>
          <p:nvPr/>
        </p:nvSpPr>
        <p:spPr>
          <a:xfrm>
            <a:off x="824249" y="4018208"/>
            <a:ext cx="10457645" cy="2550017"/>
          </a:xfrm>
          <a:prstGeom prst="roundRect">
            <a:avLst>
              <a:gd fmla="val 16667" name="adj"/>
            </a:avLst>
          </a:prstGeom>
          <a:solidFill>
            <a:schemeClr val="accent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1800">
                <a:solidFill>
                  <a:schemeClr val="lt1"/>
                </a:solidFill>
                <a:latin typeface="Calibri"/>
                <a:ea typeface="Calibri"/>
                <a:cs typeface="Calibri"/>
                <a:sym typeface="Calibri"/>
              </a:rPr>
              <a:t>¿Esto que va a devolver? Cuando se termine de ejecutar la función addToArray se ejecutará el callback y nos mostrará el array con el nuevo dato.</a:t>
            </a:r>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a:p>
            <a:pPr indent="0" lvl="0" marL="0" marR="0" rtl="0" algn="ctr">
              <a:spcBef>
                <a:spcPts val="0"/>
              </a:spcBef>
              <a:spcAft>
                <a:spcPts val="0"/>
              </a:spcAft>
              <a:buNone/>
            </a:pPr>
            <a:r>
              <a:rPr lang="es-ES" sz="1800">
                <a:solidFill>
                  <a:schemeClr val="lt1"/>
                </a:solidFill>
                <a:latin typeface="Calibri"/>
                <a:ea typeface="Calibri"/>
                <a:cs typeface="Calibri"/>
                <a:sym typeface="Calibri"/>
              </a:rPr>
              <a:t>Parece una tontería porque podríamos añadir el dato al array y después imprimirlo con console.log, pero imaginemos que esa operación de añadir un item al array fuera asincrónica, como podría ser una llamada vía AJAX.</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0"/>
          <p:cNvSpPr/>
          <p:nvPr/>
        </p:nvSpPr>
        <p:spPr>
          <a:xfrm>
            <a:off x="317679" y="259604"/>
            <a:ext cx="6096000" cy="646331"/>
          </a:xfrm>
          <a:prstGeom prst="rect">
            <a:avLst/>
          </a:prstGeom>
          <a:solidFill>
            <a:schemeClr val="accent2"/>
          </a:solidFill>
          <a:ln cap="flat" cmpd="sng" w="12700">
            <a:solidFill>
              <a:srgbClr val="AC5B23"/>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lt1"/>
                </a:solidFill>
                <a:latin typeface="Calibri"/>
                <a:ea typeface="Calibri"/>
                <a:cs typeface="Calibri"/>
                <a:sym typeface="Calibri"/>
              </a:rPr>
              <a:t>Para simular esto vamos a utilizar la función setTimeout para añadir un retardo de 1 segundo:</a:t>
            </a:r>
            <a:endParaRPr/>
          </a:p>
        </p:txBody>
      </p:sp>
      <p:sp>
        <p:nvSpPr>
          <p:cNvPr id="265" name="Google Shape;265;p30"/>
          <p:cNvSpPr/>
          <p:nvPr/>
        </p:nvSpPr>
        <p:spPr>
          <a:xfrm>
            <a:off x="3820732" y="1234405"/>
            <a:ext cx="6096000" cy="5293757"/>
          </a:xfrm>
          <a:prstGeom prst="rect">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000">
                <a:solidFill>
                  <a:schemeClr val="dk1"/>
                </a:solidFill>
                <a:latin typeface="Calibri"/>
                <a:ea typeface="Calibri"/>
                <a:cs typeface="Calibri"/>
                <a:sym typeface="Calibri"/>
              </a:rPr>
              <a:t>function addToArray (data, array, callback) {</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if (!array) {</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return callback(new Error('No existe el array', null)</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setTimeout(function() { </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array.push(data)</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callback(null, array)</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 1000)</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var array = [1,2,3];</a:t>
            </a:r>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addToArray(4, array, function (err) {</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if (err) return console.log(err.message)</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console.log(array)</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(1 seg de delay)-&gt; [1, 2, 3, 4]</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1"/>
          <p:cNvSpPr/>
          <p:nvPr/>
        </p:nvSpPr>
        <p:spPr>
          <a:xfrm>
            <a:off x="613894" y="390943"/>
            <a:ext cx="6096000" cy="6063198"/>
          </a:xfrm>
          <a:prstGeom prst="rect">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Si no tuviéramos una función de callback, y la función addToArray fuera:</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function addToArray (data, array)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setTimeout(function() {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array.push(data)</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 1000)</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y ejecutáramos la función, nos devolvería lo siguiente:</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var array = [1, 2, 3]</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addToArray(4, array)</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console.log(array)</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[1, 2, 3]</a:t>
            </a:r>
            <a:endParaRPr/>
          </a:p>
        </p:txBody>
      </p:sp>
      <p:sp>
        <p:nvSpPr>
          <p:cNvPr id="271" name="Google Shape;271;p31"/>
          <p:cNvSpPr/>
          <p:nvPr/>
        </p:nvSpPr>
        <p:spPr>
          <a:xfrm>
            <a:off x="7225048" y="515155"/>
            <a:ext cx="4146997" cy="4007195"/>
          </a:xfrm>
          <a:prstGeom prst="roundRect">
            <a:avLst>
              <a:gd fmla="val 16667" name="adj"/>
            </a:avLst>
          </a:prstGeom>
          <a:solidFill>
            <a:schemeClr val="lt1"/>
          </a:solidFill>
          <a:ln cap="flat" cmpd="sng" w="12700">
            <a:solidFill>
              <a:schemeClr val="accent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400">
                <a:solidFill>
                  <a:schemeClr val="dk1"/>
                </a:solidFill>
                <a:latin typeface="Calibri"/>
                <a:ea typeface="Calibri"/>
                <a:cs typeface="Calibri"/>
                <a:sym typeface="Calibri"/>
              </a:rPr>
              <a:t>Cuando imprimimos el array aún no se ha añadido el nuevo item, por lo tanto el comportamiento que sucede no es el buscado. </a:t>
            </a:r>
            <a:endParaRPr sz="2400">
              <a:solidFill>
                <a:schemeClr val="dk1"/>
              </a:solidFill>
              <a:latin typeface="Calibri"/>
              <a:ea typeface="Calibri"/>
              <a:cs typeface="Calibri"/>
              <a:sym typeface="Calibri"/>
            </a:endParaRPr>
          </a:p>
          <a:p>
            <a:pPr indent="0" lvl="0" marL="0" marR="0" rtl="0" algn="ctr">
              <a:spcBef>
                <a:spcPts val="0"/>
              </a:spcBef>
              <a:spcAft>
                <a:spcPts val="0"/>
              </a:spcAft>
              <a:buNone/>
            </a:pPr>
            <a:r>
              <a:rPr lang="es-ES" sz="2400">
                <a:solidFill>
                  <a:schemeClr val="dk1"/>
                </a:solidFill>
                <a:latin typeface="Calibri"/>
                <a:ea typeface="Calibri"/>
                <a:cs typeface="Calibri"/>
                <a:sym typeface="Calibri"/>
              </a:rPr>
              <a:t>De esta forma los callbacks nos ayudan a resolver estos casos.</a:t>
            </a:r>
            <a:endParaRPr sz="24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2"/>
          <p:cNvSpPr/>
          <p:nvPr/>
        </p:nvSpPr>
        <p:spPr>
          <a:xfrm>
            <a:off x="485104" y="540393"/>
            <a:ext cx="6096000" cy="923330"/>
          </a:xfrm>
          <a:prstGeom prst="rect">
            <a:avLst/>
          </a:prstGeom>
          <a:solidFill>
            <a:schemeClr val="accent1"/>
          </a:solidFill>
          <a:ln cap="flat" cmpd="sng" w="12700">
            <a:solidFill>
              <a:srgbClr val="42719B"/>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rgbClr val="000000"/>
                </a:solidFill>
                <a:latin typeface="Times New Roman"/>
                <a:ea typeface="Times New Roman"/>
                <a:cs typeface="Times New Roman"/>
                <a:sym typeface="Times New Roman"/>
              </a:rPr>
              <a:t>Es importante comprender que, incluso si configuramos el retraso como 0ms, no significa que el </a:t>
            </a:r>
            <a:r>
              <a:rPr i="1" lang="es-ES" sz="1800">
                <a:solidFill>
                  <a:srgbClr val="000000"/>
                </a:solidFill>
                <a:latin typeface="Times New Roman"/>
                <a:ea typeface="Times New Roman"/>
                <a:cs typeface="Times New Roman"/>
                <a:sym typeface="Times New Roman"/>
              </a:rPr>
              <a:t>callback</a:t>
            </a:r>
            <a:r>
              <a:rPr lang="es-ES" sz="1800">
                <a:solidFill>
                  <a:srgbClr val="000000"/>
                </a:solidFill>
                <a:latin typeface="Times New Roman"/>
                <a:ea typeface="Times New Roman"/>
                <a:cs typeface="Times New Roman"/>
                <a:sym typeface="Times New Roman"/>
              </a:rPr>
              <a:t> vaya a ejecutarse inmediatamente. </a:t>
            </a:r>
            <a:endParaRPr sz="1800">
              <a:solidFill>
                <a:schemeClr val="lt1"/>
              </a:solidFill>
              <a:latin typeface="Calibri"/>
              <a:ea typeface="Calibri"/>
              <a:cs typeface="Calibri"/>
              <a:sym typeface="Calibri"/>
            </a:endParaRPr>
          </a:p>
        </p:txBody>
      </p:sp>
      <p:sp>
        <p:nvSpPr>
          <p:cNvPr id="277" name="Google Shape;277;p32"/>
          <p:cNvSpPr/>
          <p:nvPr/>
        </p:nvSpPr>
        <p:spPr>
          <a:xfrm>
            <a:off x="485104" y="2112135"/>
            <a:ext cx="5228823" cy="4391696"/>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setTimeout(function(){</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console.log("Esto debería aparecer primero");</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0);</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console.log("Sorpresa!");</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Sorpresa!</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Esto debería aparecer primero</a:t>
            </a:r>
            <a:endParaRPr/>
          </a:p>
        </p:txBody>
      </p:sp>
      <p:sp>
        <p:nvSpPr>
          <p:cNvPr id="278" name="Google Shape;278;p32"/>
          <p:cNvSpPr/>
          <p:nvPr/>
        </p:nvSpPr>
        <p:spPr>
          <a:xfrm>
            <a:off x="6096000" y="2112135"/>
            <a:ext cx="6096000" cy="3416320"/>
          </a:xfrm>
          <a:prstGeom prst="rect">
            <a:avLst/>
          </a:prstGeom>
          <a:solidFill>
            <a:schemeClr val="lt1"/>
          </a:solidFill>
          <a:ln cap="flat" cmpd="sng" w="12700">
            <a:solidFill>
              <a:schemeClr val="accent6"/>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rgbClr val="000000"/>
                </a:solidFill>
                <a:latin typeface="Times New Roman"/>
                <a:ea typeface="Times New Roman"/>
                <a:cs typeface="Times New Roman"/>
                <a:sym typeface="Times New Roman"/>
              </a:rPr>
              <a:t>Un </a:t>
            </a:r>
            <a:r>
              <a:rPr i="1" lang="es-ES" sz="2400">
                <a:solidFill>
                  <a:srgbClr val="000000"/>
                </a:solidFill>
                <a:latin typeface="Times New Roman"/>
                <a:ea typeface="Times New Roman"/>
                <a:cs typeface="Times New Roman"/>
                <a:sym typeface="Times New Roman"/>
              </a:rPr>
              <a:t>callback</a:t>
            </a:r>
            <a:r>
              <a:rPr lang="es-ES" sz="2400">
                <a:solidFill>
                  <a:srgbClr val="000000"/>
                </a:solidFill>
                <a:latin typeface="Times New Roman"/>
                <a:ea typeface="Times New Roman"/>
                <a:cs typeface="Times New Roman"/>
                <a:sym typeface="Times New Roman"/>
              </a:rPr>
              <a:t> que se añade al </a:t>
            </a:r>
            <a:r>
              <a:rPr i="1" lang="es-ES" sz="2400">
                <a:solidFill>
                  <a:srgbClr val="000000"/>
                </a:solidFill>
                <a:latin typeface="Times New Roman"/>
                <a:ea typeface="Times New Roman"/>
                <a:cs typeface="Times New Roman"/>
                <a:sym typeface="Times New Roman"/>
              </a:rPr>
              <a:t>loop</a:t>
            </a:r>
            <a:r>
              <a:rPr lang="es-ES" sz="2400">
                <a:solidFill>
                  <a:srgbClr val="000000"/>
                </a:solidFill>
                <a:latin typeface="Times New Roman"/>
                <a:ea typeface="Times New Roman"/>
                <a:cs typeface="Times New Roman"/>
                <a:sym typeface="Times New Roman"/>
              </a:rPr>
              <a:t> de eventos debe esperar su turno.</a:t>
            </a:r>
            <a:endParaRPr/>
          </a:p>
          <a:p>
            <a:pPr indent="0" lvl="0" marL="0" marR="0" rtl="0" algn="l">
              <a:spcBef>
                <a:spcPts val="0"/>
              </a:spcBef>
              <a:spcAft>
                <a:spcPts val="0"/>
              </a:spcAft>
              <a:buNone/>
            </a:pPr>
            <a:r>
              <a:rPr lang="es-ES" sz="2400">
                <a:solidFill>
                  <a:srgbClr val="000000"/>
                </a:solidFill>
                <a:latin typeface="Times New Roman"/>
                <a:ea typeface="Times New Roman"/>
                <a:cs typeface="Times New Roman"/>
                <a:sym typeface="Times New Roman"/>
              </a:rPr>
              <a:t> En el ejemplo, el </a:t>
            </a:r>
            <a:r>
              <a:rPr i="1" lang="es-ES" sz="2400">
                <a:solidFill>
                  <a:srgbClr val="000000"/>
                </a:solidFill>
                <a:latin typeface="Times New Roman"/>
                <a:ea typeface="Times New Roman"/>
                <a:cs typeface="Times New Roman"/>
                <a:sym typeface="Times New Roman"/>
              </a:rPr>
              <a:t>callback</a:t>
            </a:r>
            <a:r>
              <a:rPr lang="es-ES" sz="2400">
                <a:solidFill>
                  <a:srgbClr val="000000"/>
                </a:solidFill>
                <a:latin typeface="Times New Roman"/>
                <a:ea typeface="Times New Roman"/>
                <a:cs typeface="Times New Roman"/>
                <a:sym typeface="Times New Roman"/>
              </a:rPr>
              <a:t> del </a:t>
            </a:r>
            <a:r>
              <a:rPr i="1" lang="es-ES" sz="2400">
                <a:solidFill>
                  <a:srgbClr val="000000"/>
                </a:solidFill>
                <a:latin typeface="Times New Roman"/>
                <a:ea typeface="Times New Roman"/>
                <a:cs typeface="Times New Roman"/>
                <a:sym typeface="Times New Roman"/>
              </a:rPr>
              <a:t>setTimeout </a:t>
            </a:r>
            <a:r>
              <a:rPr lang="es-ES" sz="2400">
                <a:solidFill>
                  <a:srgbClr val="000000"/>
                </a:solidFill>
                <a:latin typeface="Times New Roman"/>
                <a:ea typeface="Times New Roman"/>
                <a:cs typeface="Times New Roman"/>
                <a:sym typeface="Times New Roman"/>
              </a:rPr>
              <a:t>debe esperar el primer </a:t>
            </a:r>
            <a:r>
              <a:rPr i="1" lang="es-ES" sz="2400">
                <a:solidFill>
                  <a:srgbClr val="000000"/>
                </a:solidFill>
                <a:latin typeface="Times New Roman"/>
                <a:ea typeface="Times New Roman"/>
                <a:cs typeface="Times New Roman"/>
                <a:sym typeface="Times New Roman"/>
              </a:rPr>
              <a:t>tick</a:t>
            </a:r>
            <a:r>
              <a:rPr lang="es-ES" sz="2400">
                <a:solidFill>
                  <a:srgbClr val="000000"/>
                </a:solidFill>
                <a:latin typeface="Times New Roman"/>
                <a:ea typeface="Times New Roman"/>
                <a:cs typeface="Times New Roman"/>
                <a:sym typeface="Times New Roman"/>
              </a:rPr>
              <a:t>. </a:t>
            </a:r>
            <a:endParaRPr sz="24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lang="es-ES" sz="2400">
                <a:solidFill>
                  <a:srgbClr val="000000"/>
                </a:solidFill>
                <a:latin typeface="Times New Roman"/>
                <a:ea typeface="Times New Roman"/>
                <a:cs typeface="Times New Roman"/>
                <a:sym typeface="Times New Roman"/>
              </a:rPr>
              <a:t>Sin embargo, la pila está ocupada procesando la línea </a:t>
            </a:r>
            <a:r>
              <a:rPr i="1" lang="es-ES" sz="2400">
                <a:solidFill>
                  <a:srgbClr val="000000"/>
                </a:solidFill>
                <a:latin typeface="Times New Roman"/>
                <a:ea typeface="Times New Roman"/>
                <a:cs typeface="Times New Roman"/>
                <a:sym typeface="Times New Roman"/>
              </a:rPr>
              <a:t>console.log("Sorpresa!")</a:t>
            </a:r>
            <a:r>
              <a:rPr lang="es-ES" sz="2400">
                <a:solidFill>
                  <a:srgbClr val="000000"/>
                </a:solidFill>
                <a:latin typeface="Times New Roman"/>
                <a:ea typeface="Times New Roman"/>
                <a:cs typeface="Times New Roman"/>
                <a:sym typeface="Times New Roman"/>
              </a:rPr>
              <a:t>. </a:t>
            </a:r>
            <a:endParaRPr sz="24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lang="es-ES" sz="2400">
                <a:solidFill>
                  <a:srgbClr val="000000"/>
                </a:solidFill>
                <a:latin typeface="Times New Roman"/>
                <a:ea typeface="Times New Roman"/>
                <a:cs typeface="Times New Roman"/>
                <a:sym typeface="Times New Roman"/>
              </a:rPr>
              <a:t>El </a:t>
            </a:r>
            <a:r>
              <a:rPr i="1" lang="es-ES" sz="2400">
                <a:solidFill>
                  <a:srgbClr val="000000"/>
                </a:solidFill>
                <a:latin typeface="Times New Roman"/>
                <a:ea typeface="Times New Roman"/>
                <a:cs typeface="Times New Roman"/>
                <a:sym typeface="Times New Roman"/>
              </a:rPr>
              <a:t>callback</a:t>
            </a:r>
            <a:r>
              <a:rPr lang="es-ES" sz="2400">
                <a:solidFill>
                  <a:srgbClr val="000000"/>
                </a:solidFill>
                <a:latin typeface="Times New Roman"/>
                <a:ea typeface="Times New Roman"/>
                <a:cs typeface="Times New Roman"/>
                <a:sym typeface="Times New Roman"/>
              </a:rPr>
              <a:t> se despachará una vez la pila quede vacía, en la práctica, cuando </a:t>
            </a:r>
            <a:r>
              <a:rPr i="1" lang="es-ES" sz="2400">
                <a:solidFill>
                  <a:srgbClr val="000000"/>
                </a:solidFill>
                <a:latin typeface="Times New Roman"/>
                <a:ea typeface="Times New Roman"/>
                <a:cs typeface="Times New Roman"/>
                <a:sym typeface="Times New Roman"/>
              </a:rPr>
              <a:t>Sorpresa!</a:t>
            </a:r>
            <a:r>
              <a:rPr lang="es-ES" sz="2400">
                <a:solidFill>
                  <a:srgbClr val="000000"/>
                </a:solidFill>
                <a:latin typeface="Times New Roman"/>
                <a:ea typeface="Times New Roman"/>
                <a:cs typeface="Times New Roman"/>
                <a:sym typeface="Times New Roman"/>
              </a:rPr>
              <a:t> haya sido logueado.</a:t>
            </a:r>
            <a:endParaRPr sz="24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descr="Resultado de imagen de programacion asincrona javascript" id="283" name="Google Shape;283;p33"/>
          <p:cNvPicPr preferRelativeResize="0"/>
          <p:nvPr/>
        </p:nvPicPr>
        <p:blipFill rotWithShape="1">
          <a:blip r:embed="rId3">
            <a:alphaModFix/>
          </a:blip>
          <a:srcRect b="0" l="0" r="0" t="0"/>
          <a:stretch/>
        </p:blipFill>
        <p:spPr>
          <a:xfrm>
            <a:off x="940158" y="849896"/>
            <a:ext cx="8937938" cy="502759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4"/>
          <p:cNvSpPr/>
          <p:nvPr/>
        </p:nvSpPr>
        <p:spPr>
          <a:xfrm>
            <a:off x="279041" y="281369"/>
            <a:ext cx="6096000" cy="6370975"/>
          </a:xfrm>
          <a:prstGeom prst="rect">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Pero si tenemos varias funciones así... puede ocurrir lo siguiente:</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var array = [1,2,3];</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addToArray(4, array, function (err)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if (err)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addToArray(5, array, function (err)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if (err)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addToArray(6, array, function (err)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if (err)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addToArray(7, array, function ()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 Hasta el infinito y más allá...</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a:t>
            </a:r>
            <a:endParaRPr/>
          </a:p>
        </p:txBody>
      </p:sp>
      <p:sp>
        <p:nvSpPr>
          <p:cNvPr id="289" name="Google Shape;289;p34"/>
          <p:cNvSpPr/>
          <p:nvPr/>
        </p:nvSpPr>
        <p:spPr>
          <a:xfrm>
            <a:off x="6213190" y="401434"/>
            <a:ext cx="4972836" cy="400110"/>
          </a:xfrm>
          <a:prstGeom prst="rect">
            <a:avLst/>
          </a:prstGeom>
          <a:solidFill>
            <a:schemeClr val="lt1"/>
          </a:solidFill>
          <a:ln cap="flat" cmpd="sng" w="12700">
            <a:solidFill>
              <a:schemeClr val="accent2"/>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rgbClr val="444444"/>
                </a:solidFill>
                <a:latin typeface="Montserrat"/>
                <a:ea typeface="Montserrat"/>
                <a:cs typeface="Montserrat"/>
                <a:sym typeface="Montserrat"/>
              </a:rPr>
              <a:t>El temido </a:t>
            </a:r>
            <a:r>
              <a:rPr b="1" lang="es-ES" sz="2000">
                <a:solidFill>
                  <a:srgbClr val="FF0000"/>
                </a:solidFill>
                <a:latin typeface="Montserrat"/>
                <a:ea typeface="Montserrat"/>
                <a:cs typeface="Montserrat"/>
                <a:sym typeface="Montserrat"/>
              </a:rPr>
              <a:t>Callback Hell</a:t>
            </a:r>
            <a:r>
              <a:rPr lang="es-ES" sz="1800">
                <a:solidFill>
                  <a:srgbClr val="444444"/>
                </a:solidFill>
                <a:latin typeface="Montserrat"/>
                <a:ea typeface="Montserrat"/>
                <a:cs typeface="Montserrat"/>
                <a:sym typeface="Montserrat"/>
              </a:rPr>
              <a:t> o </a:t>
            </a:r>
            <a:r>
              <a:rPr b="1" lang="es-ES" sz="1800">
                <a:solidFill>
                  <a:srgbClr val="444444"/>
                </a:solidFill>
                <a:latin typeface="Montserrat"/>
                <a:ea typeface="Montserrat"/>
                <a:cs typeface="Montserrat"/>
                <a:sym typeface="Montserrat"/>
              </a:rPr>
              <a:t>Pyramid of Doom</a:t>
            </a:r>
            <a:endParaRPr sz="1800">
              <a:solidFill>
                <a:schemeClr val="dk1"/>
              </a:solidFill>
              <a:latin typeface="Calibri"/>
              <a:ea typeface="Calibri"/>
              <a:cs typeface="Calibri"/>
              <a:sym typeface="Calibri"/>
            </a:endParaRPr>
          </a:p>
        </p:txBody>
      </p:sp>
      <p:sp>
        <p:nvSpPr>
          <p:cNvPr id="290" name="Google Shape;290;p34"/>
          <p:cNvSpPr/>
          <p:nvPr/>
        </p:nvSpPr>
        <p:spPr>
          <a:xfrm>
            <a:off x="6928763" y="2266527"/>
            <a:ext cx="3541690" cy="1938992"/>
          </a:xfrm>
          <a:prstGeom prst="rect">
            <a:avLst/>
          </a:prstGeom>
          <a:gradFill>
            <a:gsLst>
              <a:gs pos="0">
                <a:srgbClr val="A6B6DE"/>
              </a:gs>
              <a:gs pos="50000">
                <a:srgbClr val="98AAD9"/>
              </a:gs>
              <a:gs pos="100000">
                <a:srgbClr val="859CD7"/>
              </a:gs>
            </a:gsLst>
            <a:lin ang="5400000" scaled="0"/>
          </a:gradFill>
          <a:ln cap="flat" cmpd="sng" w="9525">
            <a:solidFill>
              <a:schemeClr val="accent5"/>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Calibri"/>
                <a:ea typeface="Calibri"/>
                <a:cs typeface="Calibri"/>
                <a:sym typeface="Calibri"/>
              </a:rPr>
              <a:t>Por suerte esto se ha podido resolver utilizando librerías como async, o empleando promesas con librerías como Q.</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5"/>
          <p:cNvSpPr txBox="1"/>
          <p:nvPr>
            <p:ph type="title"/>
          </p:nvPr>
        </p:nvSpPr>
        <p:spPr>
          <a:xfrm>
            <a:off x="838200" y="365125"/>
            <a:ext cx="10515600" cy="1325563"/>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s-ES">
                <a:solidFill>
                  <a:schemeClr val="dk1"/>
                </a:solidFill>
                <a:latin typeface="Calibri"/>
                <a:ea typeface="Calibri"/>
                <a:cs typeface="Calibri"/>
                <a:sym typeface="Calibri"/>
              </a:rPr>
              <a:t>Callback Hell</a:t>
            </a:r>
            <a:endParaRPr/>
          </a:p>
        </p:txBody>
      </p:sp>
      <p:sp>
        <p:nvSpPr>
          <p:cNvPr id="296" name="Google Shape;296;p35"/>
          <p:cNvSpPr/>
          <p:nvPr/>
        </p:nvSpPr>
        <p:spPr>
          <a:xfrm>
            <a:off x="639650" y="1690688"/>
            <a:ext cx="4280080" cy="1200329"/>
          </a:xfrm>
          <a:prstGeom prst="rect">
            <a:avLst/>
          </a:prstGeom>
          <a:gradFill>
            <a:gsLst>
              <a:gs pos="0">
                <a:srgbClr val="FFDC9B"/>
              </a:gs>
              <a:gs pos="50000">
                <a:srgbClr val="FFD68D"/>
              </a:gs>
              <a:gs pos="100000">
                <a:srgbClr val="FFD478"/>
              </a:gs>
            </a:gsLst>
            <a:lin ang="5400000" scaled="0"/>
          </a:gradFill>
          <a:ln cap="flat" cmpd="sng" w="9525">
            <a:solidFill>
              <a:schemeClr val="accent4"/>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rgbClr val="000000"/>
                </a:solidFill>
                <a:latin typeface="Times New Roman"/>
                <a:ea typeface="Times New Roman"/>
                <a:cs typeface="Times New Roman"/>
                <a:sym typeface="Times New Roman"/>
              </a:rPr>
              <a:t>Los </a:t>
            </a:r>
            <a:r>
              <a:rPr i="1" lang="es-ES" sz="1800">
                <a:solidFill>
                  <a:srgbClr val="000000"/>
                </a:solidFill>
                <a:latin typeface="Times New Roman"/>
                <a:ea typeface="Times New Roman"/>
                <a:cs typeface="Times New Roman"/>
                <a:sym typeface="Times New Roman"/>
              </a:rPr>
              <a:t>callbacks</a:t>
            </a:r>
            <a:r>
              <a:rPr lang="es-ES" sz="1800">
                <a:solidFill>
                  <a:srgbClr val="000000"/>
                </a:solidFill>
                <a:latin typeface="Times New Roman"/>
                <a:ea typeface="Times New Roman"/>
                <a:cs typeface="Times New Roman"/>
                <a:sym typeface="Times New Roman"/>
              </a:rPr>
              <a:t> también pueden lanzar a su vez llamadas asíncronas, así que pueden anidarse tanto como se desee. Este inconveniente genera un callback hell.</a:t>
            </a:r>
            <a:endParaRPr sz="1800">
              <a:solidFill>
                <a:schemeClr val="dk1"/>
              </a:solidFill>
              <a:latin typeface="Calibri"/>
              <a:ea typeface="Calibri"/>
              <a:cs typeface="Calibri"/>
              <a:sym typeface="Calibri"/>
            </a:endParaRPr>
          </a:p>
        </p:txBody>
      </p:sp>
      <p:sp>
        <p:nvSpPr>
          <p:cNvPr id="297" name="Google Shape;297;p35"/>
          <p:cNvSpPr/>
          <p:nvPr/>
        </p:nvSpPr>
        <p:spPr>
          <a:xfrm>
            <a:off x="6375042" y="631065"/>
            <a:ext cx="5293217" cy="5705341"/>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000">
                <a:solidFill>
                  <a:schemeClr val="dk1"/>
                </a:solidFill>
                <a:latin typeface="Calibri"/>
                <a:ea typeface="Calibri"/>
                <a:cs typeface="Calibri"/>
                <a:sym typeface="Calibri"/>
              </a:rPr>
              <a:t>setTimeout(function(){</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console.log("Etapa 1 completada");</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setTimeout(function(){</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console.log("Etapa 2 completada");</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setTimeout(function(){</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console.log("Etapa 3 completada");</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setTimeout(function(){</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console.log("Etapa 4 completada");</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 Podríamos continuar hasta el infinito...</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 4000);</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 3000);</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 2000);</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1000);</a:t>
            </a:r>
            <a:endParaRPr/>
          </a:p>
        </p:txBody>
      </p:sp>
      <p:sp>
        <p:nvSpPr>
          <p:cNvPr id="298" name="Google Shape;298;p35"/>
          <p:cNvSpPr/>
          <p:nvPr/>
        </p:nvSpPr>
        <p:spPr>
          <a:xfrm>
            <a:off x="459346" y="3836555"/>
            <a:ext cx="5014175" cy="1938992"/>
          </a:xfrm>
          <a:prstGeom prst="rect">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2000">
                <a:solidFill>
                  <a:srgbClr val="000000"/>
                </a:solidFill>
                <a:latin typeface="Times New Roman"/>
                <a:ea typeface="Times New Roman"/>
                <a:cs typeface="Times New Roman"/>
                <a:sym typeface="Times New Roman"/>
              </a:rPr>
              <a:t>Éste es uno de los inconvenientes clásicos de los </a:t>
            </a:r>
            <a:r>
              <a:rPr i="1" lang="es-ES" sz="2000">
                <a:solidFill>
                  <a:srgbClr val="000000"/>
                </a:solidFill>
                <a:latin typeface="Times New Roman"/>
                <a:ea typeface="Times New Roman"/>
                <a:cs typeface="Times New Roman"/>
                <a:sym typeface="Times New Roman"/>
              </a:rPr>
              <a:t>callbacks</a:t>
            </a:r>
            <a:r>
              <a:rPr lang="es-ES" sz="2000">
                <a:solidFill>
                  <a:srgbClr val="000000"/>
                </a:solidFill>
                <a:latin typeface="Times New Roman"/>
                <a:ea typeface="Times New Roman"/>
                <a:cs typeface="Times New Roman"/>
                <a:sym typeface="Times New Roman"/>
              </a:rPr>
              <a:t>, además de la indentación, resta legibilidad, dificulta su mantenimiento y añade </a:t>
            </a:r>
            <a:r>
              <a:rPr b="1" lang="es-ES" sz="2000">
                <a:solidFill>
                  <a:srgbClr val="000000"/>
                </a:solidFill>
                <a:latin typeface="Times New Roman"/>
                <a:ea typeface="Times New Roman"/>
                <a:cs typeface="Times New Roman"/>
                <a:sym typeface="Times New Roman"/>
              </a:rPr>
              <a:t>complejidad ciclomática</a:t>
            </a:r>
            <a:r>
              <a:rPr lang="es-ES" sz="2000">
                <a:solidFill>
                  <a:srgbClr val="000000"/>
                </a:solidFill>
                <a:latin typeface="Times New Roman"/>
                <a:ea typeface="Times New Roman"/>
                <a:cs typeface="Times New Roman"/>
                <a:sym typeface="Times New Roman"/>
              </a:rPr>
              <a:t>. </a:t>
            </a:r>
            <a:endParaRPr sz="20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lang="es-ES" sz="2000">
                <a:solidFill>
                  <a:srgbClr val="000000"/>
                </a:solidFill>
                <a:latin typeface="Times New Roman"/>
                <a:ea typeface="Times New Roman"/>
                <a:cs typeface="Times New Roman"/>
                <a:sym typeface="Times New Roman"/>
              </a:rPr>
              <a:t>Al </a:t>
            </a:r>
            <a:r>
              <a:rPr i="1" lang="es-ES" sz="2000">
                <a:solidFill>
                  <a:srgbClr val="000000"/>
                </a:solidFill>
                <a:latin typeface="Times New Roman"/>
                <a:ea typeface="Times New Roman"/>
                <a:cs typeface="Times New Roman"/>
                <a:sym typeface="Times New Roman"/>
              </a:rPr>
              <a:t>Callback Hell</a:t>
            </a:r>
            <a:r>
              <a:rPr lang="es-ES" sz="2000">
                <a:solidFill>
                  <a:srgbClr val="000000"/>
                </a:solidFill>
                <a:latin typeface="Times New Roman"/>
                <a:ea typeface="Times New Roman"/>
                <a:cs typeface="Times New Roman"/>
                <a:sym typeface="Times New Roman"/>
              </a:rPr>
              <a:t> también se le conoce como </a:t>
            </a:r>
            <a:r>
              <a:rPr b="1" i="1" lang="es-ES" sz="2000">
                <a:solidFill>
                  <a:srgbClr val="000000"/>
                </a:solidFill>
                <a:latin typeface="Times New Roman"/>
                <a:ea typeface="Times New Roman"/>
                <a:cs typeface="Times New Roman"/>
                <a:sym typeface="Times New Roman"/>
              </a:rPr>
              <a:t>Pyramid of Doom</a:t>
            </a:r>
            <a:r>
              <a:rPr lang="es-ES" sz="2000">
                <a:solidFill>
                  <a:srgbClr val="000000"/>
                </a:solidFill>
                <a:latin typeface="Times New Roman"/>
                <a:ea typeface="Times New Roman"/>
                <a:cs typeface="Times New Roman"/>
                <a:sym typeface="Times New Roman"/>
              </a:rPr>
              <a:t> o </a:t>
            </a:r>
            <a:r>
              <a:rPr b="1" i="1" lang="es-ES" sz="2000">
                <a:solidFill>
                  <a:srgbClr val="000000"/>
                </a:solidFill>
                <a:latin typeface="Times New Roman"/>
                <a:ea typeface="Times New Roman"/>
                <a:cs typeface="Times New Roman"/>
                <a:sym typeface="Times New Roman"/>
              </a:rPr>
              <a:t>Hadouken</a:t>
            </a:r>
            <a:r>
              <a:rPr lang="es-ES" sz="2000">
                <a:solidFill>
                  <a:srgbClr val="000000"/>
                </a:solidFill>
                <a:latin typeface="Times New Roman"/>
                <a:ea typeface="Times New Roman"/>
                <a:cs typeface="Times New Roman"/>
                <a:sym typeface="Times New Roman"/>
              </a:rPr>
              <a:t>.</a:t>
            </a:r>
            <a:endParaRPr sz="20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pic>
        <p:nvPicPr>
          <p:cNvPr descr="https://encrypted-tbn0.gstatic.com/images?q=tbn:ANd9GcSdBV9C9kDx20JsvJtsvVg_gbN_98E4vZc61EUSJ7GNFk44Qm4m" id="303" name="Google Shape;303;p36"/>
          <p:cNvPicPr preferRelativeResize="0"/>
          <p:nvPr/>
        </p:nvPicPr>
        <p:blipFill rotWithShape="1">
          <a:blip r:embed="rId3">
            <a:alphaModFix/>
          </a:blip>
          <a:srcRect b="0" l="0" r="0" t="0"/>
          <a:stretch/>
        </p:blipFill>
        <p:spPr>
          <a:xfrm>
            <a:off x="451789" y="649197"/>
            <a:ext cx="10984650" cy="5389348"/>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7"/>
          <p:cNvSpPr txBox="1"/>
          <p:nvPr>
            <p:ph type="title"/>
          </p:nvPr>
        </p:nvSpPr>
        <p:spPr>
          <a:xfrm>
            <a:off x="838200" y="365125"/>
            <a:ext cx="10515600" cy="1325563"/>
          </a:xfrm>
          <a:prstGeom prst="rect">
            <a:avLst/>
          </a:prstGeom>
          <a:solidFill>
            <a:schemeClr val="lt1"/>
          </a:solidFill>
          <a:ln cap="flat" cmpd="sng" w="12700">
            <a:solidFill>
              <a:schemeClr val="accent2"/>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solidFill>
                  <a:schemeClr val="dk1"/>
                </a:solidFill>
                <a:latin typeface="Calibri"/>
                <a:ea typeface="Calibri"/>
                <a:cs typeface="Calibri"/>
                <a:sym typeface="Calibri"/>
              </a:rPr>
              <a:t>Promesas</a:t>
            </a:r>
            <a:endParaRPr/>
          </a:p>
        </p:txBody>
      </p:sp>
      <p:sp>
        <p:nvSpPr>
          <p:cNvPr id="309" name="Google Shape;309;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s-ES"/>
              <a:t>Una promesa es un objeto que representa </a:t>
            </a:r>
            <a:r>
              <a:rPr b="1" lang="es-ES"/>
              <a:t>el resultado de una operación asíncrona</a:t>
            </a:r>
            <a:r>
              <a:rPr lang="es-ES"/>
              <a:t>. </a:t>
            </a:r>
            <a:endParaRPr/>
          </a:p>
          <a:p>
            <a:pPr indent="-228600" lvl="0" marL="228600" rtl="0" algn="l">
              <a:lnSpc>
                <a:spcPct val="90000"/>
              </a:lnSpc>
              <a:spcBef>
                <a:spcPts val="1000"/>
              </a:spcBef>
              <a:spcAft>
                <a:spcPts val="0"/>
              </a:spcAft>
              <a:buClr>
                <a:schemeClr val="dk1"/>
              </a:buClr>
              <a:buSzPts val="2800"/>
              <a:buChar char="•"/>
            </a:pPr>
            <a:r>
              <a:rPr lang="es-ES"/>
              <a:t>Este resultado podría estar disponible </a:t>
            </a:r>
            <a:r>
              <a:rPr b="1" lang="es-ES"/>
              <a:t>ahora</a:t>
            </a:r>
            <a:r>
              <a:rPr lang="es-ES"/>
              <a:t> o en el </a:t>
            </a:r>
            <a:r>
              <a:rPr b="1" lang="es-ES"/>
              <a:t>futuro</a:t>
            </a:r>
            <a:r>
              <a:rPr lang="es-ES"/>
              <a:t>. </a:t>
            </a:r>
            <a:endParaRPr/>
          </a:p>
          <a:p>
            <a:pPr indent="-228600" lvl="0" marL="228600" rtl="0" algn="l">
              <a:lnSpc>
                <a:spcPct val="90000"/>
              </a:lnSpc>
              <a:spcBef>
                <a:spcPts val="1000"/>
              </a:spcBef>
              <a:spcAft>
                <a:spcPts val="0"/>
              </a:spcAft>
              <a:buClr>
                <a:schemeClr val="dk1"/>
              </a:buClr>
              <a:buSzPts val="2800"/>
              <a:buChar char="•"/>
            </a:pPr>
            <a:r>
              <a:rPr lang="es-ES"/>
              <a:t>Las promesas se basan en </a:t>
            </a:r>
            <a:r>
              <a:rPr b="1" i="1" lang="es-ES"/>
              <a:t>callbacks</a:t>
            </a:r>
            <a:r>
              <a:rPr i="1" lang="es-ES"/>
              <a:t> </a:t>
            </a:r>
            <a:r>
              <a:rPr lang="es-ES"/>
              <a:t>pero añaden azúcar para un mejor manejo y sintaxis.</a:t>
            </a:r>
            <a:endParaRPr/>
          </a:p>
          <a:p>
            <a:pPr indent="-228600" lvl="0" marL="228600" rtl="0" algn="l">
              <a:lnSpc>
                <a:spcPct val="90000"/>
              </a:lnSpc>
              <a:spcBef>
                <a:spcPts val="1000"/>
              </a:spcBef>
              <a:spcAft>
                <a:spcPts val="0"/>
              </a:spcAft>
              <a:buClr>
                <a:schemeClr val="dk1"/>
              </a:buClr>
              <a:buSzPts val="2800"/>
              <a:buChar char="•"/>
            </a:pPr>
            <a:r>
              <a:rPr lang="es-ES"/>
              <a:t>Las promesas son especiales en términos de asincronía ya que añaden un nuevo nivel de prioridad que estudiaremos a continuación.</a:t>
            </a:r>
            <a:endParaRPr/>
          </a:p>
        </p:txBody>
      </p:sp>
      <p:sp>
        <p:nvSpPr>
          <p:cNvPr id="310" name="Google Shape;310;p37"/>
          <p:cNvSpPr/>
          <p:nvPr/>
        </p:nvSpPr>
        <p:spPr>
          <a:xfrm>
            <a:off x="5074276" y="218941"/>
            <a:ext cx="6130344" cy="1339403"/>
          </a:xfrm>
          <a:prstGeom prst="roundRect">
            <a:avLst>
              <a:gd fmla="val 16667" name="adj"/>
            </a:avLst>
          </a:prstGeom>
          <a:solidFill>
            <a:schemeClr val="accent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1800">
                <a:solidFill>
                  <a:schemeClr val="lt1"/>
                </a:solidFill>
                <a:latin typeface="Calibri"/>
                <a:ea typeface="Calibri"/>
                <a:cs typeface="Calibri"/>
                <a:sym typeface="Calibri"/>
              </a:rPr>
              <a:t>Por suerte, en la nueva especificación de JavaScript (ES6 o ES2015) las Promesas ya son nativas y no necesitamos requerir librerías de terceros.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8"/>
          <p:cNvSpPr txBox="1"/>
          <p:nvPr>
            <p:ph idx="1" type="body"/>
          </p:nvPr>
        </p:nvSpPr>
        <p:spPr>
          <a:xfrm>
            <a:off x="838200" y="914400"/>
            <a:ext cx="10515600" cy="5262563"/>
          </a:xfrm>
          <a:prstGeom prst="rect">
            <a:avLst/>
          </a:prstGeom>
          <a:solidFill>
            <a:schemeClr val="lt1"/>
          </a:solidFill>
          <a:ln cap="flat" cmpd="sng" w="12700">
            <a:solidFill>
              <a:schemeClr val="accent2"/>
            </a:solidFill>
            <a:prstDash val="solid"/>
            <a:miter lim="8000"/>
            <a:headEnd len="sm" w="sm" type="none"/>
            <a:tailEnd len="sm" w="sm" type="none"/>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s-ES">
                <a:solidFill>
                  <a:schemeClr val="dk1"/>
                </a:solidFill>
                <a:latin typeface="Calibri"/>
                <a:ea typeface="Calibri"/>
                <a:cs typeface="Calibri"/>
                <a:sym typeface="Calibri"/>
              </a:rPr>
              <a:t>Cuando llamamos a una función asíncrona implementada con este patrón, nos devolverá inmediatamente una promesa como garantía de que la operación asíncrona finalizará en algún momento, ya sea con éxito o con fallo. </a:t>
            </a:r>
            <a:endParaRPr/>
          </a:p>
          <a:p>
            <a:pPr indent="-228600" lvl="0" marL="228600" rtl="0" algn="l">
              <a:lnSpc>
                <a:spcPct val="90000"/>
              </a:lnSpc>
              <a:spcBef>
                <a:spcPts val="1000"/>
              </a:spcBef>
              <a:spcAft>
                <a:spcPts val="0"/>
              </a:spcAft>
              <a:buClr>
                <a:schemeClr val="dk1"/>
              </a:buClr>
              <a:buSzPts val="2800"/>
              <a:buChar char="•"/>
            </a:pPr>
            <a:r>
              <a:rPr lang="es-ES">
                <a:solidFill>
                  <a:schemeClr val="dk1"/>
                </a:solidFill>
                <a:latin typeface="Calibri"/>
                <a:ea typeface="Calibri"/>
                <a:cs typeface="Calibri"/>
                <a:sym typeface="Calibri"/>
              </a:rPr>
              <a:t>Una vez que tengamos el objeto promesa en nuestro poder, registramos un par de </a:t>
            </a:r>
            <a:r>
              <a:rPr i="1" lang="es-ES">
                <a:solidFill>
                  <a:schemeClr val="dk1"/>
                </a:solidFill>
                <a:latin typeface="Calibri"/>
                <a:ea typeface="Calibri"/>
                <a:cs typeface="Calibri"/>
                <a:sym typeface="Calibri"/>
              </a:rPr>
              <a:t>callbacks</a:t>
            </a:r>
            <a:r>
              <a:rPr lang="es-ES">
                <a:solidFill>
                  <a:schemeClr val="dk1"/>
                </a:solidFill>
                <a:latin typeface="Calibri"/>
                <a:ea typeface="Calibri"/>
                <a:cs typeface="Calibri"/>
                <a:sym typeface="Calibri"/>
              </a:rPr>
              <a:t>: </a:t>
            </a:r>
            <a:endParaRPr/>
          </a:p>
          <a:p>
            <a:pPr indent="-228600" lvl="1" marL="685800" rtl="0" algn="l">
              <a:lnSpc>
                <a:spcPct val="90000"/>
              </a:lnSpc>
              <a:spcBef>
                <a:spcPts val="500"/>
              </a:spcBef>
              <a:spcAft>
                <a:spcPts val="0"/>
              </a:spcAft>
              <a:buClr>
                <a:schemeClr val="dk1"/>
              </a:buClr>
              <a:buSzPts val="2400"/>
              <a:buChar char="•"/>
            </a:pPr>
            <a:r>
              <a:rPr lang="es-ES">
                <a:solidFill>
                  <a:schemeClr val="dk1"/>
                </a:solidFill>
                <a:latin typeface="Calibri"/>
                <a:ea typeface="Calibri"/>
                <a:cs typeface="Calibri"/>
                <a:sym typeface="Calibri"/>
              </a:rPr>
              <a:t>uno para indicarle a la promesa '</a:t>
            </a:r>
            <a:r>
              <a:rPr i="1" lang="es-ES">
                <a:solidFill>
                  <a:schemeClr val="dk1"/>
                </a:solidFill>
                <a:latin typeface="Calibri"/>
                <a:ea typeface="Calibri"/>
                <a:cs typeface="Calibri"/>
                <a:sym typeface="Calibri"/>
              </a:rPr>
              <a:t>que debe hacer en caso de que todo vaya bien</a:t>
            </a:r>
            <a:r>
              <a:rPr lang="es-ES">
                <a:solidFill>
                  <a:schemeClr val="dk1"/>
                </a:solidFill>
                <a:latin typeface="Calibri"/>
                <a:ea typeface="Calibri"/>
                <a:cs typeface="Calibri"/>
                <a:sym typeface="Calibri"/>
              </a:rPr>
              <a:t>' (resolución de la promesa o </a:t>
            </a:r>
            <a:r>
              <a:rPr i="1" lang="es-ES">
                <a:solidFill>
                  <a:schemeClr val="dk1"/>
                </a:solidFill>
                <a:latin typeface="Calibri"/>
                <a:ea typeface="Calibri"/>
                <a:cs typeface="Calibri"/>
                <a:sym typeface="Calibri"/>
              </a:rPr>
              <a:t>resolve</a:t>
            </a:r>
            <a:r>
              <a:rPr lang="es-ES">
                <a:solidFill>
                  <a:schemeClr val="dk1"/>
                </a:solidFill>
                <a:latin typeface="Calibri"/>
                <a:ea typeface="Calibri"/>
                <a:cs typeface="Calibri"/>
                <a:sym typeface="Calibri"/>
              </a:rPr>
              <a:t>) y </a:t>
            </a:r>
            <a:endParaRPr/>
          </a:p>
          <a:p>
            <a:pPr indent="-228600" lvl="1" marL="685800" rtl="0" algn="l">
              <a:lnSpc>
                <a:spcPct val="90000"/>
              </a:lnSpc>
              <a:spcBef>
                <a:spcPts val="500"/>
              </a:spcBef>
              <a:spcAft>
                <a:spcPts val="0"/>
              </a:spcAft>
              <a:buClr>
                <a:schemeClr val="dk1"/>
              </a:buClr>
              <a:buSzPts val="2400"/>
              <a:buChar char="•"/>
            </a:pPr>
            <a:r>
              <a:rPr lang="es-ES">
                <a:solidFill>
                  <a:schemeClr val="dk1"/>
                </a:solidFill>
                <a:latin typeface="Calibri"/>
                <a:ea typeface="Calibri"/>
                <a:cs typeface="Calibri"/>
                <a:sym typeface="Calibri"/>
              </a:rPr>
              <a:t>otro para determinar '</a:t>
            </a:r>
            <a:r>
              <a:rPr i="1" lang="es-ES">
                <a:solidFill>
                  <a:schemeClr val="dk1"/>
                </a:solidFill>
                <a:latin typeface="Calibri"/>
                <a:ea typeface="Calibri"/>
                <a:cs typeface="Calibri"/>
                <a:sym typeface="Calibri"/>
              </a:rPr>
              <a:t>que hacer en caso de fallo</a:t>
            </a:r>
            <a:r>
              <a:rPr lang="es-ES">
                <a:solidFill>
                  <a:schemeClr val="dk1"/>
                </a:solidFill>
                <a:latin typeface="Calibri"/>
                <a:ea typeface="Calibri"/>
                <a:cs typeface="Calibri"/>
                <a:sym typeface="Calibri"/>
              </a:rPr>
              <a:t>' (rechazo de la promesa o </a:t>
            </a:r>
            <a:r>
              <a:rPr i="1" lang="es-ES">
                <a:solidFill>
                  <a:schemeClr val="dk1"/>
                </a:solidFill>
                <a:latin typeface="Calibri"/>
                <a:ea typeface="Calibri"/>
                <a:cs typeface="Calibri"/>
                <a:sym typeface="Calibri"/>
              </a:rPr>
              <a:t>reject</a:t>
            </a:r>
            <a:r>
              <a:rPr lang="es-ES">
                <a:solidFill>
                  <a:schemeClr val="dk1"/>
                </a:solidFill>
                <a:latin typeface="Calibri"/>
                <a:ea typeface="Calibri"/>
                <a:cs typeface="Calibri"/>
                <a:sym typeface="Calibri"/>
              </a:rPr>
              <a: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pic>
        <p:nvPicPr>
          <p:cNvPr descr="Resultado de imagen de programacion asincrona javascript" id="320" name="Google Shape;320;p39"/>
          <p:cNvPicPr preferRelativeResize="0"/>
          <p:nvPr/>
        </p:nvPicPr>
        <p:blipFill rotWithShape="1">
          <a:blip r:embed="rId3">
            <a:alphaModFix/>
          </a:blip>
          <a:srcRect b="0" l="0" r="0" t="0"/>
          <a:stretch/>
        </p:blipFill>
        <p:spPr>
          <a:xfrm>
            <a:off x="0" y="387976"/>
            <a:ext cx="7943850" cy="59531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0"/>
          <p:cNvSpPr/>
          <p:nvPr/>
        </p:nvSpPr>
        <p:spPr>
          <a:xfrm>
            <a:off x="382073" y="297210"/>
            <a:ext cx="6096000" cy="6186309"/>
          </a:xfrm>
          <a:prstGeom prst="rect">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dk1"/>
                </a:solidFill>
                <a:latin typeface="Calibri"/>
                <a:ea typeface="Calibri"/>
                <a:cs typeface="Calibri"/>
                <a:sym typeface="Calibri"/>
              </a:rPr>
              <a:t>Veamos el mismo ejemplo que antes pero utilizando Promesas nativas de ES2015</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function addToArray (data, array) {</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  const promise = new Promise(function (resolve, reject) {</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    setTimeout(function() {</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      array.push(data)</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      resolve(array)</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    }, 1000);</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    if (!array) {</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      reject(new Error('No existe un array'))</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  return promise</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const array = [1, 2, 3]</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addToArray(4, array).then(function () {</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  console.log(array)</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a:t>
            </a:r>
            <a:endParaRPr/>
          </a:p>
        </p:txBody>
      </p:sp>
      <p:sp>
        <p:nvSpPr>
          <p:cNvPr id="326" name="Google Shape;326;p40"/>
          <p:cNvSpPr/>
          <p:nvPr/>
        </p:nvSpPr>
        <p:spPr>
          <a:xfrm>
            <a:off x="7186411" y="592428"/>
            <a:ext cx="3889420" cy="3889420"/>
          </a:xfrm>
          <a:prstGeom prst="roundRect">
            <a:avLst>
              <a:gd fmla="val 16667" name="adj"/>
            </a:avLst>
          </a:prstGeom>
          <a:solidFill>
            <a:schemeClr val="accent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1800">
                <a:solidFill>
                  <a:schemeClr val="lt1"/>
                </a:solidFill>
                <a:latin typeface="Calibri"/>
                <a:ea typeface="Calibri"/>
                <a:cs typeface="Calibri"/>
                <a:sym typeface="Calibri"/>
              </a:rPr>
              <a:t>Ahora la función addToArray crea un objeto Promise que recibe como parámetros una función con las funciones resolve y reject.</a:t>
            </a:r>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a:p>
            <a:pPr indent="0" lvl="0" marL="0" marR="0" rtl="0" algn="ctr">
              <a:spcBef>
                <a:spcPts val="0"/>
              </a:spcBef>
              <a:spcAft>
                <a:spcPts val="0"/>
              </a:spcAft>
              <a:buNone/>
            </a:pPr>
            <a:r>
              <a:rPr lang="es-ES" sz="1800">
                <a:solidFill>
                  <a:schemeClr val="lt1"/>
                </a:solidFill>
                <a:latin typeface="Calibri"/>
                <a:ea typeface="Calibri"/>
                <a:cs typeface="Calibri"/>
                <a:sym typeface="Calibri"/>
              </a:rPr>
              <a:t>resolve la llamaremos cuando nuestra ejecución finalice correctamente.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1"/>
          <p:cNvSpPr/>
          <p:nvPr/>
        </p:nvSpPr>
        <p:spPr>
          <a:xfrm>
            <a:off x="433589" y="117693"/>
            <a:ext cx="6933126" cy="5632311"/>
          </a:xfrm>
          <a:prstGeom prst="rect">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De esta manera, podemos escribir código de manera más elegante, y el Callback Hell anterior puede ser resuelto así:</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const array = [1, 2, 3]</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addToArray(4, array)</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.then(function() { return addToArray(5, array)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.then(function() { return addToArray(6, array)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.then(function() { return addToArray(7, array)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.then(function ()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console.log(array)</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(4 seg. de delay)-&gt; [1,2,3,4,5,6,7]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Esto se conoce como anidar promesas.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2"/>
          <p:cNvSpPr/>
          <p:nvPr/>
        </p:nvSpPr>
        <p:spPr>
          <a:xfrm>
            <a:off x="279042" y="271864"/>
            <a:ext cx="6096000" cy="3970318"/>
          </a:xfrm>
          <a:prstGeom prst="rect">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28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800">
                <a:solidFill>
                  <a:schemeClr val="dk1"/>
                </a:solidFill>
                <a:latin typeface="Calibri"/>
                <a:ea typeface="Calibri"/>
                <a:cs typeface="Calibri"/>
                <a:sym typeface="Calibri"/>
              </a:rPr>
              <a:t>const array = ''</a:t>
            </a:r>
            <a:endParaRPr/>
          </a:p>
          <a:p>
            <a:pPr indent="0" lvl="0" marL="0" marR="0" rtl="0" algn="l">
              <a:spcBef>
                <a:spcPts val="0"/>
              </a:spcBef>
              <a:spcAft>
                <a:spcPts val="0"/>
              </a:spcAft>
              <a:buNone/>
            </a:pPr>
            <a:r>
              <a:rPr b="1" lang="es-ES" sz="2800">
                <a:solidFill>
                  <a:schemeClr val="dk1"/>
                </a:solidFill>
                <a:latin typeface="Calibri"/>
                <a:ea typeface="Calibri"/>
                <a:cs typeface="Calibri"/>
                <a:sym typeface="Calibri"/>
              </a:rPr>
              <a:t>addToArray(4, array)</a:t>
            </a:r>
            <a:endParaRPr/>
          </a:p>
          <a:p>
            <a:pPr indent="0" lvl="0" marL="0" marR="0" rtl="0" algn="l">
              <a:spcBef>
                <a:spcPts val="0"/>
              </a:spcBef>
              <a:spcAft>
                <a:spcPts val="0"/>
              </a:spcAft>
              <a:buNone/>
            </a:pPr>
            <a:r>
              <a:rPr b="1" lang="es-ES" sz="2800">
                <a:solidFill>
                  <a:schemeClr val="dk1"/>
                </a:solidFill>
                <a:latin typeface="Calibri"/>
                <a:ea typeface="Calibri"/>
                <a:cs typeface="Calibri"/>
                <a:sym typeface="Calibri"/>
              </a:rPr>
              <a:t>  .then(...)</a:t>
            </a:r>
            <a:endParaRPr/>
          </a:p>
          <a:p>
            <a:pPr indent="0" lvl="0" marL="0" marR="0" rtl="0" algn="l">
              <a:spcBef>
                <a:spcPts val="0"/>
              </a:spcBef>
              <a:spcAft>
                <a:spcPts val="0"/>
              </a:spcAft>
              <a:buNone/>
            </a:pPr>
            <a:r>
              <a:rPr b="1" lang="es-ES" sz="2800">
                <a:solidFill>
                  <a:schemeClr val="dk1"/>
                </a:solidFill>
                <a:latin typeface="Calibri"/>
                <a:ea typeface="Calibri"/>
                <a:cs typeface="Calibri"/>
                <a:sym typeface="Calibri"/>
              </a:rPr>
              <a:t>  .then(...)</a:t>
            </a:r>
            <a:endParaRPr/>
          </a:p>
          <a:p>
            <a:pPr indent="0" lvl="0" marL="0" marR="0" rtl="0" algn="l">
              <a:spcBef>
                <a:spcPts val="0"/>
              </a:spcBef>
              <a:spcAft>
                <a:spcPts val="0"/>
              </a:spcAft>
              <a:buNone/>
            </a:pPr>
            <a:r>
              <a:rPr b="1" lang="es-ES" sz="2800">
                <a:solidFill>
                  <a:schemeClr val="dk1"/>
                </a:solidFill>
                <a:latin typeface="Calibri"/>
                <a:ea typeface="Calibri"/>
                <a:cs typeface="Calibri"/>
                <a:sym typeface="Calibri"/>
              </a:rPr>
              <a:t>  .then(...)</a:t>
            </a:r>
            <a:endParaRPr/>
          </a:p>
          <a:p>
            <a:pPr indent="0" lvl="0" marL="0" marR="0" rtl="0" algn="l">
              <a:spcBef>
                <a:spcPts val="0"/>
              </a:spcBef>
              <a:spcAft>
                <a:spcPts val="0"/>
              </a:spcAft>
              <a:buNone/>
            </a:pPr>
            <a:r>
              <a:rPr b="1" lang="es-ES" sz="2800">
                <a:solidFill>
                  <a:schemeClr val="dk1"/>
                </a:solidFill>
                <a:latin typeface="Calibri"/>
                <a:ea typeface="Calibri"/>
                <a:cs typeface="Calibri"/>
                <a:sym typeface="Calibri"/>
              </a:rPr>
              <a:t>  .catch(err =&gt; console.log(err.message))</a:t>
            </a:r>
            <a:endParaRPr/>
          </a:p>
          <a:p>
            <a:pPr indent="0" lvl="0" marL="0" marR="0" rtl="0" algn="l">
              <a:spcBef>
                <a:spcPts val="0"/>
              </a:spcBef>
              <a:spcAft>
                <a:spcPts val="0"/>
              </a:spcAft>
              <a:buNone/>
            </a:pPr>
            <a:r>
              <a:t/>
            </a:r>
            <a:endParaRPr b="1" sz="28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800">
                <a:solidFill>
                  <a:schemeClr val="dk1"/>
                </a:solidFill>
                <a:latin typeface="Calibri"/>
                <a:ea typeface="Calibri"/>
                <a:cs typeface="Calibri"/>
                <a:sym typeface="Calibri"/>
              </a:rPr>
              <a:t>// No existe el array</a:t>
            </a:r>
            <a:endParaRPr/>
          </a:p>
        </p:txBody>
      </p:sp>
      <p:sp>
        <p:nvSpPr>
          <p:cNvPr id="337" name="Google Shape;337;p42"/>
          <p:cNvSpPr/>
          <p:nvPr/>
        </p:nvSpPr>
        <p:spPr>
          <a:xfrm>
            <a:off x="7160654" y="540913"/>
            <a:ext cx="4082603" cy="5061397"/>
          </a:xfrm>
          <a:prstGeom prst="roundRect">
            <a:avLst>
              <a:gd fmla="val 16667" name="adj"/>
            </a:avLst>
          </a:prstGeom>
          <a:solidFill>
            <a:schemeClr val="lt1"/>
          </a:solidFill>
          <a:ln cap="flat" cmpd="sng" w="12700">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000">
                <a:solidFill>
                  <a:schemeClr val="dk1"/>
                </a:solidFill>
                <a:latin typeface="Calibri"/>
                <a:ea typeface="Calibri"/>
                <a:cs typeface="Calibri"/>
                <a:sym typeface="Calibri"/>
              </a:rPr>
              <a:t>La forma de tratar errores en una promesa, es por medio de la función catch que recoge lo que enviamos en la función reject dentro de la Promesa. </a:t>
            </a:r>
            <a:endParaRPr sz="2000">
              <a:solidFill>
                <a:schemeClr val="dk1"/>
              </a:solidFill>
              <a:latin typeface="Calibri"/>
              <a:ea typeface="Calibri"/>
              <a:cs typeface="Calibri"/>
              <a:sym typeface="Calibri"/>
            </a:endParaRPr>
          </a:p>
          <a:p>
            <a:pPr indent="0" lvl="0" marL="0" marR="0" rtl="0" algn="ctr">
              <a:spcBef>
                <a:spcPts val="0"/>
              </a:spcBef>
              <a:spcAft>
                <a:spcPts val="0"/>
              </a:spcAft>
              <a:buNone/>
            </a:pPr>
            <a:r>
              <a:rPr lang="es-ES" sz="2000">
                <a:solidFill>
                  <a:schemeClr val="dk1"/>
                </a:solidFill>
                <a:latin typeface="Calibri"/>
                <a:ea typeface="Calibri"/>
                <a:cs typeface="Calibri"/>
                <a:sym typeface="Calibri"/>
              </a:rPr>
              <a:t>Y esta función solo hay que invocarla una vez, no necesitamos comprobar en cada llamada si existe error o no. Lo cual reduce mucho la cantidad de código</a:t>
            </a:r>
            <a:endParaRPr/>
          </a:p>
          <a:p>
            <a:pPr indent="0" lvl="0" marL="0" marR="0" rtl="0" algn="ctr">
              <a:spcBef>
                <a:spcPts val="0"/>
              </a:spcBef>
              <a:spcAft>
                <a:spcPts val="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3"/>
          <p:cNvSpPr/>
          <p:nvPr/>
        </p:nvSpPr>
        <p:spPr>
          <a:xfrm>
            <a:off x="626772" y="468628"/>
            <a:ext cx="6096000" cy="2031325"/>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rgbClr val="000000"/>
                </a:solidFill>
                <a:latin typeface="Times New Roman"/>
                <a:ea typeface="Times New Roman"/>
                <a:cs typeface="Times New Roman"/>
                <a:sym typeface="Times New Roman"/>
              </a:rPr>
              <a:t>A resumidas cuentas, una promesa es un objeto al que le </a:t>
            </a:r>
            <a:r>
              <a:rPr b="1" lang="es-ES" sz="1800">
                <a:solidFill>
                  <a:srgbClr val="000000"/>
                </a:solidFill>
                <a:latin typeface="Times New Roman"/>
                <a:ea typeface="Times New Roman"/>
                <a:cs typeface="Times New Roman"/>
                <a:sym typeface="Times New Roman"/>
              </a:rPr>
              <a:t>adjuntamos </a:t>
            </a:r>
            <a:r>
              <a:rPr b="1" i="1" lang="es-ES" sz="1800">
                <a:solidFill>
                  <a:srgbClr val="000000"/>
                </a:solidFill>
                <a:latin typeface="Times New Roman"/>
                <a:ea typeface="Times New Roman"/>
                <a:cs typeface="Times New Roman"/>
                <a:sym typeface="Times New Roman"/>
              </a:rPr>
              <a:t>callbacks</a:t>
            </a:r>
            <a:r>
              <a:rPr b="1" lang="es-ES" sz="1800">
                <a:solidFill>
                  <a:srgbClr val="000000"/>
                </a:solidFill>
                <a:latin typeface="Times New Roman"/>
                <a:ea typeface="Times New Roman"/>
                <a:cs typeface="Times New Roman"/>
                <a:sym typeface="Times New Roman"/>
              </a:rPr>
              <a:t>, en lugar de pasarlos directamente a la función asíncrona</a:t>
            </a:r>
            <a:r>
              <a:rPr lang="es-ES" sz="1800">
                <a:solidFill>
                  <a:srgbClr val="000000"/>
                </a:solidFill>
                <a:latin typeface="Times New Roman"/>
                <a:ea typeface="Times New Roman"/>
                <a:cs typeface="Times New Roman"/>
                <a:sym typeface="Times New Roman"/>
              </a:rPr>
              <a:t>. La forma en que registramos esos dos </a:t>
            </a:r>
            <a:r>
              <a:rPr i="1" lang="es-ES" sz="1800">
                <a:solidFill>
                  <a:srgbClr val="000000"/>
                </a:solidFill>
                <a:latin typeface="Times New Roman"/>
                <a:ea typeface="Times New Roman"/>
                <a:cs typeface="Times New Roman"/>
                <a:sym typeface="Times New Roman"/>
              </a:rPr>
              <a:t>callbacks</a:t>
            </a:r>
            <a:r>
              <a:rPr lang="es-ES" sz="1800">
                <a:solidFill>
                  <a:srgbClr val="000000"/>
                </a:solidFill>
                <a:latin typeface="Times New Roman"/>
                <a:ea typeface="Times New Roman"/>
                <a:cs typeface="Times New Roman"/>
                <a:sym typeface="Times New Roman"/>
              </a:rPr>
              <a:t> es mediante el método </a:t>
            </a:r>
            <a:r>
              <a:rPr i="1" lang="es-ES" sz="1800">
                <a:solidFill>
                  <a:srgbClr val="000000"/>
                </a:solidFill>
                <a:latin typeface="Times New Roman"/>
                <a:ea typeface="Times New Roman"/>
                <a:cs typeface="Times New Roman"/>
                <a:sym typeface="Times New Roman"/>
              </a:rPr>
              <a:t>.then(resolveCallback, rejectCallback)</a:t>
            </a:r>
            <a:r>
              <a:rPr lang="es-ES" sz="1800">
                <a:solidFill>
                  <a:srgbClr val="000000"/>
                </a:solidFill>
                <a:latin typeface="Times New Roman"/>
                <a:ea typeface="Times New Roman"/>
                <a:cs typeface="Times New Roman"/>
                <a:sym typeface="Times New Roman"/>
              </a:rPr>
              <a:t>. En terminología de promesas, decimos que una promesa se resuelve con éxito (</a:t>
            </a:r>
            <a:r>
              <a:rPr i="1" lang="es-ES" sz="1800">
                <a:solidFill>
                  <a:srgbClr val="000000"/>
                </a:solidFill>
                <a:latin typeface="Times New Roman"/>
                <a:ea typeface="Times New Roman"/>
                <a:cs typeface="Times New Roman"/>
                <a:sym typeface="Times New Roman"/>
              </a:rPr>
              <a:t>resolved</a:t>
            </a:r>
            <a:r>
              <a:rPr lang="es-ES" sz="1800">
                <a:solidFill>
                  <a:srgbClr val="000000"/>
                </a:solidFill>
                <a:latin typeface="Times New Roman"/>
                <a:ea typeface="Times New Roman"/>
                <a:cs typeface="Times New Roman"/>
                <a:sym typeface="Times New Roman"/>
              </a:rPr>
              <a:t>) o se rechaza con fallo (</a:t>
            </a:r>
            <a:r>
              <a:rPr i="1" lang="es-ES" sz="1800">
                <a:solidFill>
                  <a:srgbClr val="000000"/>
                </a:solidFill>
                <a:latin typeface="Times New Roman"/>
                <a:ea typeface="Times New Roman"/>
                <a:cs typeface="Times New Roman"/>
                <a:sym typeface="Times New Roman"/>
              </a:rPr>
              <a:t>rejected</a:t>
            </a:r>
            <a:r>
              <a:rPr lang="es-ES" sz="1800">
                <a:solidFill>
                  <a:srgbClr val="000000"/>
                </a:solidFill>
                <a:latin typeface="Times New Roman"/>
                <a:ea typeface="Times New Roman"/>
                <a:cs typeface="Times New Roman"/>
                <a:sym typeface="Times New Roman"/>
              </a:rPr>
              <a:t>). </a:t>
            </a:r>
            <a:endParaRPr sz="1800">
              <a:solidFill>
                <a:schemeClr val="dk1"/>
              </a:solidFill>
              <a:latin typeface="Calibri"/>
              <a:ea typeface="Calibri"/>
              <a:cs typeface="Calibri"/>
              <a:sym typeface="Calibri"/>
            </a:endParaRPr>
          </a:p>
        </p:txBody>
      </p:sp>
      <p:sp>
        <p:nvSpPr>
          <p:cNvPr id="343" name="Google Shape;343;p43"/>
          <p:cNvSpPr/>
          <p:nvPr/>
        </p:nvSpPr>
        <p:spPr>
          <a:xfrm>
            <a:off x="1352282" y="2871989"/>
            <a:ext cx="5692462" cy="3863662"/>
          </a:xfrm>
          <a:prstGeom prst="roundRect">
            <a:avLst>
              <a:gd fmla="val 16667" name="adj"/>
            </a:avLst>
          </a:prstGeom>
          <a:gradFill>
            <a:gsLst>
              <a:gs pos="0">
                <a:srgbClr val="FFDC9B"/>
              </a:gs>
              <a:gs pos="50000">
                <a:srgbClr val="FFD68D"/>
              </a:gs>
              <a:gs pos="100000">
                <a:srgbClr val="FFD478"/>
              </a:gs>
            </a:gsLst>
            <a:lin ang="5400000" scaled="0"/>
          </a:gra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800">
                <a:solidFill>
                  <a:schemeClr val="dk1"/>
                </a:solidFill>
                <a:latin typeface="Calibri"/>
                <a:ea typeface="Calibri"/>
                <a:cs typeface="Calibri"/>
                <a:sym typeface="Calibri"/>
              </a:rPr>
              <a:t>const currentURL = document.URL.toString();</a:t>
            </a:r>
            <a:endParaRPr/>
          </a:p>
          <a:p>
            <a:pPr indent="0" lvl="0" marL="0" marR="0" rtl="0" algn="l">
              <a:spcBef>
                <a:spcPts val="0"/>
              </a:spcBef>
              <a:spcAft>
                <a:spcPts val="0"/>
              </a:spcAft>
              <a:buNone/>
            </a:pPr>
            <a:r>
              <a:rPr b="1" lang="es-ES" sz="2800">
                <a:solidFill>
                  <a:schemeClr val="dk1"/>
                </a:solidFill>
                <a:latin typeface="Calibri"/>
                <a:ea typeface="Calibri"/>
                <a:cs typeface="Calibri"/>
                <a:sym typeface="Calibri"/>
              </a:rPr>
              <a:t>const promise = fetch(currentURL);</a:t>
            </a:r>
            <a:endParaRPr/>
          </a:p>
          <a:p>
            <a:pPr indent="0" lvl="0" marL="0" marR="0" rtl="0" algn="l">
              <a:spcBef>
                <a:spcPts val="0"/>
              </a:spcBef>
              <a:spcAft>
                <a:spcPts val="0"/>
              </a:spcAft>
              <a:buNone/>
            </a:pPr>
            <a:r>
              <a:rPr b="1" lang="es-ES" sz="2800">
                <a:solidFill>
                  <a:schemeClr val="dk1"/>
                </a:solidFill>
                <a:latin typeface="Calibri"/>
                <a:ea typeface="Calibri"/>
                <a:cs typeface="Calibri"/>
                <a:sym typeface="Calibri"/>
              </a:rPr>
              <a:t>promise.then(result =&gt; console.log(result),</a:t>
            </a:r>
            <a:endParaRPr/>
          </a:p>
          <a:p>
            <a:pPr indent="0" lvl="0" marL="0" marR="0" rtl="0" algn="l">
              <a:spcBef>
                <a:spcPts val="0"/>
              </a:spcBef>
              <a:spcAft>
                <a:spcPts val="0"/>
              </a:spcAft>
              <a:buNone/>
            </a:pPr>
            <a:r>
              <a:rPr b="1" lang="es-ES" sz="2800">
                <a:solidFill>
                  <a:schemeClr val="dk1"/>
                </a:solidFill>
                <a:latin typeface="Calibri"/>
                <a:ea typeface="Calibri"/>
                <a:cs typeface="Calibri"/>
                <a:sym typeface="Calibri"/>
              </a:rPr>
              <a:t>  e =&gt; console.log(`Error capturado:  ${e}`));</a:t>
            </a:r>
            <a:endParaRPr/>
          </a:p>
        </p:txBody>
      </p:sp>
      <p:sp>
        <p:nvSpPr>
          <p:cNvPr id="344" name="Google Shape;344;p43"/>
          <p:cNvSpPr/>
          <p:nvPr/>
        </p:nvSpPr>
        <p:spPr>
          <a:xfrm>
            <a:off x="7418231" y="932885"/>
            <a:ext cx="3591915" cy="646331"/>
          </a:xfrm>
          <a:prstGeom prst="rect">
            <a:avLst/>
          </a:prstGeom>
          <a:solidFill>
            <a:schemeClr val="lt1"/>
          </a:solidFill>
          <a:ln cap="flat" cmpd="sng" w="12700">
            <a:solidFill>
              <a:schemeClr val="accent2"/>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rgbClr val="000000"/>
                </a:solidFill>
                <a:latin typeface="Times New Roman"/>
                <a:ea typeface="Times New Roman"/>
                <a:cs typeface="Times New Roman"/>
                <a:sym typeface="Times New Roman"/>
              </a:rPr>
              <a:t>Es más legible si lo expresamos de la siguiente manera:</a:t>
            </a:r>
            <a:endParaRPr sz="1800">
              <a:solidFill>
                <a:schemeClr val="dk1"/>
              </a:solidFill>
              <a:latin typeface="Calibri"/>
              <a:ea typeface="Calibri"/>
              <a:cs typeface="Calibri"/>
              <a:sym typeface="Calibri"/>
            </a:endParaRPr>
          </a:p>
        </p:txBody>
      </p:sp>
      <p:sp>
        <p:nvSpPr>
          <p:cNvPr id="345" name="Google Shape;345;p43"/>
          <p:cNvSpPr/>
          <p:nvPr/>
        </p:nvSpPr>
        <p:spPr>
          <a:xfrm>
            <a:off x="7218608" y="1931831"/>
            <a:ext cx="3991160" cy="2820474"/>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fetch(document.URL.toString())</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.then(result =&gt; console.log(result),</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e =&gt; console.log(`Error capturado:  ${e}`));</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s-ES"/>
              <a:t>En el ejemplo anterior, pedimos al servidor que nos provea una URL utilizando la función asíncrona </a:t>
            </a:r>
            <a:r>
              <a:rPr i="1" lang="es-ES"/>
              <a:t>fetch </a:t>
            </a:r>
            <a:r>
              <a:rPr lang="es-ES"/>
              <a:t>y nos devuelve una promesa. </a:t>
            </a:r>
            <a:endParaRPr/>
          </a:p>
          <a:p>
            <a:pPr indent="-228600" lvl="0" marL="228600" rtl="0" algn="l">
              <a:lnSpc>
                <a:spcPct val="90000"/>
              </a:lnSpc>
              <a:spcBef>
                <a:spcPts val="1000"/>
              </a:spcBef>
              <a:spcAft>
                <a:spcPts val="0"/>
              </a:spcAft>
              <a:buClr>
                <a:schemeClr val="dk1"/>
              </a:buClr>
              <a:buSzPts val="2800"/>
              <a:buChar char="•"/>
            </a:pPr>
            <a:r>
              <a:rPr lang="es-ES"/>
              <a:t>Configuramos la promesa con dos callbacks: uno para resolver la promesa, que mostrará la página por consola en caso de éxito, y otro para rechazarla en caso de fallo que mostrará el error asociado.</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5"/>
          <p:cNvSpPr/>
          <p:nvPr/>
        </p:nvSpPr>
        <p:spPr>
          <a:xfrm>
            <a:off x="497983" y="259398"/>
            <a:ext cx="3520225" cy="3477875"/>
          </a:xfrm>
          <a:prstGeom prst="rect">
            <a:avLst/>
          </a:prstGeom>
          <a:solidFill>
            <a:schemeClr val="lt1"/>
          </a:solidFill>
          <a:ln cap="flat" cmpd="sng" w="12700">
            <a:solidFill>
              <a:schemeClr val="accent2"/>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2000">
                <a:solidFill>
                  <a:srgbClr val="000000"/>
                </a:solidFill>
                <a:latin typeface="Times New Roman"/>
                <a:ea typeface="Times New Roman"/>
                <a:cs typeface="Times New Roman"/>
                <a:sym typeface="Times New Roman"/>
              </a:rPr>
              <a:t>Una característica interesante de las promesas es que pueden ser encadenadas. </a:t>
            </a:r>
            <a:endParaRPr sz="20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lang="es-ES" sz="2000">
                <a:solidFill>
                  <a:srgbClr val="000000"/>
                </a:solidFill>
                <a:latin typeface="Times New Roman"/>
                <a:ea typeface="Times New Roman"/>
                <a:cs typeface="Times New Roman"/>
                <a:sym typeface="Times New Roman"/>
              </a:rPr>
              <a:t>Esto es posible gracias a que la llamada </a:t>
            </a:r>
            <a:r>
              <a:rPr i="1" lang="es-ES" sz="2000">
                <a:solidFill>
                  <a:srgbClr val="000000"/>
                </a:solidFill>
                <a:latin typeface="Times New Roman"/>
                <a:ea typeface="Times New Roman"/>
                <a:cs typeface="Times New Roman"/>
                <a:sym typeface="Times New Roman"/>
              </a:rPr>
              <a:t>.then()</a:t>
            </a:r>
            <a:r>
              <a:rPr lang="es-ES" sz="2000">
                <a:solidFill>
                  <a:srgbClr val="000000"/>
                </a:solidFill>
                <a:latin typeface="Times New Roman"/>
                <a:ea typeface="Times New Roman"/>
                <a:cs typeface="Times New Roman"/>
                <a:sym typeface="Times New Roman"/>
              </a:rPr>
              <a:t> también devuelve una promesa. </a:t>
            </a:r>
            <a:endParaRPr sz="20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lang="es-ES" sz="2000">
                <a:solidFill>
                  <a:srgbClr val="000000"/>
                </a:solidFill>
                <a:latin typeface="Times New Roman"/>
                <a:ea typeface="Times New Roman"/>
                <a:cs typeface="Times New Roman"/>
                <a:sym typeface="Times New Roman"/>
              </a:rPr>
              <a:t>Esta nueva promesa devuelta será resuelta con el valor que retorne el </a:t>
            </a:r>
            <a:r>
              <a:rPr i="1" lang="es-ES" sz="2000">
                <a:solidFill>
                  <a:srgbClr val="000000"/>
                </a:solidFill>
                <a:latin typeface="Times New Roman"/>
                <a:ea typeface="Times New Roman"/>
                <a:cs typeface="Times New Roman"/>
                <a:sym typeface="Times New Roman"/>
              </a:rPr>
              <a:t>callback</a:t>
            </a:r>
            <a:r>
              <a:rPr lang="es-ES" sz="2000">
                <a:solidFill>
                  <a:srgbClr val="000000"/>
                </a:solidFill>
                <a:latin typeface="Times New Roman"/>
                <a:ea typeface="Times New Roman"/>
                <a:cs typeface="Times New Roman"/>
                <a:sym typeface="Times New Roman"/>
              </a:rPr>
              <a:t> de resolución original (el que hemos pasado al primer </a:t>
            </a:r>
            <a:r>
              <a:rPr i="1" lang="es-ES" sz="2000">
                <a:solidFill>
                  <a:srgbClr val="000000"/>
                </a:solidFill>
                <a:latin typeface="Times New Roman"/>
                <a:ea typeface="Times New Roman"/>
                <a:cs typeface="Times New Roman"/>
                <a:sym typeface="Times New Roman"/>
              </a:rPr>
              <a:t>then()</a:t>
            </a:r>
            <a:r>
              <a:rPr lang="es-ES" sz="2000">
                <a:solidFill>
                  <a:srgbClr val="000000"/>
                </a:solidFill>
                <a:latin typeface="Times New Roman"/>
                <a:ea typeface="Times New Roman"/>
                <a:cs typeface="Times New Roman"/>
                <a:sym typeface="Times New Roman"/>
              </a:rPr>
              <a:t>)</a:t>
            </a:r>
            <a:endParaRPr sz="2000">
              <a:solidFill>
                <a:schemeClr val="dk1"/>
              </a:solidFill>
              <a:latin typeface="Calibri"/>
              <a:ea typeface="Calibri"/>
              <a:cs typeface="Calibri"/>
              <a:sym typeface="Calibri"/>
            </a:endParaRPr>
          </a:p>
        </p:txBody>
      </p:sp>
      <p:sp>
        <p:nvSpPr>
          <p:cNvPr id="356" name="Google Shape;356;p45"/>
          <p:cNvSpPr/>
          <p:nvPr/>
        </p:nvSpPr>
        <p:spPr>
          <a:xfrm>
            <a:off x="5692462" y="259398"/>
            <a:ext cx="6259132" cy="4159876"/>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fetch(document.URL.toString())</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.then(result =&gt;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console.log(result);</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return "Primer Then";</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e =&gt; console.log(`Error capturado:  ${e}`))</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.then(result =&gt; console.log(`Segundo Then despues de ${result}: La página ya ha debido ser mostrada`),</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e =&gt; console.log(`Error capturado:  ${e}`));</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6"/>
          <p:cNvSpPr/>
          <p:nvPr/>
        </p:nvSpPr>
        <p:spPr>
          <a:xfrm>
            <a:off x="704045" y="185293"/>
            <a:ext cx="4576293" cy="2585323"/>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rgbClr val="000000"/>
                </a:solidFill>
                <a:latin typeface="Times New Roman"/>
                <a:ea typeface="Times New Roman"/>
                <a:cs typeface="Times New Roman"/>
                <a:sym typeface="Times New Roman"/>
              </a:rPr>
              <a:t>Para evitar verbosidad, podemos encadenar las promesas de un modo mas corto, empleando el método </a:t>
            </a:r>
            <a:r>
              <a:rPr i="1" lang="es-ES" sz="1800">
                <a:solidFill>
                  <a:srgbClr val="000000"/>
                </a:solidFill>
                <a:latin typeface="Times New Roman"/>
                <a:ea typeface="Times New Roman"/>
                <a:cs typeface="Times New Roman"/>
                <a:sym typeface="Times New Roman"/>
              </a:rPr>
              <a:t>.catch(rejectCallback)</a:t>
            </a:r>
            <a:r>
              <a:rPr lang="es-ES" sz="1800">
                <a:solidFill>
                  <a:srgbClr val="000000"/>
                </a:solidFill>
                <a:latin typeface="Times New Roman"/>
                <a:ea typeface="Times New Roman"/>
                <a:cs typeface="Times New Roman"/>
                <a:sym typeface="Times New Roman"/>
              </a:rPr>
              <a:t> para catpurar cualquier rechazo que ocurra en cualesquiera de las promesas encadenadas. </a:t>
            </a:r>
            <a:r>
              <a:rPr i="1" lang="es-ES" sz="1800">
                <a:solidFill>
                  <a:srgbClr val="000000"/>
                </a:solidFill>
                <a:latin typeface="Times New Roman"/>
                <a:ea typeface="Times New Roman"/>
                <a:cs typeface="Times New Roman"/>
                <a:sym typeface="Times New Roman"/>
              </a:rPr>
              <a:t>catch(rejectCallback)</a:t>
            </a:r>
            <a:r>
              <a:rPr lang="es-ES" sz="1800">
                <a:solidFill>
                  <a:srgbClr val="000000"/>
                </a:solidFill>
                <a:latin typeface="Times New Roman"/>
                <a:ea typeface="Times New Roman"/>
                <a:cs typeface="Times New Roman"/>
                <a:sym typeface="Times New Roman"/>
              </a:rPr>
              <a:t> es equivalente a </a:t>
            </a:r>
            <a:r>
              <a:rPr i="1" lang="es-ES" sz="1800">
                <a:solidFill>
                  <a:srgbClr val="000000"/>
                </a:solidFill>
                <a:latin typeface="Times New Roman"/>
                <a:ea typeface="Times New Roman"/>
                <a:cs typeface="Times New Roman"/>
                <a:sym typeface="Times New Roman"/>
              </a:rPr>
              <a:t>.then(null, rejectCallback)</a:t>
            </a:r>
            <a:r>
              <a:rPr lang="es-ES" sz="1800">
                <a:solidFill>
                  <a:srgbClr val="000000"/>
                </a:solidFill>
                <a:latin typeface="Times New Roman"/>
                <a:ea typeface="Times New Roman"/>
                <a:cs typeface="Times New Roman"/>
                <a:sym typeface="Times New Roman"/>
              </a:rPr>
              <a:t>. Solo se necesita una única sentencia </a:t>
            </a:r>
            <a:r>
              <a:rPr i="1" lang="es-ES" sz="1800">
                <a:solidFill>
                  <a:srgbClr val="000000"/>
                </a:solidFill>
                <a:latin typeface="Times New Roman"/>
                <a:ea typeface="Times New Roman"/>
                <a:cs typeface="Times New Roman"/>
                <a:sym typeface="Times New Roman"/>
              </a:rPr>
              <a:t>catch()</a:t>
            </a:r>
            <a:r>
              <a:rPr lang="es-ES" sz="1800">
                <a:solidFill>
                  <a:srgbClr val="000000"/>
                </a:solidFill>
                <a:latin typeface="Times New Roman"/>
                <a:ea typeface="Times New Roman"/>
                <a:cs typeface="Times New Roman"/>
                <a:sym typeface="Times New Roman"/>
              </a:rPr>
              <a:t> al final de una cadena de promesas</a:t>
            </a:r>
            <a:endParaRPr sz="1800">
              <a:solidFill>
                <a:schemeClr val="dk1"/>
              </a:solidFill>
              <a:latin typeface="Calibri"/>
              <a:ea typeface="Calibri"/>
              <a:cs typeface="Calibri"/>
              <a:sym typeface="Calibri"/>
            </a:endParaRPr>
          </a:p>
        </p:txBody>
      </p:sp>
      <p:sp>
        <p:nvSpPr>
          <p:cNvPr id="362" name="Google Shape;362;p46"/>
          <p:cNvSpPr/>
          <p:nvPr/>
        </p:nvSpPr>
        <p:spPr>
          <a:xfrm>
            <a:off x="5666704" y="185293"/>
            <a:ext cx="5924282" cy="5133682"/>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800">
                <a:solidFill>
                  <a:schemeClr val="dk1"/>
                </a:solidFill>
                <a:latin typeface="Calibri"/>
                <a:ea typeface="Calibri"/>
                <a:cs typeface="Calibri"/>
                <a:sym typeface="Calibri"/>
              </a:rPr>
              <a:t>fetch(document.URL.toString())</a:t>
            </a:r>
            <a:endParaRPr/>
          </a:p>
          <a:p>
            <a:pPr indent="0" lvl="0" marL="0" marR="0" rtl="0" algn="l">
              <a:spcBef>
                <a:spcPts val="0"/>
              </a:spcBef>
              <a:spcAft>
                <a:spcPts val="0"/>
              </a:spcAft>
              <a:buNone/>
            </a:pPr>
            <a:r>
              <a:rPr b="1" lang="es-ES" sz="2800">
                <a:solidFill>
                  <a:schemeClr val="dk1"/>
                </a:solidFill>
                <a:latin typeface="Calibri"/>
                <a:ea typeface="Calibri"/>
                <a:cs typeface="Calibri"/>
                <a:sym typeface="Calibri"/>
              </a:rPr>
              <a:t>  .then(result =&gt; console.log(result))</a:t>
            </a:r>
            <a:endParaRPr/>
          </a:p>
          <a:p>
            <a:pPr indent="0" lvl="0" marL="0" marR="0" rtl="0" algn="l">
              <a:spcBef>
                <a:spcPts val="0"/>
              </a:spcBef>
              <a:spcAft>
                <a:spcPts val="0"/>
              </a:spcAft>
              <a:buNone/>
            </a:pPr>
            <a:r>
              <a:rPr b="1" lang="es-ES" sz="2800">
                <a:solidFill>
                  <a:schemeClr val="dk1"/>
                </a:solidFill>
                <a:latin typeface="Calibri"/>
                <a:ea typeface="Calibri"/>
                <a:cs typeface="Calibri"/>
                <a:sym typeface="Calibri"/>
              </a:rPr>
              <a:t>  .then(() =&gt; console.log(`Fetch completado, página mostrada`))</a:t>
            </a:r>
            <a:endParaRPr/>
          </a:p>
          <a:p>
            <a:pPr indent="0" lvl="0" marL="0" marR="0" rtl="0" algn="l">
              <a:spcBef>
                <a:spcPts val="0"/>
              </a:spcBef>
              <a:spcAft>
                <a:spcPts val="0"/>
              </a:spcAft>
              <a:buNone/>
            </a:pPr>
            <a:r>
              <a:rPr b="1" lang="es-ES" sz="2800">
                <a:solidFill>
                  <a:schemeClr val="dk1"/>
                </a:solidFill>
                <a:latin typeface="Calibri"/>
                <a:ea typeface="Calibri"/>
                <a:cs typeface="Calibri"/>
                <a:sym typeface="Calibri"/>
              </a:rPr>
              <a:t>  .catch(e =&gt; console.log(`Error capturado:  ${e}`));</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7"/>
          <p:cNvSpPr txBox="1"/>
          <p:nvPr>
            <p:ph type="title"/>
          </p:nvPr>
        </p:nvSpPr>
        <p:spPr>
          <a:xfrm>
            <a:off x="838200" y="365125"/>
            <a:ext cx="10515600" cy="1325563"/>
          </a:xfrm>
          <a:prstGeom prst="rect">
            <a:avLst/>
          </a:prstGeom>
          <a:solidFill>
            <a:schemeClr val="lt1"/>
          </a:solidFill>
          <a:ln cap="flat" cmpd="sng" w="12700">
            <a:solidFill>
              <a:schemeClr val="accent5"/>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solidFill>
                  <a:schemeClr val="dk1"/>
                </a:solidFill>
                <a:latin typeface="Calibri"/>
                <a:ea typeface="Calibri"/>
                <a:cs typeface="Calibri"/>
                <a:sym typeface="Calibri"/>
              </a:rPr>
              <a:t>Composición de promesas</a:t>
            </a:r>
            <a:endParaRPr/>
          </a:p>
        </p:txBody>
      </p:sp>
      <p:sp>
        <p:nvSpPr>
          <p:cNvPr id="368" name="Google Shape;368;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s-ES"/>
              <a:t>Es muy frecuente consumir más de una promesa a la vez y habitualmente es deseable que se ejecuten en paralelo. </a:t>
            </a:r>
            <a:endParaRPr/>
          </a:p>
          <a:p>
            <a:pPr indent="-228600" lvl="0" marL="228600" rtl="0" algn="l">
              <a:lnSpc>
                <a:spcPct val="90000"/>
              </a:lnSpc>
              <a:spcBef>
                <a:spcPts val="1000"/>
              </a:spcBef>
              <a:spcAft>
                <a:spcPts val="0"/>
              </a:spcAft>
              <a:buClr>
                <a:schemeClr val="dk1"/>
              </a:buClr>
              <a:buSzPts val="2800"/>
              <a:buChar char="•"/>
            </a:pPr>
            <a:r>
              <a:rPr lang="es-ES"/>
              <a:t>Es decir, lanzamos varias tareas asíncronas al mismo tiempo y recogemos sus correspondientes promesas a la espera de que una, o todas, se resuelvan.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s-ES"/>
              <a:t>Para estos casos contamos con dos herramientas de composición de gran utilidad:</a:t>
            </a:r>
            <a:endParaRPr/>
          </a:p>
          <a:p>
            <a:pPr indent="-228600" lvl="1" marL="685800" rtl="0" algn="l">
              <a:lnSpc>
                <a:spcPct val="90000"/>
              </a:lnSpc>
              <a:spcBef>
                <a:spcPts val="500"/>
              </a:spcBef>
              <a:spcAft>
                <a:spcPts val="0"/>
              </a:spcAft>
              <a:buClr>
                <a:schemeClr val="dk1"/>
              </a:buClr>
              <a:buSzPts val="2400"/>
              <a:buChar char="•"/>
            </a:pPr>
            <a:r>
              <a:rPr lang="es-ES"/>
              <a:t> </a:t>
            </a:r>
            <a:r>
              <a:rPr i="1" lang="es-ES"/>
              <a:t>Promise.all()</a:t>
            </a:r>
            <a:r>
              <a:rPr lang="es-ES"/>
              <a:t> y </a:t>
            </a:r>
            <a:r>
              <a:rPr i="1" lang="es-ES"/>
              <a:t>Promise.race()</a:t>
            </a:r>
            <a:r>
              <a:rPr lang="es-ES"/>
              <a:t>.</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8"/>
          <p:cNvSpPr/>
          <p:nvPr/>
        </p:nvSpPr>
        <p:spPr>
          <a:xfrm>
            <a:off x="497983" y="278613"/>
            <a:ext cx="4666445" cy="5262979"/>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i="1" lang="es-ES" sz="2400">
                <a:solidFill>
                  <a:srgbClr val="000000"/>
                </a:solidFill>
                <a:latin typeface="Times New Roman"/>
                <a:ea typeface="Times New Roman"/>
                <a:cs typeface="Times New Roman"/>
                <a:sym typeface="Times New Roman"/>
              </a:rPr>
              <a:t>Promise.all()</a:t>
            </a:r>
            <a:r>
              <a:rPr lang="es-ES" sz="2400">
                <a:solidFill>
                  <a:srgbClr val="000000"/>
                </a:solidFill>
                <a:latin typeface="Times New Roman"/>
                <a:ea typeface="Times New Roman"/>
                <a:cs typeface="Times New Roman"/>
                <a:sym typeface="Times New Roman"/>
              </a:rPr>
              <a:t> acepta un array de promesas y devuelve una nueva promesa cuya resolución se completará con éxito una vez que </a:t>
            </a:r>
            <a:r>
              <a:rPr b="1" lang="es-ES" sz="2400">
                <a:solidFill>
                  <a:srgbClr val="000000"/>
                </a:solidFill>
                <a:latin typeface="Times New Roman"/>
                <a:ea typeface="Times New Roman"/>
                <a:cs typeface="Times New Roman"/>
                <a:sym typeface="Times New Roman"/>
              </a:rPr>
              <a:t>todas las promesas originales se hayan resuelto satisfactoriamente</a:t>
            </a:r>
            <a:r>
              <a:rPr lang="es-ES" sz="2400">
                <a:solidFill>
                  <a:srgbClr val="000000"/>
                </a:solidFill>
                <a:latin typeface="Times New Roman"/>
                <a:ea typeface="Times New Roman"/>
                <a:cs typeface="Times New Roman"/>
                <a:sym typeface="Times New Roman"/>
              </a:rPr>
              <a:t>, o en caso de fallo, será rechazada en cuanto una de las promesas originales sea rechazada. </a:t>
            </a:r>
            <a:endParaRPr sz="24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lang="es-ES" sz="2400">
                <a:solidFill>
                  <a:srgbClr val="000000"/>
                </a:solidFill>
                <a:latin typeface="Times New Roman"/>
                <a:ea typeface="Times New Roman"/>
                <a:cs typeface="Times New Roman"/>
                <a:sym typeface="Times New Roman"/>
              </a:rPr>
              <a:t>Esta promesa compuesta, además, nos devolverá un array con los resultados de cada una de las promesas originales. </a:t>
            </a:r>
            <a:endParaRPr sz="2400">
              <a:solidFill>
                <a:schemeClr val="dk1"/>
              </a:solidFill>
              <a:latin typeface="Calibri"/>
              <a:ea typeface="Calibri"/>
              <a:cs typeface="Calibri"/>
              <a:sym typeface="Calibri"/>
            </a:endParaRPr>
          </a:p>
        </p:txBody>
      </p:sp>
      <p:sp>
        <p:nvSpPr>
          <p:cNvPr id="374" name="Google Shape;374;p48"/>
          <p:cNvSpPr/>
          <p:nvPr/>
        </p:nvSpPr>
        <p:spPr>
          <a:xfrm>
            <a:off x="6104586" y="278612"/>
            <a:ext cx="5962918" cy="6212339"/>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const p1 = fetch("URL1_Aqui");</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const p2 = fetch("URL2_Aqui");</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const p3 = fetch("URL3_Aqui");</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Promise.all([p1, p2, p3])</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.then(resultArray =&gt; console.log(resultArray))</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.catch(e =&gt; console.log(`Error capturado:  ${e}`));</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9"/>
          <p:cNvSpPr/>
          <p:nvPr/>
        </p:nvSpPr>
        <p:spPr>
          <a:xfrm>
            <a:off x="394952" y="172414"/>
            <a:ext cx="5027054" cy="6555641"/>
          </a:xfrm>
          <a:prstGeom prst="rect">
            <a:avLst/>
          </a:prstGeom>
          <a:solidFill>
            <a:schemeClr val="lt1"/>
          </a:solidFill>
          <a:ln cap="flat" cmpd="sng" w="12700">
            <a:solidFill>
              <a:schemeClr val="accent5"/>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2800">
                <a:solidFill>
                  <a:srgbClr val="000000"/>
                </a:solidFill>
                <a:latin typeface="Times New Roman"/>
                <a:ea typeface="Times New Roman"/>
                <a:cs typeface="Times New Roman"/>
                <a:sym typeface="Times New Roman"/>
              </a:rPr>
              <a:t>El mecanismo de </a:t>
            </a:r>
            <a:r>
              <a:rPr i="1" lang="es-ES" sz="2800">
                <a:solidFill>
                  <a:srgbClr val="000000"/>
                </a:solidFill>
                <a:latin typeface="Times New Roman"/>
                <a:ea typeface="Times New Roman"/>
                <a:cs typeface="Times New Roman"/>
                <a:sym typeface="Times New Roman"/>
              </a:rPr>
              <a:t>Promise.race()</a:t>
            </a:r>
            <a:r>
              <a:rPr lang="es-ES" sz="2800">
                <a:solidFill>
                  <a:srgbClr val="000000"/>
                </a:solidFill>
                <a:latin typeface="Times New Roman"/>
                <a:ea typeface="Times New Roman"/>
                <a:cs typeface="Times New Roman"/>
                <a:sym typeface="Times New Roman"/>
              </a:rPr>
              <a:t> es similar con la diferencia de un pequeño matiz. </a:t>
            </a:r>
            <a:endParaRPr sz="28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lang="es-ES" sz="2800">
                <a:solidFill>
                  <a:srgbClr val="000000"/>
                </a:solidFill>
                <a:latin typeface="Times New Roman"/>
                <a:ea typeface="Times New Roman"/>
                <a:cs typeface="Times New Roman"/>
                <a:sym typeface="Times New Roman"/>
              </a:rPr>
              <a:t>La promesa compuesta que devuelve </a:t>
            </a:r>
            <a:r>
              <a:rPr i="1" lang="es-ES" sz="2800">
                <a:solidFill>
                  <a:srgbClr val="000000"/>
                </a:solidFill>
                <a:latin typeface="Times New Roman"/>
                <a:ea typeface="Times New Roman"/>
                <a:cs typeface="Times New Roman"/>
                <a:sym typeface="Times New Roman"/>
              </a:rPr>
              <a:t>.race()</a:t>
            </a:r>
            <a:r>
              <a:rPr lang="es-ES" sz="2800">
                <a:solidFill>
                  <a:srgbClr val="000000"/>
                </a:solidFill>
                <a:latin typeface="Times New Roman"/>
                <a:ea typeface="Times New Roman"/>
                <a:cs typeface="Times New Roman"/>
                <a:sym typeface="Times New Roman"/>
              </a:rPr>
              <a:t> será resuelta tan pronto como se resuelva alguna de las promesas originales, ya sea con éxito o fallo. De ahí el nombre del método, es una competición, la primera en terminar gana. Puedes comprobar tu mismo con el ejemplo anterior cual de las 3 URLs tarda menos en cargar</a:t>
            </a:r>
            <a:endParaRPr sz="2800">
              <a:solidFill>
                <a:schemeClr val="dk1"/>
              </a:solidFill>
              <a:latin typeface="Calibri"/>
              <a:ea typeface="Calibri"/>
              <a:cs typeface="Calibri"/>
              <a:sym typeface="Calibri"/>
            </a:endParaRPr>
          </a:p>
        </p:txBody>
      </p:sp>
      <p:sp>
        <p:nvSpPr>
          <p:cNvPr id="380" name="Google Shape;380;p49"/>
          <p:cNvSpPr/>
          <p:nvPr/>
        </p:nvSpPr>
        <p:spPr>
          <a:xfrm>
            <a:off x="7237927" y="334850"/>
            <a:ext cx="4649272" cy="5834130"/>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800">
                <a:solidFill>
                  <a:schemeClr val="dk1"/>
                </a:solidFill>
                <a:latin typeface="Calibri"/>
                <a:ea typeface="Calibri"/>
                <a:cs typeface="Calibri"/>
                <a:sym typeface="Calibri"/>
              </a:rPr>
              <a:t>Promise.race([p1, p2, p3])</a:t>
            </a:r>
            <a:endParaRPr/>
          </a:p>
          <a:p>
            <a:pPr indent="0" lvl="0" marL="0" marR="0" rtl="0" algn="l">
              <a:spcBef>
                <a:spcPts val="0"/>
              </a:spcBef>
              <a:spcAft>
                <a:spcPts val="0"/>
              </a:spcAft>
              <a:buNone/>
            </a:pPr>
            <a:r>
              <a:rPr b="1" lang="es-ES" sz="2800">
                <a:solidFill>
                  <a:schemeClr val="dk1"/>
                </a:solidFill>
                <a:latin typeface="Calibri"/>
                <a:ea typeface="Calibri"/>
                <a:cs typeface="Calibri"/>
                <a:sym typeface="Calibri"/>
              </a:rPr>
              <a:t>  .then(winnerResult =&gt; console.log(winnerResult))</a:t>
            </a:r>
            <a:endParaRPr/>
          </a:p>
          <a:p>
            <a:pPr indent="0" lvl="0" marL="0" marR="0" rtl="0" algn="l">
              <a:spcBef>
                <a:spcPts val="0"/>
              </a:spcBef>
              <a:spcAft>
                <a:spcPts val="0"/>
              </a:spcAft>
              <a:buNone/>
            </a:pPr>
            <a:r>
              <a:rPr b="1" lang="es-ES" sz="2800">
                <a:solidFill>
                  <a:schemeClr val="dk1"/>
                </a:solidFill>
                <a:latin typeface="Calibri"/>
                <a:ea typeface="Calibri"/>
                <a:cs typeface="Calibri"/>
                <a:sym typeface="Calibri"/>
              </a:rPr>
              <a:t>  .catch(e =&gt; console.log(`Error capturado:  ${e}`));</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0"/>
          <p:cNvSpPr txBox="1"/>
          <p:nvPr>
            <p:ph type="title"/>
          </p:nvPr>
        </p:nvSpPr>
        <p:spPr>
          <a:xfrm>
            <a:off x="838200" y="365125"/>
            <a:ext cx="10515600" cy="1325563"/>
          </a:xfrm>
          <a:prstGeom prst="rect">
            <a:avLst/>
          </a:prstGeom>
          <a:solidFill>
            <a:schemeClr val="lt1"/>
          </a:solidFill>
          <a:ln cap="flat" cmpd="sng" w="12700">
            <a:solidFill>
              <a:schemeClr val="accent2"/>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solidFill>
                  <a:schemeClr val="dk1"/>
                </a:solidFill>
                <a:latin typeface="Calibri"/>
                <a:ea typeface="Calibri"/>
                <a:cs typeface="Calibri"/>
                <a:sym typeface="Calibri"/>
              </a:rPr>
              <a:t>Crear promesas</a:t>
            </a:r>
            <a:endParaRPr/>
          </a:p>
        </p:txBody>
      </p:sp>
      <p:sp>
        <p:nvSpPr>
          <p:cNvPr id="386" name="Google Shape;386;p5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s-ES"/>
              <a:t>Una promesa se crea instanciando un nuevo objeto </a:t>
            </a:r>
            <a:r>
              <a:rPr i="1" lang="es-ES"/>
              <a:t>Promise</a:t>
            </a:r>
            <a:r>
              <a:rPr lang="es-ES"/>
              <a:t>. </a:t>
            </a:r>
            <a:endParaRPr/>
          </a:p>
          <a:p>
            <a:pPr indent="-228600" lvl="0" marL="228600" rtl="0" algn="l">
              <a:lnSpc>
                <a:spcPct val="90000"/>
              </a:lnSpc>
              <a:spcBef>
                <a:spcPts val="1000"/>
              </a:spcBef>
              <a:spcAft>
                <a:spcPts val="0"/>
              </a:spcAft>
              <a:buClr>
                <a:schemeClr val="dk1"/>
              </a:buClr>
              <a:buSzPts val="2800"/>
              <a:buChar char="•"/>
            </a:pPr>
            <a:r>
              <a:rPr lang="es-ES"/>
              <a:t>En el momento de la creación, en el constructor, debemos especificar un </a:t>
            </a:r>
            <a:r>
              <a:rPr i="1" lang="es-ES"/>
              <a:t>callback</a:t>
            </a:r>
            <a:r>
              <a:rPr lang="es-ES"/>
              <a:t> que contenga la carga de la promesa, aquello que la promesa debe hacer.</a:t>
            </a:r>
            <a:endParaRPr/>
          </a:p>
          <a:p>
            <a:pPr indent="-228600" lvl="0" marL="228600" rtl="0" algn="l">
              <a:lnSpc>
                <a:spcPct val="90000"/>
              </a:lnSpc>
              <a:spcBef>
                <a:spcPts val="1000"/>
              </a:spcBef>
              <a:spcAft>
                <a:spcPts val="0"/>
              </a:spcAft>
              <a:buClr>
                <a:schemeClr val="dk1"/>
              </a:buClr>
              <a:buSzPts val="2800"/>
              <a:buChar char="•"/>
            </a:pPr>
            <a:r>
              <a:rPr lang="es-ES"/>
              <a:t> Este </a:t>
            </a:r>
            <a:r>
              <a:rPr i="1" lang="es-ES"/>
              <a:t>callback</a:t>
            </a:r>
            <a:r>
              <a:rPr lang="es-ES"/>
              <a:t> nos provee de dos argumentos: </a:t>
            </a:r>
            <a:r>
              <a:rPr i="1" lang="es-ES"/>
              <a:t>resolveCallback </a:t>
            </a:r>
            <a:r>
              <a:rPr lang="es-ES"/>
              <a:t>y </a:t>
            </a:r>
            <a:r>
              <a:rPr i="1" lang="es-ES"/>
              <a:t>rejectCallback</a:t>
            </a:r>
            <a:r>
              <a:rPr lang="es-ES"/>
              <a:t>. </a:t>
            </a:r>
            <a:endParaRPr/>
          </a:p>
          <a:p>
            <a:pPr indent="-228600" lvl="1" marL="685800" rtl="0" algn="l">
              <a:lnSpc>
                <a:spcPct val="90000"/>
              </a:lnSpc>
              <a:spcBef>
                <a:spcPts val="500"/>
              </a:spcBef>
              <a:spcAft>
                <a:spcPts val="0"/>
              </a:spcAft>
              <a:buClr>
                <a:schemeClr val="dk1"/>
              </a:buClr>
              <a:buSzPts val="2400"/>
              <a:buChar char="•"/>
            </a:pPr>
            <a:r>
              <a:rPr lang="es-ES"/>
              <a:t>Son los dos mismos </a:t>
            </a:r>
            <a:r>
              <a:rPr i="1" lang="es-ES"/>
              <a:t>callbacks</a:t>
            </a:r>
            <a:r>
              <a:rPr lang="es-ES"/>
              <a:t> registrados al consumir la promesa. </a:t>
            </a:r>
            <a:endParaRPr/>
          </a:p>
          <a:p>
            <a:pPr indent="-228600" lvl="1" marL="685800" rtl="0" algn="l">
              <a:lnSpc>
                <a:spcPct val="90000"/>
              </a:lnSpc>
              <a:spcBef>
                <a:spcPts val="500"/>
              </a:spcBef>
              <a:spcAft>
                <a:spcPts val="0"/>
              </a:spcAft>
              <a:buClr>
                <a:schemeClr val="dk1"/>
              </a:buClr>
              <a:buSzPts val="2400"/>
              <a:buChar char="•"/>
            </a:pPr>
            <a:r>
              <a:rPr lang="es-ES"/>
              <a:t>De este modo, depende de ti como desarrollador llamar a </a:t>
            </a:r>
            <a:r>
              <a:rPr i="1" lang="es-ES"/>
              <a:t>resolveCallback </a:t>
            </a:r>
            <a:r>
              <a:rPr lang="es-ES"/>
              <a:t>y </a:t>
            </a:r>
            <a:r>
              <a:rPr i="1" lang="es-ES"/>
              <a:t>rejectCallback </a:t>
            </a:r>
            <a:r>
              <a:rPr lang="es-ES"/>
              <a:t>cuando sea necesario para señalizar que la promesa ha sido completada con éxito o con fallo.</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1"/>
          <p:cNvSpPr/>
          <p:nvPr/>
        </p:nvSpPr>
        <p:spPr>
          <a:xfrm>
            <a:off x="626173" y="514013"/>
            <a:ext cx="46794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rgbClr val="000000"/>
                </a:solidFill>
                <a:latin typeface="Times New Roman"/>
                <a:ea typeface="Times New Roman"/>
                <a:cs typeface="Times New Roman"/>
                <a:sym typeface="Times New Roman"/>
              </a:rPr>
              <a:t>Una plantilla típica para la creación de promesas</a:t>
            </a:r>
            <a:endParaRPr sz="1800">
              <a:solidFill>
                <a:schemeClr val="dk1"/>
              </a:solidFill>
              <a:latin typeface="Calibri"/>
              <a:ea typeface="Calibri"/>
              <a:cs typeface="Calibri"/>
              <a:sym typeface="Calibri"/>
            </a:endParaRPr>
          </a:p>
        </p:txBody>
      </p:sp>
      <p:sp>
        <p:nvSpPr>
          <p:cNvPr id="392" name="Google Shape;392;p51"/>
          <p:cNvSpPr/>
          <p:nvPr/>
        </p:nvSpPr>
        <p:spPr>
          <a:xfrm>
            <a:off x="5305659" y="283334"/>
            <a:ext cx="6542904" cy="6323527"/>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const myAsyncFunction = () =&gt;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return new Promise((resolve, reject) =&gt; {</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 Carga de la promesa (normalmente tareas asíncronas).</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if ( /* evalúa condición */ )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resolve(`Éxito!`);</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 else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reject(`Fallo!`);</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2"/>
          <p:cNvSpPr/>
          <p:nvPr/>
        </p:nvSpPr>
        <p:spPr>
          <a:xfrm>
            <a:off x="515155" y="631064"/>
            <a:ext cx="9131121" cy="5628067"/>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const checkServer = (url) =&gt;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return new Promise((resolve, reject) =&gt; {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fetch(url)</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.then(response =&gt; resolve(`Estado del Servidor: ${response.status === 200 ? "OK" : "NOT OK"}`))</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.catch(() =&gt; reject(`Error al localizar URL`));</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checkServer(document.URL.toString())</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.then(result =&gt; console.log(result))</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.catch(e =&gt; console.log(e));</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3"/>
          <p:cNvSpPr/>
          <p:nvPr/>
        </p:nvSpPr>
        <p:spPr>
          <a:xfrm>
            <a:off x="5022760" y="399244"/>
            <a:ext cx="6864440" cy="5847010"/>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800">
                <a:solidFill>
                  <a:schemeClr val="dk1"/>
                </a:solidFill>
                <a:latin typeface="Calibri"/>
                <a:ea typeface="Calibri"/>
                <a:cs typeface="Calibri"/>
                <a:sym typeface="Calibri"/>
              </a:rPr>
              <a:t>const delay = time =&gt; new Promise(resolveCallback =&gt; setTimeout(resolveCallback, time));</a:t>
            </a:r>
            <a:endParaRPr/>
          </a:p>
          <a:p>
            <a:pPr indent="0" lvl="0" marL="0" marR="0" rtl="0" algn="l">
              <a:spcBef>
                <a:spcPts val="0"/>
              </a:spcBef>
              <a:spcAft>
                <a:spcPts val="0"/>
              </a:spcAft>
              <a:buNone/>
            </a:pPr>
            <a:r>
              <a:t/>
            </a:r>
            <a:endParaRPr b="1" sz="28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800">
                <a:solidFill>
                  <a:schemeClr val="dk1"/>
                </a:solidFill>
                <a:latin typeface="Calibri"/>
                <a:ea typeface="Calibri"/>
                <a:cs typeface="Calibri"/>
                <a:sym typeface="Calibri"/>
              </a:rPr>
              <a:t>delay(3000)</a:t>
            </a:r>
            <a:endParaRPr/>
          </a:p>
          <a:p>
            <a:pPr indent="0" lvl="0" marL="0" marR="0" rtl="0" algn="l">
              <a:spcBef>
                <a:spcPts val="0"/>
              </a:spcBef>
              <a:spcAft>
                <a:spcPts val="0"/>
              </a:spcAft>
              <a:buNone/>
            </a:pPr>
            <a:r>
              <a:rPr b="1" lang="es-ES" sz="2800">
                <a:solidFill>
                  <a:schemeClr val="dk1"/>
                </a:solidFill>
                <a:latin typeface="Calibri"/>
                <a:ea typeface="Calibri"/>
                <a:cs typeface="Calibri"/>
                <a:sym typeface="Calibri"/>
              </a:rPr>
              <a:t>  .then(() =&gt; console.log(`Este es un retardo de al menos 3 segundos`))</a:t>
            </a:r>
            <a:endParaRPr/>
          </a:p>
          <a:p>
            <a:pPr indent="0" lvl="0" marL="0" marR="0" rtl="0" algn="l">
              <a:spcBef>
                <a:spcPts val="0"/>
              </a:spcBef>
              <a:spcAft>
                <a:spcPts val="0"/>
              </a:spcAft>
              <a:buNone/>
            </a:pPr>
            <a:r>
              <a:rPr b="1" lang="es-ES" sz="2800">
                <a:solidFill>
                  <a:schemeClr val="dk1"/>
                </a:solidFill>
                <a:latin typeface="Calibri"/>
                <a:ea typeface="Calibri"/>
                <a:cs typeface="Calibri"/>
                <a:sym typeface="Calibri"/>
              </a:rPr>
              <a:t>  .catch(() =&gt; console.log(`Retardo fallido`));</a:t>
            </a:r>
            <a:endParaRPr/>
          </a:p>
        </p:txBody>
      </p:sp>
      <p:sp>
        <p:nvSpPr>
          <p:cNvPr id="403" name="Google Shape;403;p53"/>
          <p:cNvSpPr/>
          <p:nvPr/>
        </p:nvSpPr>
        <p:spPr>
          <a:xfrm>
            <a:off x="742682" y="1009745"/>
            <a:ext cx="3481588" cy="3046988"/>
          </a:xfrm>
          <a:prstGeom prst="rect">
            <a:avLst/>
          </a:prstGeom>
          <a:solidFill>
            <a:schemeClr val="lt1"/>
          </a:solidFill>
          <a:ln cap="flat" cmpd="sng" w="12700">
            <a:solidFill>
              <a:schemeClr val="accent5"/>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rgbClr val="000000"/>
                </a:solidFill>
                <a:latin typeface="Times New Roman"/>
                <a:ea typeface="Times New Roman"/>
                <a:cs typeface="Times New Roman"/>
                <a:sym typeface="Times New Roman"/>
              </a:rPr>
              <a:t>Las promesas son muy útiles para envolver antiguas APIs asíncronas que funcionan a través de </a:t>
            </a:r>
            <a:r>
              <a:rPr i="1" lang="es-ES" sz="2400">
                <a:solidFill>
                  <a:srgbClr val="000000"/>
                </a:solidFill>
                <a:latin typeface="Times New Roman"/>
                <a:ea typeface="Times New Roman"/>
                <a:cs typeface="Times New Roman"/>
                <a:sym typeface="Times New Roman"/>
              </a:rPr>
              <a:t>callbacks</a:t>
            </a:r>
            <a:r>
              <a:rPr lang="es-ES" sz="2400">
                <a:solidFill>
                  <a:srgbClr val="000000"/>
                </a:solidFill>
                <a:latin typeface="Times New Roman"/>
                <a:ea typeface="Times New Roman"/>
                <a:cs typeface="Times New Roman"/>
                <a:sym typeface="Times New Roman"/>
              </a:rPr>
              <a:t> puros. </a:t>
            </a:r>
            <a:endParaRPr sz="24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lang="es-ES" sz="2400">
                <a:solidFill>
                  <a:srgbClr val="000000"/>
                </a:solidFill>
                <a:latin typeface="Times New Roman"/>
                <a:ea typeface="Times New Roman"/>
                <a:cs typeface="Times New Roman"/>
                <a:sym typeface="Times New Roman"/>
              </a:rPr>
              <a:t>De esta forma podemos hacerlas funcionar via promesas:</a:t>
            </a:r>
            <a:endParaRPr sz="2400">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54"/>
          <p:cNvSpPr txBox="1"/>
          <p:nvPr>
            <p:ph type="title"/>
          </p:nvPr>
        </p:nvSpPr>
        <p:spPr>
          <a:xfrm>
            <a:off x="838200" y="365125"/>
            <a:ext cx="10515600" cy="1325563"/>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s-ES">
                <a:solidFill>
                  <a:schemeClr val="dk1"/>
                </a:solidFill>
                <a:latin typeface="Calibri"/>
                <a:ea typeface="Calibri"/>
                <a:cs typeface="Calibri"/>
                <a:sym typeface="Calibri"/>
              </a:rPr>
              <a:t>Asincronía en Promesas</a:t>
            </a:r>
            <a:endParaRPr/>
          </a:p>
        </p:txBody>
      </p:sp>
      <p:sp>
        <p:nvSpPr>
          <p:cNvPr id="409" name="Google Shape;409;p5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s-ES"/>
              <a:t>Si tratásemos las promesas con la misma prioridad que el resto de mensajes asíncronos, retrasariamos innecesariamente la ejecución de sus </a:t>
            </a:r>
            <a:r>
              <a:rPr i="1" lang="es-ES"/>
              <a:t>callbacks</a:t>
            </a:r>
            <a:r>
              <a:rPr lang="es-ES"/>
              <a:t>. </a:t>
            </a:r>
            <a:endParaRPr/>
          </a:p>
          <a:p>
            <a:pPr indent="-228600" lvl="0" marL="228600" rtl="0" algn="l">
              <a:lnSpc>
                <a:spcPct val="90000"/>
              </a:lnSpc>
              <a:spcBef>
                <a:spcPts val="1000"/>
              </a:spcBef>
              <a:spcAft>
                <a:spcPts val="0"/>
              </a:spcAft>
              <a:buClr>
                <a:schemeClr val="dk1"/>
              </a:buClr>
              <a:buSzPct val="100000"/>
              <a:buChar char="•"/>
            </a:pPr>
            <a:r>
              <a:rPr lang="es-ES"/>
              <a:t>Podrían acabar '</a:t>
            </a:r>
            <a:r>
              <a:rPr i="1" lang="es-ES"/>
              <a:t>perdiéndose</a:t>
            </a:r>
            <a:r>
              <a:rPr lang="es-ES"/>
              <a:t>' entre otros mensajes en la cola de eventos, como por ejemplo mensajes de renderizado o eventos de usuario. </a:t>
            </a:r>
            <a:endParaRPr/>
          </a:p>
          <a:p>
            <a:pPr indent="-228600" lvl="0" marL="228600" rtl="0" algn="l">
              <a:lnSpc>
                <a:spcPct val="90000"/>
              </a:lnSpc>
              <a:spcBef>
                <a:spcPts val="1000"/>
              </a:spcBef>
              <a:spcAft>
                <a:spcPts val="0"/>
              </a:spcAft>
              <a:buClr>
                <a:schemeClr val="dk1"/>
              </a:buClr>
              <a:buSzPct val="100000"/>
              <a:buChar char="•"/>
            </a:pPr>
            <a:r>
              <a:rPr lang="es-ES"/>
              <a:t>Dado que las promesas suelen ser fruto de la interacción con importantes APIs asíncronas, y por tanto, son una parte importante de la que se sirve tu aplicación, no queremos que se retrasen. </a:t>
            </a:r>
            <a:endParaRPr/>
          </a:p>
          <a:p>
            <a:pPr indent="-228600" lvl="0" marL="228600" rtl="0" algn="l">
              <a:lnSpc>
                <a:spcPct val="90000"/>
              </a:lnSpc>
              <a:spcBef>
                <a:spcPts val="1000"/>
              </a:spcBef>
              <a:spcAft>
                <a:spcPts val="0"/>
              </a:spcAft>
              <a:buClr>
                <a:schemeClr val="dk1"/>
              </a:buClr>
              <a:buSzPct val="100000"/>
              <a:buChar char="•"/>
            </a:pPr>
            <a:r>
              <a:rPr lang="es-ES"/>
              <a:t>Es preferible darles una prioridad mayor. </a:t>
            </a:r>
            <a:endParaRPr/>
          </a:p>
          <a:p>
            <a:pPr indent="-228600" lvl="0" marL="228600" rtl="0" algn="l">
              <a:lnSpc>
                <a:spcPct val="90000"/>
              </a:lnSpc>
              <a:spcBef>
                <a:spcPts val="1000"/>
              </a:spcBef>
              <a:spcAft>
                <a:spcPts val="0"/>
              </a:spcAft>
              <a:buClr>
                <a:schemeClr val="dk1"/>
              </a:buClr>
              <a:buSzPct val="100000"/>
              <a:buChar char="•"/>
            </a:pPr>
            <a:r>
              <a:rPr lang="es-ES"/>
              <a:t>El estándar ECMAScript describe el uso de una cola especial, llamada </a:t>
            </a:r>
            <a:r>
              <a:rPr b="1" i="1" lang="es-ES"/>
              <a:t>cola de microtareas</a:t>
            </a:r>
            <a:r>
              <a:rPr lang="es-ES"/>
              <a:t> o </a:t>
            </a:r>
            <a:r>
              <a:rPr b="1" i="1" lang="es-ES"/>
              <a:t>microtask queue</a:t>
            </a:r>
            <a:r>
              <a:rPr lang="es-ES"/>
              <a:t>, con una mayor prioridad dedicada a la gestión de </a:t>
            </a:r>
            <a:r>
              <a:rPr i="1" lang="es-ES"/>
              <a:t>callbacks</a:t>
            </a:r>
            <a:r>
              <a:rPr lang="es-ES"/>
              <a:t> de promesas.</a:t>
            </a:r>
            <a:endParaRPr/>
          </a:p>
          <a:p>
            <a:pPr indent="-228600" lvl="0" marL="228600" rtl="0" algn="l">
              <a:lnSpc>
                <a:spcPct val="90000"/>
              </a:lnSpc>
              <a:spcBef>
                <a:spcPts val="1000"/>
              </a:spcBef>
              <a:spcAft>
                <a:spcPts val="0"/>
              </a:spcAft>
              <a:buClr>
                <a:schemeClr val="dk1"/>
              </a:buClr>
              <a:buSzPct val="100000"/>
              <a:buChar char="•"/>
            </a:pPr>
            <a:r>
              <a:rPr lang="es-ES"/>
              <a:t>La idea detrás de una segunda cola de </a:t>
            </a:r>
            <a:r>
              <a:rPr i="1" lang="es-ES"/>
              <a:t>alta prioridad</a:t>
            </a:r>
            <a:r>
              <a:rPr lang="es-ES"/>
              <a:t> es que los </a:t>
            </a:r>
            <a:r>
              <a:rPr i="1" lang="es-ES"/>
              <a:t>callbacks</a:t>
            </a:r>
            <a:r>
              <a:rPr lang="es-ES"/>
              <a:t> de cada promesa se almacenen aquí, de modo que cuando un nuevo </a:t>
            </a:r>
            <a:r>
              <a:rPr i="1" lang="es-ES"/>
              <a:t>tick</a:t>
            </a:r>
            <a:r>
              <a:rPr lang="es-ES"/>
              <a:t> del bucle de eventos tenga lugar, esta cola prioritaria será atendida primero. </a:t>
            </a:r>
            <a:endParaRPr/>
          </a:p>
          <a:p>
            <a:pPr indent="-228600" lvl="0" marL="228600" rtl="0" algn="l">
              <a:lnSpc>
                <a:spcPct val="90000"/>
              </a:lnSpc>
              <a:spcBef>
                <a:spcPts val="1000"/>
              </a:spcBef>
              <a:spcAft>
                <a:spcPts val="0"/>
              </a:spcAft>
              <a:buClr>
                <a:schemeClr val="dk1"/>
              </a:buClr>
              <a:buSzPct val="100000"/>
              <a:buChar char="•"/>
            </a:pPr>
            <a:r>
              <a:rPr lang="es-ES"/>
              <a:t>Asi pues, nos aseguramos que los </a:t>
            </a:r>
            <a:r>
              <a:rPr i="1" lang="es-ES"/>
              <a:t>callbacks</a:t>
            </a:r>
            <a:r>
              <a:rPr lang="es-ES"/>
              <a:t> de las promesas se ejecutarán en un futuro, si, </a:t>
            </a:r>
            <a:r>
              <a:rPr b="1" lang="es-ES"/>
              <a:t>pero lo antes posible</a:t>
            </a:r>
            <a:endParaRPr/>
          </a:p>
          <a:p>
            <a:pPr indent="-10414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55"/>
          <p:cNvSpPr/>
          <p:nvPr/>
        </p:nvSpPr>
        <p:spPr>
          <a:xfrm>
            <a:off x="343437" y="1609860"/>
            <a:ext cx="5447764" cy="4864264"/>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 LLamada asíncrona con callback puro.</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setTimeout(() =&gt; console.log("1"), 0); </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LLamada asíncrona con promesa.</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Promise.resolve().then(() =&gt; console.log("2"));</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2</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1</a:t>
            </a:r>
            <a:endParaRPr/>
          </a:p>
        </p:txBody>
      </p:sp>
      <p:sp>
        <p:nvSpPr>
          <p:cNvPr id="415" name="Google Shape;415;p55"/>
          <p:cNvSpPr/>
          <p:nvPr/>
        </p:nvSpPr>
        <p:spPr>
          <a:xfrm>
            <a:off x="343437" y="594455"/>
            <a:ext cx="6096000" cy="646331"/>
          </a:xfrm>
          <a:prstGeom prst="rect">
            <a:avLst/>
          </a:prstGeom>
          <a:solidFill>
            <a:schemeClr val="accent2"/>
          </a:solidFill>
          <a:ln cap="flat" cmpd="sng" w="12700">
            <a:solidFill>
              <a:srgbClr val="AC5B23"/>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rgbClr val="000000"/>
                </a:solidFill>
                <a:latin typeface="Times New Roman"/>
                <a:ea typeface="Times New Roman"/>
                <a:cs typeface="Times New Roman"/>
                <a:sym typeface="Times New Roman"/>
              </a:rPr>
              <a:t>Por este motivo, las trazas del siguiente ejemplo aparecen en un orden inesperado si sólo considerasemos una única cola:</a:t>
            </a:r>
            <a:endParaRPr sz="1800">
              <a:solidFill>
                <a:schemeClr val="lt1"/>
              </a:solidFill>
              <a:latin typeface="Calibri"/>
              <a:ea typeface="Calibri"/>
              <a:cs typeface="Calibri"/>
              <a:sym typeface="Calibri"/>
            </a:endParaRPr>
          </a:p>
        </p:txBody>
      </p:sp>
      <p:sp>
        <p:nvSpPr>
          <p:cNvPr id="416" name="Google Shape;416;p55"/>
          <p:cNvSpPr/>
          <p:nvPr/>
        </p:nvSpPr>
        <p:spPr>
          <a:xfrm>
            <a:off x="7289442" y="1944710"/>
            <a:ext cx="4803820" cy="2677656"/>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2800">
                <a:solidFill>
                  <a:srgbClr val="000000"/>
                </a:solidFill>
                <a:latin typeface="Times New Roman"/>
                <a:ea typeface="Times New Roman"/>
                <a:cs typeface="Times New Roman"/>
                <a:sym typeface="Times New Roman"/>
              </a:rPr>
              <a:t>El </a:t>
            </a:r>
            <a:r>
              <a:rPr i="1" lang="es-ES" sz="2800">
                <a:solidFill>
                  <a:srgbClr val="000000"/>
                </a:solidFill>
                <a:latin typeface="Times New Roman"/>
                <a:ea typeface="Times New Roman"/>
                <a:cs typeface="Times New Roman"/>
                <a:sym typeface="Times New Roman"/>
              </a:rPr>
              <a:t>callback</a:t>
            </a:r>
            <a:r>
              <a:rPr lang="es-ES" sz="2800">
                <a:solidFill>
                  <a:srgbClr val="000000"/>
                </a:solidFill>
                <a:latin typeface="Times New Roman"/>
                <a:ea typeface="Times New Roman"/>
                <a:cs typeface="Times New Roman"/>
                <a:sym typeface="Times New Roman"/>
              </a:rPr>
              <a:t> de la promesa (</a:t>
            </a:r>
            <a:r>
              <a:rPr i="1" lang="es-ES" sz="2800">
                <a:solidFill>
                  <a:srgbClr val="000000"/>
                </a:solidFill>
                <a:latin typeface="Times New Roman"/>
                <a:ea typeface="Times New Roman"/>
                <a:cs typeface="Times New Roman"/>
                <a:sym typeface="Times New Roman"/>
              </a:rPr>
              <a:t>() =&gt; console.log("2")</a:t>
            </a:r>
            <a:r>
              <a:rPr lang="es-ES" sz="2800">
                <a:solidFill>
                  <a:srgbClr val="000000"/>
                </a:solidFill>
                <a:latin typeface="Times New Roman"/>
                <a:ea typeface="Times New Roman"/>
                <a:cs typeface="Times New Roman"/>
                <a:sym typeface="Times New Roman"/>
              </a:rPr>
              <a:t>) tiene mayor prioridad que el </a:t>
            </a:r>
            <a:r>
              <a:rPr i="1" lang="es-ES" sz="2800">
                <a:solidFill>
                  <a:srgbClr val="000000"/>
                </a:solidFill>
                <a:latin typeface="Times New Roman"/>
                <a:ea typeface="Times New Roman"/>
                <a:cs typeface="Times New Roman"/>
                <a:sym typeface="Times New Roman"/>
              </a:rPr>
              <a:t>callback</a:t>
            </a:r>
            <a:r>
              <a:rPr lang="es-ES" sz="2800">
                <a:solidFill>
                  <a:srgbClr val="000000"/>
                </a:solidFill>
                <a:latin typeface="Times New Roman"/>
                <a:ea typeface="Times New Roman"/>
                <a:cs typeface="Times New Roman"/>
                <a:sym typeface="Times New Roman"/>
              </a:rPr>
              <a:t> del </a:t>
            </a:r>
            <a:r>
              <a:rPr i="1" lang="es-ES" sz="2800">
                <a:solidFill>
                  <a:srgbClr val="000000"/>
                </a:solidFill>
                <a:latin typeface="Times New Roman"/>
                <a:ea typeface="Times New Roman"/>
                <a:cs typeface="Times New Roman"/>
                <a:sym typeface="Times New Roman"/>
              </a:rPr>
              <a:t>setTimeout </a:t>
            </a:r>
            <a:endParaRPr i="1" sz="28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lang="es-ES" sz="2800">
                <a:solidFill>
                  <a:srgbClr val="000000"/>
                </a:solidFill>
                <a:latin typeface="Times New Roman"/>
                <a:ea typeface="Times New Roman"/>
                <a:cs typeface="Times New Roman"/>
                <a:sym typeface="Times New Roman"/>
              </a:rPr>
              <a:t>gracias a la cola de microtareas, y por ello es procesado primero.</a:t>
            </a:r>
            <a:endParaRPr sz="280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6"/>
          <p:cNvSpPr txBox="1"/>
          <p:nvPr>
            <p:ph type="title"/>
          </p:nvPr>
        </p:nvSpPr>
        <p:spPr>
          <a:xfrm>
            <a:off x="838200" y="365125"/>
            <a:ext cx="10515600" cy="1325563"/>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solidFill>
                  <a:schemeClr val="dk1"/>
                </a:solidFill>
                <a:latin typeface="Calibri"/>
                <a:ea typeface="Calibri"/>
                <a:cs typeface="Calibri"/>
                <a:sym typeface="Calibri"/>
              </a:rPr>
              <a:t>Generadores</a:t>
            </a:r>
            <a:endParaRPr/>
          </a:p>
        </p:txBody>
      </p:sp>
      <p:sp>
        <p:nvSpPr>
          <p:cNvPr id="422" name="Google Shape;422;p5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s-ES"/>
              <a:t>El motivo es que el patrón </a:t>
            </a:r>
            <a:r>
              <a:rPr i="1" lang="es-ES"/>
              <a:t>async </a:t>
            </a:r>
            <a:r>
              <a:rPr lang="es-ES"/>
              <a:t>/ </a:t>
            </a:r>
            <a:r>
              <a:rPr i="1" lang="es-ES"/>
              <a:t>await </a:t>
            </a:r>
            <a:r>
              <a:rPr lang="es-ES"/>
              <a:t>se sustenta en el concepto de generadores para gestionar las promesas de forma transparente al desarrollador.</a:t>
            </a:r>
            <a:endParaRPr/>
          </a:p>
          <a:p>
            <a:pPr indent="-228600" lvl="0" marL="228600" rtl="0" algn="l">
              <a:lnSpc>
                <a:spcPct val="90000"/>
              </a:lnSpc>
              <a:spcBef>
                <a:spcPts val="1000"/>
              </a:spcBef>
              <a:spcAft>
                <a:spcPts val="0"/>
              </a:spcAft>
              <a:buClr>
                <a:schemeClr val="dk1"/>
              </a:buClr>
              <a:buSzPts val="2800"/>
              <a:buChar char="•"/>
            </a:pPr>
            <a:r>
              <a:rPr lang="es-ES"/>
              <a:t>Los generadores (funciones generadoras) son un </a:t>
            </a:r>
            <a:r>
              <a:rPr b="1" lang="es-ES"/>
              <a:t>tipo especial de funciones</a:t>
            </a:r>
            <a:r>
              <a:rPr lang="es-ES"/>
              <a:t> con una poderosa cualidad: son funciones de las que </a:t>
            </a:r>
            <a:r>
              <a:rPr b="1" lang="es-ES"/>
              <a:t>se puede salir y volver a entrar</a:t>
            </a:r>
            <a:r>
              <a:rPr lang="es-ES"/>
              <a:t>, manteniendo su contexto tal cual lo habíamos dejado. </a:t>
            </a:r>
            <a:endParaRPr/>
          </a:p>
          <a:p>
            <a:pPr indent="-228600" lvl="1" marL="685800" rtl="0" algn="l">
              <a:lnSpc>
                <a:spcPct val="90000"/>
              </a:lnSpc>
              <a:spcBef>
                <a:spcPts val="500"/>
              </a:spcBef>
              <a:spcAft>
                <a:spcPts val="0"/>
              </a:spcAft>
              <a:buClr>
                <a:schemeClr val="dk1"/>
              </a:buClr>
              <a:buSzPts val="2400"/>
              <a:buChar char="•"/>
            </a:pPr>
            <a:r>
              <a:rPr lang="es-ES"/>
              <a:t>Es decir, son funciones cuya ejecución podemos </a:t>
            </a:r>
            <a:r>
              <a:rPr b="1" lang="es-ES"/>
              <a:t>pausar</a:t>
            </a:r>
            <a:r>
              <a:rPr lang="es-ES"/>
              <a:t>.</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7"/>
          <p:cNvSpPr/>
          <p:nvPr/>
        </p:nvSpPr>
        <p:spPr>
          <a:xfrm>
            <a:off x="695461" y="1004552"/>
            <a:ext cx="4687910" cy="3116687"/>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function* countThree() {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yield 1;</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yield 2;</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yield 3;</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a:t>
            </a:r>
            <a:endParaRPr b="1" sz="2400">
              <a:solidFill>
                <a:schemeClr val="dk1"/>
              </a:solidFill>
              <a:latin typeface="Calibri"/>
              <a:ea typeface="Calibri"/>
              <a:cs typeface="Calibri"/>
              <a:sym typeface="Calibri"/>
            </a:endParaRPr>
          </a:p>
        </p:txBody>
      </p:sp>
      <p:sp>
        <p:nvSpPr>
          <p:cNvPr id="428" name="Google Shape;428;p57"/>
          <p:cNvSpPr/>
          <p:nvPr/>
        </p:nvSpPr>
        <p:spPr>
          <a:xfrm>
            <a:off x="5636653" y="149824"/>
            <a:ext cx="6096000" cy="2862322"/>
          </a:xfrm>
          <a:prstGeom prst="rect">
            <a:avLst/>
          </a:prstGeom>
          <a:gradFill>
            <a:gsLst>
              <a:gs pos="0">
                <a:srgbClr val="F7BCA2"/>
              </a:gs>
              <a:gs pos="50000">
                <a:srgbClr val="F4B093"/>
              </a:gs>
              <a:gs pos="100000">
                <a:srgbClr val="F7A47F"/>
              </a:gs>
            </a:gsLst>
            <a:lin ang="5400000" scaled="0"/>
          </a:gradFill>
          <a:ln cap="flat" cmpd="sng" w="9525">
            <a:solidFill>
              <a:schemeClr val="accent2"/>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2000">
                <a:solidFill>
                  <a:srgbClr val="000000"/>
                </a:solidFill>
                <a:latin typeface="Times New Roman"/>
                <a:ea typeface="Times New Roman"/>
                <a:cs typeface="Times New Roman"/>
                <a:sym typeface="Times New Roman"/>
              </a:rPr>
              <a:t>Un generador sería  como un algoritmo en donde podemos definir puntos de pausa, de modo que al salir se puede devolver un valor, y al ponerlo en marcha de nuevo es posible pasar un argumento del exterior hacia el algoritmo. </a:t>
            </a:r>
            <a:endParaRPr sz="20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lang="es-ES" sz="2000">
                <a:solidFill>
                  <a:srgbClr val="000000"/>
                </a:solidFill>
                <a:latin typeface="Times New Roman"/>
                <a:ea typeface="Times New Roman"/>
                <a:cs typeface="Times New Roman"/>
                <a:sym typeface="Times New Roman"/>
              </a:rPr>
              <a:t>Por tanto, existe una comunicación dúplex entre una función generadora y su contexto exterior. </a:t>
            </a:r>
            <a:endParaRPr sz="20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lang="es-ES" sz="2000">
                <a:solidFill>
                  <a:srgbClr val="000000"/>
                </a:solidFill>
                <a:latin typeface="Times New Roman"/>
                <a:ea typeface="Times New Roman"/>
                <a:cs typeface="Times New Roman"/>
                <a:sym typeface="Times New Roman"/>
              </a:rPr>
              <a:t>El responsable de este comportamiento es la palabra clave </a:t>
            </a:r>
            <a:r>
              <a:rPr i="1" lang="es-ES" sz="2000">
                <a:solidFill>
                  <a:srgbClr val="000000"/>
                </a:solidFill>
                <a:latin typeface="Times New Roman"/>
                <a:ea typeface="Times New Roman"/>
                <a:cs typeface="Times New Roman"/>
                <a:sym typeface="Times New Roman"/>
              </a:rPr>
              <a:t>yield</a:t>
            </a:r>
            <a:r>
              <a:rPr lang="es-ES" sz="2000">
                <a:solidFill>
                  <a:srgbClr val="000000"/>
                </a:solidFill>
                <a:latin typeface="Times New Roman"/>
                <a:ea typeface="Times New Roman"/>
                <a:cs typeface="Times New Roman"/>
                <a:sym typeface="Times New Roman"/>
              </a:rPr>
              <a:t>. </a:t>
            </a:r>
            <a:endParaRPr sz="2000">
              <a:solidFill>
                <a:schemeClr val="dk1"/>
              </a:solidFill>
              <a:latin typeface="Calibri"/>
              <a:ea typeface="Calibri"/>
              <a:cs typeface="Calibri"/>
              <a:sym typeface="Calibri"/>
            </a:endParaRPr>
          </a:p>
        </p:txBody>
      </p:sp>
      <p:sp>
        <p:nvSpPr>
          <p:cNvPr id="429" name="Google Shape;429;p57"/>
          <p:cNvSpPr/>
          <p:nvPr/>
        </p:nvSpPr>
        <p:spPr>
          <a:xfrm>
            <a:off x="1193442" y="4544894"/>
            <a:ext cx="9161172" cy="1323439"/>
          </a:xfrm>
          <a:prstGeom prst="rect">
            <a:avLst/>
          </a:prstGeom>
          <a:gradFill>
            <a:gsLst>
              <a:gs pos="0">
                <a:srgbClr val="B0CAE9"/>
              </a:gs>
              <a:gs pos="50000">
                <a:srgbClr val="A1C1E4"/>
              </a:gs>
              <a:gs pos="100000">
                <a:srgbClr val="90B8E4"/>
              </a:gs>
            </a:gsLst>
            <a:lin ang="5400000" scaled="0"/>
          </a:gradFill>
          <a:ln cap="flat" cmpd="sng" w="9525">
            <a:solidFill>
              <a:schemeClr val="accent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2000">
                <a:solidFill>
                  <a:srgbClr val="000000"/>
                </a:solidFill>
                <a:latin typeface="Times New Roman"/>
                <a:ea typeface="Times New Roman"/>
                <a:cs typeface="Times New Roman"/>
                <a:sym typeface="Times New Roman"/>
              </a:rPr>
              <a:t>Esta función cuenta hasta tres, devolviendo en cada pausa que marca </a:t>
            </a:r>
            <a:r>
              <a:rPr i="1" lang="es-ES" sz="2000">
                <a:solidFill>
                  <a:srgbClr val="000000"/>
                </a:solidFill>
                <a:latin typeface="Times New Roman"/>
                <a:ea typeface="Times New Roman"/>
                <a:cs typeface="Times New Roman"/>
                <a:sym typeface="Times New Roman"/>
              </a:rPr>
              <a:t>yield </a:t>
            </a:r>
            <a:r>
              <a:rPr lang="es-ES" sz="2000">
                <a:solidFill>
                  <a:srgbClr val="000000"/>
                </a:solidFill>
                <a:latin typeface="Times New Roman"/>
                <a:ea typeface="Times New Roman"/>
                <a:cs typeface="Times New Roman"/>
                <a:sym typeface="Times New Roman"/>
              </a:rPr>
              <a:t>el valor que tiene a la derecha. Es decir, en la primera iteración el valor 1, en la segunda el valor 2 y en la tercera el 3. </a:t>
            </a:r>
            <a:endParaRPr sz="20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lang="es-ES" sz="2000">
                <a:solidFill>
                  <a:srgbClr val="000000"/>
                </a:solidFill>
                <a:latin typeface="Times New Roman"/>
                <a:ea typeface="Times New Roman"/>
                <a:cs typeface="Times New Roman"/>
                <a:sym typeface="Times New Roman"/>
              </a:rPr>
              <a:t>Pero, ¿cómo controlamos el flujo de ejecución de un generador desde el exterior?</a:t>
            </a:r>
            <a:endParaRPr sz="2000">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58"/>
          <p:cNvSpPr txBox="1"/>
          <p:nvPr>
            <p:ph type="title"/>
          </p:nvPr>
        </p:nvSpPr>
        <p:spPr>
          <a:xfrm>
            <a:off x="838200" y="365125"/>
            <a:ext cx="10515600" cy="1325563"/>
          </a:xfrm>
          <a:prstGeom prst="rect">
            <a:avLst/>
          </a:prstGeom>
          <a:solidFill>
            <a:schemeClr val="lt1"/>
          </a:solidFill>
          <a:ln cap="flat" cmpd="sng" w="12700">
            <a:solidFill>
              <a:schemeClr val="accent2"/>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solidFill>
                  <a:schemeClr val="dk1"/>
                </a:solidFill>
                <a:latin typeface="Calibri"/>
                <a:ea typeface="Calibri"/>
                <a:cs typeface="Calibri"/>
                <a:sym typeface="Calibri"/>
              </a:rPr>
              <a:t>Iteradores</a:t>
            </a:r>
            <a:endParaRPr/>
          </a:p>
        </p:txBody>
      </p:sp>
      <p:sp>
        <p:nvSpPr>
          <p:cNvPr id="435" name="Google Shape;435;p5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s-ES"/>
              <a:t>Los generadores se apoyan en objetos iteradores. </a:t>
            </a:r>
            <a:endParaRPr/>
          </a:p>
          <a:p>
            <a:pPr indent="-228600" lvl="0" marL="228600" rtl="0" algn="l">
              <a:lnSpc>
                <a:spcPct val="90000"/>
              </a:lnSpc>
              <a:spcBef>
                <a:spcPts val="1000"/>
              </a:spcBef>
              <a:spcAft>
                <a:spcPts val="0"/>
              </a:spcAft>
              <a:buClr>
                <a:schemeClr val="dk1"/>
              </a:buClr>
              <a:buSzPts val="2800"/>
              <a:buChar char="•"/>
            </a:pPr>
            <a:r>
              <a:rPr lang="es-ES"/>
              <a:t>Estos objetos permiten recorrer una secuencia o colección gracias a que mantienen un registro de su posición actual dentro de la secuencia. </a:t>
            </a:r>
            <a:endParaRPr/>
          </a:p>
          <a:p>
            <a:pPr indent="-228600" lvl="0" marL="228600" rtl="0" algn="l">
              <a:lnSpc>
                <a:spcPct val="90000"/>
              </a:lnSpc>
              <a:spcBef>
                <a:spcPts val="1000"/>
              </a:spcBef>
              <a:spcAft>
                <a:spcPts val="0"/>
              </a:spcAft>
              <a:buClr>
                <a:schemeClr val="dk1"/>
              </a:buClr>
              <a:buSzPts val="2800"/>
              <a:buChar char="•"/>
            </a:pPr>
            <a:r>
              <a:rPr lang="es-ES"/>
              <a:t>En la interfaz de un objeto iterable encontramos métodos como </a:t>
            </a:r>
            <a:r>
              <a:rPr i="1" lang="es-ES"/>
              <a:t>.next()</a:t>
            </a:r>
            <a:r>
              <a:rPr lang="es-ES"/>
              <a:t> que permiten avanzar al elemento siguiente. </a:t>
            </a:r>
            <a:endParaRPr/>
          </a:p>
          <a:p>
            <a:pPr indent="-228600" lvl="0" marL="228600" rtl="0" algn="l">
              <a:lnSpc>
                <a:spcPct val="90000"/>
              </a:lnSpc>
              <a:spcBef>
                <a:spcPts val="1000"/>
              </a:spcBef>
              <a:spcAft>
                <a:spcPts val="0"/>
              </a:spcAft>
              <a:buClr>
                <a:schemeClr val="dk1"/>
              </a:buClr>
              <a:buSzPts val="2800"/>
              <a:buChar char="•"/>
            </a:pPr>
            <a:r>
              <a:rPr lang="es-ES"/>
              <a:t>Asi pues, cuando una función generadora retorna lo hace inmediatamente, sin ejecutarse, devolviendo un objeto iterable. Gracias a este iterable podemos iniciar la primera ejecución, y las sucesivas, llamando a </a:t>
            </a:r>
            <a:r>
              <a:rPr i="1" lang="es-ES"/>
              <a:t>.next()</a:t>
            </a:r>
            <a:r>
              <a:rPr lang="es-ES"/>
              <a:t> y haciendo que la ejecución avance hasta encontrar el siguiente </a:t>
            </a:r>
            <a:r>
              <a:rPr i="1" lang="es-ES"/>
              <a:t>yield </a:t>
            </a:r>
            <a:r>
              <a:rPr lang="es-ES"/>
              <a:t>en el generador.</a:t>
            </a:r>
            <a:endParaRPr/>
          </a:p>
          <a:p>
            <a:pPr indent="-50800" lvl="0" marL="228600" rtl="0" algn="l">
              <a:lnSpc>
                <a:spcPct val="90000"/>
              </a:lnSpc>
              <a:spcBef>
                <a:spcPts val="1000"/>
              </a:spcBef>
              <a:spcAft>
                <a:spcPts val="0"/>
              </a:spcAft>
              <a:buClr>
                <a:schemeClr val="dk1"/>
              </a:buClr>
              <a:buSzPts val="2800"/>
              <a:buNone/>
            </a:pPr>
            <a:r>
              <a:t/>
            </a:r>
            <a:endParaRPr/>
          </a:p>
        </p:txBody>
      </p:sp>
      <p:sp>
        <p:nvSpPr>
          <p:cNvPr id="436" name="Google Shape;436;p58"/>
          <p:cNvSpPr/>
          <p:nvPr/>
        </p:nvSpPr>
        <p:spPr>
          <a:xfrm>
            <a:off x="6040192" y="231820"/>
            <a:ext cx="4584878" cy="1458868"/>
          </a:xfrm>
          <a:prstGeom prst="roundRect">
            <a:avLst>
              <a:gd fmla="val 16667" name="adj"/>
            </a:avLst>
          </a:prstGeom>
          <a:solidFill>
            <a:schemeClr val="accent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1" marL="0" marR="0" rtl="0" algn="ctr">
              <a:spcBef>
                <a:spcPts val="0"/>
              </a:spcBef>
              <a:spcAft>
                <a:spcPts val="0"/>
              </a:spcAft>
              <a:buNone/>
            </a:pPr>
            <a:r>
              <a:rPr b="0" i="0" lang="es-ES" sz="2400" u="none" cap="none" strike="noStrike">
                <a:solidFill>
                  <a:schemeClr val="lt1"/>
                </a:solidFill>
                <a:latin typeface="Calibri"/>
                <a:ea typeface="Calibri"/>
                <a:cs typeface="Calibri"/>
                <a:sym typeface="Calibri"/>
              </a:rPr>
              <a:t>Los </a:t>
            </a:r>
            <a:r>
              <a:rPr b="0" i="1" lang="es-ES" sz="2400" u="none" cap="none" strike="noStrike">
                <a:solidFill>
                  <a:schemeClr val="lt1"/>
                </a:solidFill>
                <a:latin typeface="Calibri"/>
                <a:ea typeface="Calibri"/>
                <a:cs typeface="Calibri"/>
                <a:sym typeface="Calibri"/>
              </a:rPr>
              <a:t>arrays </a:t>
            </a:r>
            <a:r>
              <a:rPr b="0" i="0" lang="es-ES" sz="2400" u="none" cap="none" strike="noStrike">
                <a:solidFill>
                  <a:schemeClr val="lt1"/>
                </a:solidFill>
                <a:latin typeface="Calibri"/>
                <a:ea typeface="Calibri"/>
                <a:cs typeface="Calibri"/>
                <a:sym typeface="Calibri"/>
              </a:rPr>
              <a:t>o los mapas, por ejemplo, son iterables por naturaleza.</a:t>
            </a:r>
            <a:endParaRPr/>
          </a:p>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9"/>
          <p:cNvSpPr/>
          <p:nvPr/>
        </p:nvSpPr>
        <p:spPr>
          <a:xfrm>
            <a:off x="5396248" y="489397"/>
            <a:ext cx="6091707" cy="5434885"/>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function* countThree() {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yield 1;</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yield 2;</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yield 3;</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const generator = countThree();</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generator.next(); // {value: 1, done: false}</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generator.next(); // {value: 2, done: false}</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generator.next(); // {value: 3, done: false}</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generator.next(); // {value: undefined, done: true}</a:t>
            </a:r>
            <a:endParaRPr/>
          </a:p>
        </p:txBody>
      </p:sp>
      <p:sp>
        <p:nvSpPr>
          <p:cNvPr id="442" name="Google Shape;442;p59"/>
          <p:cNvSpPr/>
          <p:nvPr/>
        </p:nvSpPr>
        <p:spPr>
          <a:xfrm>
            <a:off x="304800" y="489397"/>
            <a:ext cx="3816439" cy="6463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rgbClr val="000000"/>
                </a:solidFill>
                <a:latin typeface="Times New Roman"/>
                <a:ea typeface="Times New Roman"/>
                <a:cs typeface="Times New Roman"/>
                <a:sym typeface="Times New Roman"/>
              </a:rPr>
              <a:t>Ahora si, el ejemplo anterior podría ejecutarse del siguiente modo</a:t>
            </a:r>
            <a:endParaRPr sz="1800">
              <a:solidFill>
                <a:schemeClr val="dk1"/>
              </a:solidFill>
              <a:latin typeface="Calibri"/>
              <a:ea typeface="Calibri"/>
              <a:cs typeface="Calibri"/>
              <a:sym typeface="Calibri"/>
            </a:endParaRPr>
          </a:p>
        </p:txBody>
      </p:sp>
      <p:sp>
        <p:nvSpPr>
          <p:cNvPr id="443" name="Google Shape;443;p59"/>
          <p:cNvSpPr/>
          <p:nvPr/>
        </p:nvSpPr>
        <p:spPr>
          <a:xfrm>
            <a:off x="304800" y="1708374"/>
            <a:ext cx="3983865" cy="4401205"/>
          </a:xfrm>
          <a:prstGeom prst="rect">
            <a:avLst/>
          </a:prstGeom>
          <a:solidFill>
            <a:schemeClr val="accent1"/>
          </a:solidFill>
          <a:ln cap="flat" cmpd="sng" w="19050">
            <a:solidFill>
              <a:schemeClr val="lt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2800">
                <a:solidFill>
                  <a:srgbClr val="000000"/>
                </a:solidFill>
                <a:latin typeface="Times New Roman"/>
                <a:ea typeface="Times New Roman"/>
                <a:cs typeface="Times New Roman"/>
                <a:sym typeface="Times New Roman"/>
              </a:rPr>
              <a:t>El valor que devuelve cada llamada a </a:t>
            </a:r>
            <a:r>
              <a:rPr i="1" lang="es-ES" sz="2800">
                <a:solidFill>
                  <a:srgbClr val="000000"/>
                </a:solidFill>
                <a:latin typeface="Times New Roman"/>
                <a:ea typeface="Times New Roman"/>
                <a:cs typeface="Times New Roman"/>
                <a:sym typeface="Times New Roman"/>
              </a:rPr>
              <a:t>.next()</a:t>
            </a:r>
            <a:r>
              <a:rPr lang="es-ES" sz="2800">
                <a:solidFill>
                  <a:srgbClr val="000000"/>
                </a:solidFill>
                <a:latin typeface="Times New Roman"/>
                <a:ea typeface="Times New Roman"/>
                <a:cs typeface="Times New Roman"/>
                <a:sym typeface="Times New Roman"/>
              </a:rPr>
              <a:t> no es únicamente el valor retornado por </a:t>
            </a:r>
            <a:r>
              <a:rPr i="1" lang="es-ES" sz="2800">
                <a:solidFill>
                  <a:srgbClr val="000000"/>
                </a:solidFill>
                <a:latin typeface="Times New Roman"/>
                <a:ea typeface="Times New Roman"/>
                <a:cs typeface="Times New Roman"/>
                <a:sym typeface="Times New Roman"/>
              </a:rPr>
              <a:t>yield</a:t>
            </a:r>
            <a:r>
              <a:rPr lang="es-ES" sz="2800">
                <a:solidFill>
                  <a:srgbClr val="000000"/>
                </a:solidFill>
                <a:latin typeface="Times New Roman"/>
                <a:ea typeface="Times New Roman"/>
                <a:cs typeface="Times New Roman"/>
                <a:sym typeface="Times New Roman"/>
              </a:rPr>
              <a:t>, sino un objeto que se compone de dos propiedades: dicho valor de retorno y un </a:t>
            </a:r>
            <a:r>
              <a:rPr i="1" lang="es-ES" sz="2800">
                <a:solidFill>
                  <a:srgbClr val="000000"/>
                </a:solidFill>
                <a:latin typeface="Times New Roman"/>
                <a:ea typeface="Times New Roman"/>
                <a:cs typeface="Times New Roman"/>
                <a:sym typeface="Times New Roman"/>
              </a:rPr>
              <a:t>flag </a:t>
            </a:r>
            <a:r>
              <a:rPr lang="es-ES" sz="2800">
                <a:solidFill>
                  <a:srgbClr val="000000"/>
                </a:solidFill>
                <a:latin typeface="Times New Roman"/>
                <a:ea typeface="Times New Roman"/>
                <a:cs typeface="Times New Roman"/>
                <a:sym typeface="Times New Roman"/>
              </a:rPr>
              <a:t>booleano que indica si la secuencia se ha agotado</a:t>
            </a:r>
            <a:endParaRPr sz="2800">
              <a:solidFill>
                <a:schemeClr val="lt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60"/>
          <p:cNvSpPr/>
          <p:nvPr/>
        </p:nvSpPr>
        <p:spPr>
          <a:xfrm>
            <a:off x="360607" y="128789"/>
            <a:ext cx="7495505" cy="6426557"/>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1800">
                <a:solidFill>
                  <a:schemeClr val="dk1"/>
                </a:solidFill>
                <a:latin typeface="Calibri"/>
                <a:ea typeface="Calibri"/>
                <a:cs typeface="Calibri"/>
                <a:sym typeface="Calibri"/>
              </a:rPr>
              <a:t>function* famousNames() {</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  console.log(`Devuelvo "Luke"`);</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  let received = yield "Luke";</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  console.log(`Recibo "${received}" y devuelvo "Homer"`);</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  received = yield "Homer";</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  console.log(`Recibo "${received}" y devuelvo "Bugs"`);</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  received = yield "Bugs";</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  console.log(`Recibo "${received}"`)</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const generator = famousNames();  </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let returned = generator.next();</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returned = generator.next(`${returned.value} Skywalker`);</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returned = generator.next(`${returned.value} Simpson`);</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returned = generator.next(`${returned.value} Bunny`);</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generator.next();</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 Devuelvo "Luke"</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 Recibo "Luke Skywalker" y devuelvo "Homer"</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 Recibo "Homer Simpson" y devuelvo "Bugs"</a:t>
            </a:r>
            <a:endParaRPr/>
          </a:p>
          <a:p>
            <a:pPr indent="0" lvl="0" marL="0" marR="0" rtl="0" algn="l">
              <a:spcBef>
                <a:spcPts val="0"/>
              </a:spcBef>
              <a:spcAft>
                <a:spcPts val="0"/>
              </a:spcAft>
              <a:buNone/>
            </a:pPr>
            <a:r>
              <a:rPr b="1" lang="es-ES" sz="1800">
                <a:solidFill>
                  <a:schemeClr val="dk1"/>
                </a:solidFill>
                <a:latin typeface="Calibri"/>
                <a:ea typeface="Calibri"/>
                <a:cs typeface="Calibri"/>
                <a:sym typeface="Calibri"/>
              </a:rPr>
              <a:t>// Recibo "Bugs Bunny"</a:t>
            </a:r>
            <a:endParaRPr/>
          </a:p>
        </p:txBody>
      </p:sp>
      <p:sp>
        <p:nvSpPr>
          <p:cNvPr id="449" name="Google Shape;449;p60"/>
          <p:cNvSpPr/>
          <p:nvPr/>
        </p:nvSpPr>
        <p:spPr>
          <a:xfrm>
            <a:off x="8415582" y="330489"/>
            <a:ext cx="3147015" cy="584775"/>
          </a:xfrm>
          <a:prstGeom prst="rect">
            <a:avLst/>
          </a:prstGeom>
          <a:solidFill>
            <a:schemeClr val="accent1"/>
          </a:solidFill>
          <a:ln cap="flat" cmpd="sng" w="12700">
            <a:solidFill>
              <a:srgbClr val="42719B"/>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3200">
                <a:solidFill>
                  <a:srgbClr val="000000"/>
                </a:solidFill>
                <a:latin typeface="Times New Roman"/>
                <a:ea typeface="Times New Roman"/>
                <a:cs typeface="Times New Roman"/>
                <a:sym typeface="Times New Roman"/>
              </a:rPr>
              <a:t>Entrada y Salida</a:t>
            </a:r>
            <a:endParaRPr b="1" i="0" sz="3200">
              <a:solidFill>
                <a:srgbClr val="000000"/>
              </a:solidFill>
              <a:latin typeface="Times New Roman"/>
              <a:ea typeface="Times New Roman"/>
              <a:cs typeface="Times New Roman"/>
              <a:sym typeface="Times New Roman"/>
            </a:endParaRPr>
          </a:p>
        </p:txBody>
      </p:sp>
      <p:sp>
        <p:nvSpPr>
          <p:cNvPr id="450" name="Google Shape;450;p60"/>
          <p:cNvSpPr/>
          <p:nvPr/>
        </p:nvSpPr>
        <p:spPr>
          <a:xfrm>
            <a:off x="8143117" y="1373523"/>
            <a:ext cx="3691944" cy="4832092"/>
          </a:xfrm>
          <a:prstGeom prst="rect">
            <a:avLst/>
          </a:prstGeom>
          <a:solidFill>
            <a:schemeClr val="accent1"/>
          </a:solidFill>
          <a:ln cap="flat" cmpd="sng" w="19050">
            <a:solidFill>
              <a:schemeClr val="lt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2800">
                <a:solidFill>
                  <a:srgbClr val="000000"/>
                </a:solidFill>
                <a:latin typeface="Times New Roman"/>
                <a:ea typeface="Times New Roman"/>
                <a:cs typeface="Times New Roman"/>
                <a:sym typeface="Times New Roman"/>
              </a:rPr>
              <a:t>Observa que la palabra clave yield desempeña una doble función. Determina que valor es devuelto, aquello que esté a su derecha, pero además sirve como placeholder para el argumento de entrada (que es pasado mediante el método .next()).</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61"/>
          <p:cNvSpPr txBox="1"/>
          <p:nvPr>
            <p:ph type="title"/>
          </p:nvPr>
        </p:nvSpPr>
        <p:spPr>
          <a:xfrm>
            <a:off x="838200" y="365125"/>
            <a:ext cx="10515600" cy="1325563"/>
          </a:xfrm>
          <a:prstGeom prst="rect">
            <a:avLst/>
          </a:prstGeom>
          <a:solidFill>
            <a:schemeClr val="lt1"/>
          </a:solidFill>
          <a:ln cap="flat" cmpd="sng" w="12700">
            <a:solidFill>
              <a:schemeClr val="accent6"/>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solidFill>
                  <a:schemeClr val="dk1"/>
                </a:solidFill>
                <a:latin typeface="Calibri"/>
                <a:ea typeface="Calibri"/>
                <a:cs typeface="Calibri"/>
                <a:sym typeface="Calibri"/>
              </a:rPr>
              <a:t>Asincronía con generadores</a:t>
            </a:r>
            <a:endParaRPr/>
          </a:p>
        </p:txBody>
      </p:sp>
      <p:sp>
        <p:nvSpPr>
          <p:cNvPr id="456" name="Google Shape;456;p6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s-ES"/>
              <a:t>Los generadores son inherentemente síncronos. Cuando un generador se ejecuta, lo hace en </a:t>
            </a:r>
            <a:r>
              <a:rPr i="1" lang="es-ES"/>
              <a:t>thread</a:t>
            </a:r>
            <a:r>
              <a:rPr lang="es-ES"/>
              <a:t> princial, consume CPU como el resto de instrucciones de tu aplicación. </a:t>
            </a:r>
            <a:endParaRPr/>
          </a:p>
          <a:p>
            <a:pPr indent="-228600" lvl="1" marL="685800" rtl="0" algn="l">
              <a:lnSpc>
                <a:spcPct val="90000"/>
              </a:lnSpc>
              <a:spcBef>
                <a:spcPts val="500"/>
              </a:spcBef>
              <a:spcAft>
                <a:spcPts val="0"/>
              </a:spcAft>
              <a:buClr>
                <a:schemeClr val="dk1"/>
              </a:buClr>
              <a:buSzPct val="100000"/>
              <a:buChar char="•"/>
            </a:pPr>
            <a:r>
              <a:rPr lang="es-ES"/>
              <a:t>Por tanto, lo que hemos visto hasta sobre generadores no comporta ningún patrón asíncrono, sino todo lo contrario, una forma de controlar un flujo de ejecución síncrono, esto es, iniciarlo y resumirlo bajo demanda.</a:t>
            </a:r>
            <a:endParaRPr/>
          </a:p>
          <a:p>
            <a:pPr indent="-228600" lvl="0" marL="228600" rtl="0" algn="l">
              <a:lnSpc>
                <a:spcPct val="90000"/>
              </a:lnSpc>
              <a:spcBef>
                <a:spcPts val="1000"/>
              </a:spcBef>
              <a:spcAft>
                <a:spcPts val="0"/>
              </a:spcAft>
              <a:buClr>
                <a:srgbClr val="FF0000"/>
              </a:buClr>
              <a:buSzPct val="100000"/>
              <a:buChar char="•"/>
            </a:pPr>
            <a:r>
              <a:rPr b="1" lang="es-ES">
                <a:solidFill>
                  <a:srgbClr val="FF0000"/>
                </a:solidFill>
              </a:rPr>
              <a:t>La clave reside en combinar los generadores con las promesas</a:t>
            </a:r>
            <a:r>
              <a:rPr lang="es-ES"/>
              <a:t>. </a:t>
            </a:r>
            <a:endParaRPr/>
          </a:p>
          <a:p>
            <a:pPr indent="-228600" lvl="0" marL="228600" rtl="0" algn="l">
              <a:lnSpc>
                <a:spcPct val="90000"/>
              </a:lnSpc>
              <a:spcBef>
                <a:spcPts val="1000"/>
              </a:spcBef>
              <a:spcAft>
                <a:spcPts val="0"/>
              </a:spcAft>
              <a:buClr>
                <a:schemeClr val="dk1"/>
              </a:buClr>
              <a:buSzPct val="100000"/>
              <a:buChar char="•"/>
            </a:pPr>
            <a:r>
              <a:rPr lang="es-ES"/>
              <a:t>El resultado es una herramienta tremendamente útil. </a:t>
            </a:r>
            <a:endParaRPr/>
          </a:p>
          <a:p>
            <a:pPr indent="-228600" lvl="1" marL="685800" rtl="0" algn="l">
              <a:lnSpc>
                <a:spcPct val="90000"/>
              </a:lnSpc>
              <a:spcBef>
                <a:spcPts val="500"/>
              </a:spcBef>
              <a:spcAft>
                <a:spcPts val="0"/>
              </a:spcAft>
              <a:buClr>
                <a:schemeClr val="dk1"/>
              </a:buClr>
              <a:buSzPct val="100000"/>
              <a:buChar char="•"/>
            </a:pPr>
            <a:r>
              <a:rPr lang="es-ES"/>
              <a:t>Imagina que un generador devuelve una promesa en cada una de sus ejecuciones. </a:t>
            </a:r>
            <a:endParaRPr/>
          </a:p>
          <a:p>
            <a:pPr indent="-228600" lvl="1" marL="685800" rtl="0" algn="l">
              <a:lnSpc>
                <a:spcPct val="90000"/>
              </a:lnSpc>
              <a:spcBef>
                <a:spcPts val="500"/>
              </a:spcBef>
              <a:spcAft>
                <a:spcPts val="0"/>
              </a:spcAft>
              <a:buClr>
                <a:schemeClr val="dk1"/>
              </a:buClr>
              <a:buSzPct val="100000"/>
              <a:buChar char="•"/>
            </a:pPr>
            <a:r>
              <a:rPr lang="es-ES"/>
              <a:t>Como se pausa con cada retorno, podríamos programarlo para "esperar" a dicha promesa y continuar una vez se haya resuelto. </a:t>
            </a:r>
            <a:endParaRPr/>
          </a:p>
          <a:p>
            <a:pPr indent="-228600" lvl="1" marL="685800" rtl="0" algn="l">
              <a:lnSpc>
                <a:spcPct val="90000"/>
              </a:lnSpc>
              <a:spcBef>
                <a:spcPts val="500"/>
              </a:spcBef>
              <a:spcAft>
                <a:spcPts val="0"/>
              </a:spcAft>
              <a:buClr>
                <a:schemeClr val="dk1"/>
              </a:buClr>
              <a:buSzPct val="100000"/>
              <a:buChar char="•"/>
            </a:pPr>
            <a:r>
              <a:rPr lang="es-ES"/>
              <a:t>De este modo, </a:t>
            </a:r>
            <a:r>
              <a:rPr b="1" lang="es-ES"/>
              <a:t>podríamos expresar de forma síncrona un flujo de código asíncrono</a:t>
            </a:r>
            <a:r>
              <a:rPr lang="es-ES"/>
              <a:t>. </a:t>
            </a:r>
            <a:endParaRPr/>
          </a:p>
          <a:p>
            <a:pPr indent="-228600" lvl="1" marL="685800" rtl="0" algn="l">
              <a:lnSpc>
                <a:spcPct val="90000"/>
              </a:lnSpc>
              <a:spcBef>
                <a:spcPts val="500"/>
              </a:spcBef>
              <a:spcAft>
                <a:spcPts val="0"/>
              </a:spcAft>
              <a:buClr>
                <a:schemeClr val="dk1"/>
              </a:buClr>
              <a:buSzPct val="100000"/>
              <a:buChar char="•"/>
            </a:pPr>
            <a:r>
              <a:rPr lang="es-ES"/>
              <a:t>Aunque vamos a omitir un ejemplo de implementación debido a la complejidad, esta es la base que se esconde en el siguiente patrón.</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62"/>
          <p:cNvSpPr txBox="1"/>
          <p:nvPr>
            <p:ph type="title"/>
          </p:nvPr>
        </p:nvSpPr>
        <p:spPr>
          <a:xfrm>
            <a:off x="838200" y="365125"/>
            <a:ext cx="10515600" cy="1325563"/>
          </a:xfrm>
          <a:prstGeom prst="rect">
            <a:avLst/>
          </a:prstGeom>
          <a:solidFill>
            <a:schemeClr val="lt1"/>
          </a:solidFill>
          <a:ln cap="flat" cmpd="sng" w="12700">
            <a:solidFill>
              <a:schemeClr val="accent3"/>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s-ES">
                <a:solidFill>
                  <a:schemeClr val="dk1"/>
                </a:solidFill>
                <a:latin typeface="Calibri"/>
                <a:ea typeface="Calibri"/>
                <a:cs typeface="Calibri"/>
                <a:sym typeface="Calibri"/>
              </a:rPr>
              <a:t>Async / Await</a:t>
            </a:r>
            <a:endParaRPr/>
          </a:p>
        </p:txBody>
      </p:sp>
      <p:sp>
        <p:nvSpPr>
          <p:cNvPr id="462" name="Google Shape;462;p6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lang="es-ES"/>
              <a:t>Las promesas supusieron un gran salto en Javascript al introducir una mejora sustancial sobre los </a:t>
            </a:r>
            <a:r>
              <a:rPr i="1" lang="es-ES"/>
              <a:t>callbacks</a:t>
            </a:r>
            <a:r>
              <a:rPr lang="es-ES"/>
              <a:t> y un manejo más elegante de nuestras tareas asíncronas. </a:t>
            </a:r>
            <a:endParaRPr/>
          </a:p>
          <a:p>
            <a:pPr indent="-228600" lvl="0" marL="228600" rtl="0" algn="l">
              <a:lnSpc>
                <a:spcPct val="90000"/>
              </a:lnSpc>
              <a:spcBef>
                <a:spcPts val="1000"/>
              </a:spcBef>
              <a:spcAft>
                <a:spcPts val="0"/>
              </a:spcAft>
              <a:buClr>
                <a:schemeClr val="dk1"/>
              </a:buClr>
              <a:buSzPct val="100000"/>
              <a:buChar char="•"/>
            </a:pPr>
            <a:r>
              <a:rPr lang="es-ES"/>
              <a:t>Sin embargo, también pueden llegar a ser tediosas y verbosas a medida que se requieren más y más </a:t>
            </a:r>
            <a:r>
              <a:rPr i="1" lang="es-ES"/>
              <a:t>.then()</a:t>
            </a:r>
            <a:r>
              <a:rPr lang="es-ES"/>
              <a:t>. </a:t>
            </a:r>
            <a:endParaRPr/>
          </a:p>
          <a:p>
            <a:pPr indent="-228600" lvl="0" marL="228600" rtl="0" algn="l">
              <a:lnSpc>
                <a:spcPct val="90000"/>
              </a:lnSpc>
              <a:spcBef>
                <a:spcPts val="1000"/>
              </a:spcBef>
              <a:spcAft>
                <a:spcPts val="0"/>
              </a:spcAft>
              <a:buClr>
                <a:schemeClr val="dk1"/>
              </a:buClr>
              <a:buSzPct val="100000"/>
              <a:buChar char="•"/>
            </a:pPr>
            <a:r>
              <a:rPr b="1" lang="es-ES"/>
              <a:t>Las palabras clave </a:t>
            </a:r>
            <a:r>
              <a:rPr b="1" i="1" lang="es-ES"/>
              <a:t>async </a:t>
            </a:r>
            <a:r>
              <a:rPr b="1" lang="es-ES"/>
              <a:t>y </a:t>
            </a:r>
            <a:r>
              <a:rPr b="1" i="1" lang="es-ES"/>
              <a:t>await </a:t>
            </a:r>
            <a:r>
              <a:rPr b="1" lang="es-ES"/>
              <a:t>surgieron para simplificar el manejo de las promesas</a:t>
            </a:r>
            <a:r>
              <a:rPr lang="es-ES"/>
              <a:t>. </a:t>
            </a:r>
            <a:endParaRPr/>
          </a:p>
          <a:p>
            <a:pPr indent="-228600" lvl="1" marL="685800" rtl="0" algn="l">
              <a:lnSpc>
                <a:spcPct val="90000"/>
              </a:lnSpc>
              <a:spcBef>
                <a:spcPts val="500"/>
              </a:spcBef>
              <a:spcAft>
                <a:spcPts val="0"/>
              </a:spcAft>
              <a:buClr>
                <a:schemeClr val="dk1"/>
              </a:buClr>
              <a:buSzPct val="100000"/>
              <a:buChar char="•"/>
            </a:pPr>
            <a:r>
              <a:rPr lang="es-ES"/>
              <a:t>Son puro azúcar para hacer las promesas más amigables, escribir código más sencillo, reducir el anidamiento y mejorar la trazabilidad al depurar. </a:t>
            </a:r>
            <a:endParaRPr/>
          </a:p>
          <a:p>
            <a:pPr indent="-228600" lvl="0" marL="228600" rtl="0" algn="l">
              <a:lnSpc>
                <a:spcPct val="90000"/>
              </a:lnSpc>
              <a:spcBef>
                <a:spcPts val="1000"/>
              </a:spcBef>
              <a:spcAft>
                <a:spcPts val="0"/>
              </a:spcAft>
              <a:buClr>
                <a:schemeClr val="dk1"/>
              </a:buClr>
              <a:buSzPct val="100000"/>
              <a:buChar char="•"/>
            </a:pPr>
            <a:r>
              <a:rPr lang="es-ES"/>
              <a:t>La etiqueta </a:t>
            </a:r>
            <a:r>
              <a:rPr i="1" lang="es-ES"/>
              <a:t>async</a:t>
            </a:r>
            <a:r>
              <a:rPr lang="es-ES"/>
              <a:t> declara una función como asíncrona e indica que una promesa será automáticamente devuelta. </a:t>
            </a:r>
            <a:endParaRPr/>
          </a:p>
          <a:p>
            <a:pPr indent="-228600" lvl="0" marL="228600" rtl="0" algn="l">
              <a:lnSpc>
                <a:spcPct val="90000"/>
              </a:lnSpc>
              <a:spcBef>
                <a:spcPts val="1000"/>
              </a:spcBef>
              <a:spcAft>
                <a:spcPts val="0"/>
              </a:spcAft>
              <a:buClr>
                <a:schemeClr val="dk1"/>
              </a:buClr>
              <a:buSzPct val="100000"/>
              <a:buChar char="•"/>
            </a:pPr>
            <a:r>
              <a:rPr lang="es-ES"/>
              <a:t>Podemos declarar como </a:t>
            </a:r>
            <a:r>
              <a:rPr i="1" lang="es-ES"/>
              <a:t>async </a:t>
            </a:r>
            <a:r>
              <a:rPr lang="es-ES"/>
              <a:t>tanto funciones con nombre, anónimas, o funciones flecha. </a:t>
            </a:r>
            <a:endParaRPr/>
          </a:p>
          <a:p>
            <a:pPr indent="-228600" lvl="0" marL="228600" rtl="0" algn="l">
              <a:lnSpc>
                <a:spcPct val="90000"/>
              </a:lnSpc>
              <a:spcBef>
                <a:spcPts val="1000"/>
              </a:spcBef>
              <a:spcAft>
                <a:spcPts val="0"/>
              </a:spcAft>
              <a:buClr>
                <a:schemeClr val="dk1"/>
              </a:buClr>
              <a:buSzPct val="100000"/>
              <a:buChar char="•"/>
            </a:pPr>
            <a:r>
              <a:rPr lang="es-ES"/>
              <a:t>Por otro lado, </a:t>
            </a:r>
            <a:r>
              <a:rPr i="1" lang="es-ES"/>
              <a:t>await </a:t>
            </a:r>
            <a:r>
              <a:rPr lang="es-ES"/>
              <a:t>debe ser usado siempre dentro de una función declarada como </a:t>
            </a:r>
            <a:r>
              <a:rPr i="1" lang="es-ES"/>
              <a:t>async </a:t>
            </a:r>
            <a:r>
              <a:rPr lang="es-ES"/>
              <a:t>y esperará automáticamente (de forma asíncrona y no bloqueante) a que una promesa se resuelva.</a:t>
            </a:r>
            <a:endParaRPr/>
          </a:p>
          <a:p>
            <a:pPr indent="-90805" lvl="0" marL="228600" rtl="0" algn="l">
              <a:lnSpc>
                <a:spcPct val="90000"/>
              </a:lnSpc>
              <a:spcBef>
                <a:spcPts val="1000"/>
              </a:spcBef>
              <a:spcAft>
                <a:spcPts val="0"/>
              </a:spcAft>
              <a:buClr>
                <a:schemeClr val="dk1"/>
              </a:buClr>
              <a:buSzPct val="100000"/>
              <a:buNone/>
            </a:pPr>
            <a:r>
              <a:t/>
            </a:r>
            <a:endParaRPr/>
          </a:p>
        </p:txBody>
      </p:sp>
      <p:sp>
        <p:nvSpPr>
          <p:cNvPr id="463" name="Google Shape;463;p62"/>
          <p:cNvSpPr/>
          <p:nvPr/>
        </p:nvSpPr>
        <p:spPr>
          <a:xfrm>
            <a:off x="4301544" y="180304"/>
            <a:ext cx="7289442" cy="1510384"/>
          </a:xfrm>
          <a:prstGeom prst="roundRect">
            <a:avLst>
              <a:gd fmla="val 16667" name="adj"/>
            </a:avLst>
          </a:prstGeom>
          <a:solidFill>
            <a:schemeClr val="accent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1800">
                <a:solidFill>
                  <a:schemeClr val="lt1"/>
                </a:solidFill>
                <a:latin typeface="Calibri"/>
                <a:ea typeface="Calibri"/>
                <a:cs typeface="Calibri"/>
                <a:sym typeface="Calibri"/>
              </a:rPr>
              <a:t>El siguiente paso en el tratamiento de los procesos asíncronos es usar los métodos async/await. Ésta forma no está disponible en el estándar de ES6 o ES2015, si no que forma parte de la próxima versión ES7 o ES2016, pero que que podemos utilizar hoy día con Babel y el preset de plugins stage-3</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63"/>
          <p:cNvSpPr/>
          <p:nvPr/>
        </p:nvSpPr>
        <p:spPr>
          <a:xfrm>
            <a:off x="528033" y="2242538"/>
            <a:ext cx="4134119" cy="4390082"/>
          </a:xfrm>
          <a:prstGeom prst="rect">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Sintaxis para una función que utilice async/await: </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async function myFuncion ()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try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var result = await functionAsincrona()</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 catch (err)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a:t>
            </a:r>
            <a:endParaRPr/>
          </a:p>
        </p:txBody>
      </p:sp>
      <p:sp>
        <p:nvSpPr>
          <p:cNvPr id="469" name="Google Shape;469;p63"/>
          <p:cNvSpPr/>
          <p:nvPr/>
        </p:nvSpPr>
        <p:spPr>
          <a:xfrm>
            <a:off x="5353319" y="204508"/>
            <a:ext cx="6096000" cy="5693866"/>
          </a:xfrm>
          <a:prstGeom prst="rect">
            <a:avLst/>
          </a:prstGeom>
          <a:solidFill>
            <a:schemeClr val="accent1"/>
          </a:solidFill>
          <a:ln cap="flat" cmpd="sng" w="19050">
            <a:solidFill>
              <a:schemeClr val="lt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2800">
                <a:solidFill>
                  <a:srgbClr val="000000"/>
                </a:solidFill>
                <a:latin typeface="Times New Roman"/>
                <a:ea typeface="Times New Roman"/>
                <a:cs typeface="Times New Roman"/>
                <a:sym typeface="Times New Roman"/>
              </a:rPr>
              <a:t>La función irá precedida por la palabra reservada async y dentro de ella tendremos un bloque try-catch. </a:t>
            </a:r>
            <a:endParaRPr sz="28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lang="es-ES" sz="2800">
                <a:solidFill>
                  <a:srgbClr val="000000"/>
                </a:solidFill>
                <a:latin typeface="Times New Roman"/>
                <a:ea typeface="Times New Roman"/>
                <a:cs typeface="Times New Roman"/>
                <a:sym typeface="Times New Roman"/>
              </a:rPr>
              <a:t>Dentro del try llamararemos a la función asíncrona con la palabra reservada await delante, con esto hacemos que la función espere a que se ejecute y el resultado de la misma está disponible en este caso en la variable result.</a:t>
            </a:r>
            <a:endParaRPr/>
          </a:p>
          <a:p>
            <a:pPr indent="0" lvl="0" marL="0" marR="0" rtl="0" algn="l">
              <a:spcBef>
                <a:spcPts val="0"/>
              </a:spcBef>
              <a:spcAft>
                <a:spcPts val="0"/>
              </a:spcAft>
              <a:buNone/>
            </a:pPr>
            <a:r>
              <a:t/>
            </a:r>
            <a:endParaRPr sz="28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lang="es-ES" sz="2800">
                <a:solidFill>
                  <a:srgbClr val="000000"/>
                </a:solidFill>
                <a:latin typeface="Times New Roman"/>
                <a:ea typeface="Times New Roman"/>
                <a:cs typeface="Times New Roman"/>
                <a:sym typeface="Times New Roman"/>
              </a:rPr>
              <a:t>Si ocurre algún error durante la ejecución, se ejecutará el bloque catch donde trataremos el error.</a:t>
            </a:r>
            <a:endParaRPr/>
          </a:p>
        </p:txBody>
      </p:sp>
      <p:sp>
        <p:nvSpPr>
          <p:cNvPr id="470" name="Google Shape;470;p63"/>
          <p:cNvSpPr/>
          <p:nvPr/>
        </p:nvSpPr>
        <p:spPr>
          <a:xfrm>
            <a:off x="643944" y="204508"/>
            <a:ext cx="3902298" cy="1843233"/>
          </a:xfrm>
          <a:prstGeom prst="roundRect">
            <a:avLst>
              <a:gd fmla="val 16667" name="adj"/>
            </a:avLst>
          </a:prstGeom>
          <a:solidFill>
            <a:schemeClr val="accent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1" marL="0" marR="0" rtl="0" algn="ctr">
              <a:spcBef>
                <a:spcPts val="0"/>
              </a:spcBef>
              <a:spcAft>
                <a:spcPts val="0"/>
              </a:spcAft>
              <a:buNone/>
            </a:pPr>
            <a:r>
              <a:rPr b="1" i="1" lang="es-ES" sz="2400" u="none" cap="none" strike="noStrike">
                <a:solidFill>
                  <a:schemeClr val="lt1"/>
                </a:solidFill>
                <a:latin typeface="Calibri"/>
                <a:ea typeface="Calibri"/>
                <a:cs typeface="Calibri"/>
                <a:sym typeface="Calibri"/>
              </a:rPr>
              <a:t>async </a:t>
            </a:r>
            <a:r>
              <a:rPr b="1" i="0" lang="es-ES" sz="2400" u="none" cap="none" strike="noStrike">
                <a:solidFill>
                  <a:schemeClr val="lt1"/>
                </a:solidFill>
                <a:latin typeface="Calibri"/>
                <a:ea typeface="Calibri"/>
                <a:cs typeface="Calibri"/>
                <a:sym typeface="Calibri"/>
              </a:rPr>
              <a:t>\ </a:t>
            </a:r>
            <a:r>
              <a:rPr b="1" i="1" lang="es-ES" sz="2400" u="none" cap="none" strike="noStrike">
                <a:solidFill>
                  <a:schemeClr val="lt1"/>
                </a:solidFill>
                <a:latin typeface="Calibri"/>
                <a:ea typeface="Calibri"/>
                <a:cs typeface="Calibri"/>
                <a:sym typeface="Calibri"/>
              </a:rPr>
              <a:t>await </a:t>
            </a:r>
            <a:r>
              <a:rPr b="1" i="0" lang="es-ES" sz="2400" u="none" cap="none" strike="noStrike">
                <a:solidFill>
                  <a:schemeClr val="lt1"/>
                </a:solidFill>
                <a:latin typeface="Calibri"/>
                <a:ea typeface="Calibri"/>
                <a:cs typeface="Calibri"/>
                <a:sym typeface="Calibri"/>
              </a:rPr>
              <a:t>y las promesas son lo mismo en el fondo.</a:t>
            </a:r>
            <a:endParaRPr/>
          </a:p>
          <a:p>
            <a:pPr indent="0" lvl="0" marL="0" marR="0" rtl="0" algn="ctr">
              <a:spcBef>
                <a:spcPts val="0"/>
              </a:spcBef>
              <a:spcAft>
                <a:spcPts val="0"/>
              </a:spcAft>
              <a:buNone/>
            </a:pPr>
            <a:r>
              <a:t/>
            </a:r>
            <a:endParaRPr b="1" sz="2400">
              <a:solidFill>
                <a:schemeClr val="lt1"/>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64"/>
          <p:cNvSpPr/>
          <p:nvPr/>
        </p:nvSpPr>
        <p:spPr>
          <a:xfrm>
            <a:off x="562377" y="277169"/>
            <a:ext cx="5292991" cy="6139673"/>
          </a:xfrm>
          <a:prstGeom prst="rect">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000">
                <a:solidFill>
                  <a:schemeClr val="dk1"/>
                </a:solidFill>
                <a:latin typeface="Calibri"/>
                <a:ea typeface="Calibri"/>
                <a:cs typeface="Calibri"/>
                <a:sym typeface="Calibri"/>
              </a:rPr>
              <a:t>Combinando async/await con una función basada en Promesas, podemos hacer lo siguiente:</a:t>
            </a:r>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function addToArray (data, array) {</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const promise = new Promise(function (resolve, reject) {</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setTimeout(function() {</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array.push(data);</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resolve(array);</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 1000);</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if (!array) {</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reject(new Error('No existe un array'));</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return promise;</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a:t>
            </a:r>
            <a:endParaRPr b="1" sz="2000">
              <a:solidFill>
                <a:schemeClr val="dk1"/>
              </a:solidFill>
              <a:latin typeface="Calibri"/>
              <a:ea typeface="Calibri"/>
              <a:cs typeface="Calibri"/>
              <a:sym typeface="Calibri"/>
            </a:endParaRPr>
          </a:p>
        </p:txBody>
      </p:sp>
      <p:sp>
        <p:nvSpPr>
          <p:cNvPr id="476" name="Google Shape;476;p64"/>
          <p:cNvSpPr/>
          <p:nvPr/>
        </p:nvSpPr>
        <p:spPr>
          <a:xfrm>
            <a:off x="6216203" y="1477498"/>
            <a:ext cx="5093481" cy="5244144"/>
          </a:xfrm>
          <a:prstGeom prst="rect">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000">
                <a:solidFill>
                  <a:schemeClr val="dk1"/>
                </a:solidFill>
                <a:latin typeface="Calibri"/>
                <a:ea typeface="Calibri"/>
                <a:cs typeface="Calibri"/>
                <a:sym typeface="Calibri"/>
              </a:rPr>
              <a:t>const array = [1, 2, 3];</a:t>
            </a:r>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async function processData (data, array) {</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try {</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const result = await addToArray(data, array);</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console.log(result)</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 catch (err) {</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return console.log(err.message);</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processData(4, array)</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[1,2,3,4]</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processData(5, array)</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[1,2,3,4,5]</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processData(6, array)</a:t>
            </a:r>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 [1,2,3,4,5,6]</a:t>
            </a:r>
            <a:endParaRPr/>
          </a:p>
        </p:txBody>
      </p:sp>
      <p:sp>
        <p:nvSpPr>
          <p:cNvPr id="477" name="Google Shape;477;p64"/>
          <p:cNvSpPr/>
          <p:nvPr/>
        </p:nvSpPr>
        <p:spPr>
          <a:xfrm>
            <a:off x="6216203" y="277169"/>
            <a:ext cx="6096000" cy="1200329"/>
          </a:xfrm>
          <a:prstGeom prst="rect">
            <a:avLst/>
          </a:prstGeom>
          <a:solidFill>
            <a:schemeClr val="accent1"/>
          </a:solidFill>
          <a:ln cap="flat" cmpd="sng" w="12700">
            <a:solidFill>
              <a:srgbClr val="42719B"/>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lt1"/>
                </a:solidFill>
                <a:latin typeface="Calibri"/>
                <a:ea typeface="Calibri"/>
                <a:cs typeface="Calibri"/>
                <a:sym typeface="Calibri"/>
              </a:rPr>
              <a:t>De esta manera estamos escribiendo código de manera secuencial pero JavaScript está por debajo ejecutando código asincrónico.</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65"/>
          <p:cNvSpPr/>
          <p:nvPr/>
        </p:nvSpPr>
        <p:spPr>
          <a:xfrm>
            <a:off x="6001555" y="682580"/>
            <a:ext cx="5550794" cy="5666705"/>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const checkServerWithSugar = async (url) =&gt;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const response = await fetch(url);</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return `Estado del Servidor: ${response.status === 200 ? "OK" : "NOT OK"}`;</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checkServerWithSugar(document.URL.toString())</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.then(result =&gt; console.log(result));</a:t>
            </a:r>
            <a:endParaRPr/>
          </a:p>
        </p:txBody>
      </p:sp>
      <p:sp>
        <p:nvSpPr>
          <p:cNvPr id="483" name="Google Shape;483;p65"/>
          <p:cNvSpPr/>
          <p:nvPr/>
        </p:nvSpPr>
        <p:spPr>
          <a:xfrm>
            <a:off x="214648" y="506646"/>
            <a:ext cx="5496341" cy="59093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rgbClr val="000000"/>
                </a:solidFill>
                <a:latin typeface="Times New Roman"/>
                <a:ea typeface="Times New Roman"/>
                <a:cs typeface="Times New Roman"/>
                <a:sym typeface="Times New Roman"/>
              </a:rPr>
              <a:t>Compara este ejemplo con la versión original de </a:t>
            </a:r>
            <a:r>
              <a:rPr i="1" lang="es-ES" sz="1800">
                <a:solidFill>
                  <a:srgbClr val="000000"/>
                </a:solidFill>
                <a:latin typeface="Times New Roman"/>
                <a:ea typeface="Times New Roman"/>
                <a:cs typeface="Times New Roman"/>
                <a:sym typeface="Times New Roman"/>
              </a:rPr>
              <a:t>checkServer </a:t>
            </a:r>
            <a:r>
              <a:rPr lang="es-ES" sz="1800">
                <a:solidFill>
                  <a:srgbClr val="000000"/>
                </a:solidFill>
                <a:latin typeface="Times New Roman"/>
                <a:ea typeface="Times New Roman"/>
                <a:cs typeface="Times New Roman"/>
                <a:sym typeface="Times New Roman"/>
              </a:rPr>
              <a:t>que hemos visto en la sección Promesas. Son equivalentes, en esta nueva versión sin embargo, la sentencia </a:t>
            </a:r>
            <a:r>
              <a:rPr i="1" lang="es-ES" sz="1800">
                <a:solidFill>
                  <a:srgbClr val="000000"/>
                </a:solidFill>
                <a:latin typeface="Times New Roman"/>
                <a:ea typeface="Times New Roman"/>
                <a:cs typeface="Times New Roman"/>
                <a:sym typeface="Times New Roman"/>
              </a:rPr>
              <a:t>await </a:t>
            </a:r>
            <a:r>
              <a:rPr lang="es-ES" sz="1800">
                <a:solidFill>
                  <a:srgbClr val="000000"/>
                </a:solidFill>
                <a:latin typeface="Times New Roman"/>
                <a:ea typeface="Times New Roman"/>
                <a:cs typeface="Times New Roman"/>
                <a:sym typeface="Times New Roman"/>
              </a:rPr>
              <a:t>se encargará automáticamente de gestionar la promesa devuelta por </a:t>
            </a:r>
            <a:r>
              <a:rPr i="1" lang="es-ES" sz="1800">
                <a:solidFill>
                  <a:srgbClr val="000000"/>
                </a:solidFill>
                <a:latin typeface="Times New Roman"/>
                <a:ea typeface="Times New Roman"/>
                <a:cs typeface="Times New Roman"/>
                <a:sym typeface="Times New Roman"/>
              </a:rPr>
              <a:t>fetch</a:t>
            </a:r>
            <a:r>
              <a:rPr lang="es-ES" sz="1800">
                <a:solidFill>
                  <a:srgbClr val="000000"/>
                </a:solidFill>
                <a:latin typeface="Times New Roman"/>
                <a:ea typeface="Times New Roman"/>
                <a:cs typeface="Times New Roman"/>
                <a:sym typeface="Times New Roman"/>
              </a:rPr>
              <a:t>. Esta promesa es transparente a nosotros, pero está siendo configurada de modo que su </a:t>
            </a:r>
            <a:r>
              <a:rPr i="1" lang="es-ES" sz="1800">
                <a:solidFill>
                  <a:srgbClr val="000000"/>
                </a:solidFill>
                <a:latin typeface="Times New Roman"/>
                <a:ea typeface="Times New Roman"/>
                <a:cs typeface="Times New Roman"/>
                <a:sym typeface="Times New Roman"/>
              </a:rPr>
              <a:t>resolveCallback </a:t>
            </a:r>
            <a:r>
              <a:rPr lang="es-ES" sz="1800">
                <a:solidFill>
                  <a:srgbClr val="000000"/>
                </a:solidFill>
                <a:latin typeface="Times New Roman"/>
                <a:ea typeface="Times New Roman"/>
                <a:cs typeface="Times New Roman"/>
                <a:sym typeface="Times New Roman"/>
              </a:rPr>
              <a:t>equivale a las líneas de código que hay posteriores al </a:t>
            </a:r>
            <a:r>
              <a:rPr i="1" lang="es-ES" sz="1800">
                <a:solidFill>
                  <a:srgbClr val="000000"/>
                </a:solidFill>
                <a:latin typeface="Times New Roman"/>
                <a:ea typeface="Times New Roman"/>
                <a:cs typeface="Times New Roman"/>
                <a:sym typeface="Times New Roman"/>
              </a:rPr>
              <a:t>await </a:t>
            </a:r>
            <a:r>
              <a:rPr lang="es-ES" sz="1800">
                <a:solidFill>
                  <a:srgbClr val="000000"/>
                </a:solidFill>
                <a:latin typeface="Times New Roman"/>
                <a:ea typeface="Times New Roman"/>
                <a:cs typeface="Times New Roman"/>
                <a:sym typeface="Times New Roman"/>
              </a:rPr>
              <a:t>(en este caso solo dos, la asignación a </a:t>
            </a:r>
            <a:r>
              <a:rPr i="1" lang="es-ES" sz="1800">
                <a:solidFill>
                  <a:srgbClr val="000000"/>
                </a:solidFill>
                <a:latin typeface="Times New Roman"/>
                <a:ea typeface="Times New Roman"/>
                <a:cs typeface="Times New Roman"/>
                <a:sym typeface="Times New Roman"/>
              </a:rPr>
              <a:t>response </a:t>
            </a:r>
            <a:r>
              <a:rPr lang="es-ES" sz="1800">
                <a:solidFill>
                  <a:srgbClr val="000000"/>
                </a:solidFill>
                <a:latin typeface="Times New Roman"/>
                <a:ea typeface="Times New Roman"/>
                <a:cs typeface="Times New Roman"/>
                <a:sym typeface="Times New Roman"/>
              </a:rPr>
              <a:t>y la última línea con el </a:t>
            </a:r>
            <a:r>
              <a:rPr i="1" lang="es-ES" sz="1800">
                <a:solidFill>
                  <a:srgbClr val="000000"/>
                </a:solidFill>
                <a:latin typeface="Times New Roman"/>
                <a:ea typeface="Times New Roman"/>
                <a:cs typeface="Times New Roman"/>
                <a:sym typeface="Times New Roman"/>
              </a:rPr>
              <a:t>return</a:t>
            </a:r>
            <a:r>
              <a:rPr lang="es-ES" sz="1800">
                <a:solidFill>
                  <a:srgbClr val="000000"/>
                </a:solidFill>
                <a:latin typeface="Times New Roman"/>
                <a:ea typeface="Times New Roman"/>
                <a:cs typeface="Times New Roman"/>
                <a:sym typeface="Times New Roman"/>
              </a:rPr>
              <a:t>. Es decir, todo lo que queda por ejecutar en nuestra función </a:t>
            </a:r>
            <a:r>
              <a:rPr i="1" lang="es-ES" sz="1800">
                <a:solidFill>
                  <a:srgbClr val="000000"/>
                </a:solidFill>
                <a:latin typeface="Times New Roman"/>
                <a:ea typeface="Times New Roman"/>
                <a:cs typeface="Times New Roman"/>
                <a:sym typeface="Times New Roman"/>
              </a:rPr>
              <a:t>async </a:t>
            </a:r>
            <a:r>
              <a:rPr lang="es-ES" sz="1800">
                <a:solidFill>
                  <a:srgbClr val="000000"/>
                </a:solidFill>
                <a:latin typeface="Times New Roman"/>
                <a:ea typeface="Times New Roman"/>
                <a:cs typeface="Times New Roman"/>
                <a:sym typeface="Times New Roman"/>
              </a:rPr>
              <a:t>será usado como el </a:t>
            </a:r>
            <a:r>
              <a:rPr i="1" lang="es-ES" sz="1800">
                <a:solidFill>
                  <a:srgbClr val="000000"/>
                </a:solidFill>
                <a:latin typeface="Times New Roman"/>
                <a:ea typeface="Times New Roman"/>
                <a:cs typeface="Times New Roman"/>
                <a:sym typeface="Times New Roman"/>
              </a:rPr>
              <a:t>resolveCallbackde </a:t>
            </a:r>
            <a:r>
              <a:rPr lang="es-ES" sz="1800">
                <a:solidFill>
                  <a:srgbClr val="000000"/>
                </a:solidFill>
                <a:latin typeface="Times New Roman"/>
                <a:ea typeface="Times New Roman"/>
                <a:cs typeface="Times New Roman"/>
                <a:sym typeface="Times New Roman"/>
              </a:rPr>
              <a:t>la promesa del </a:t>
            </a:r>
            <a:r>
              <a:rPr i="1" lang="es-ES" sz="1800">
                <a:solidFill>
                  <a:srgbClr val="000000"/>
                </a:solidFill>
                <a:latin typeface="Times New Roman"/>
                <a:ea typeface="Times New Roman"/>
                <a:cs typeface="Times New Roman"/>
                <a:sym typeface="Times New Roman"/>
              </a:rPr>
              <a:t>fetch</a:t>
            </a:r>
            <a:r>
              <a:rPr lang="es-ES" sz="1800">
                <a:solidFill>
                  <a:srgbClr val="000000"/>
                </a:solidFill>
                <a:latin typeface="Times New Roman"/>
                <a:ea typeface="Times New Roman"/>
                <a:cs typeface="Times New Roman"/>
                <a:sym typeface="Times New Roman"/>
              </a:rPr>
              <a:t>. Esto es, el resto de nuestra función </a:t>
            </a:r>
            <a:r>
              <a:rPr i="1" lang="es-ES" sz="1800">
                <a:solidFill>
                  <a:srgbClr val="000000"/>
                </a:solidFill>
                <a:latin typeface="Times New Roman"/>
                <a:ea typeface="Times New Roman"/>
                <a:cs typeface="Times New Roman"/>
                <a:sym typeface="Times New Roman"/>
              </a:rPr>
              <a:t>async </a:t>
            </a:r>
            <a:r>
              <a:rPr lang="es-ES" sz="1800">
                <a:solidFill>
                  <a:srgbClr val="000000"/>
                </a:solidFill>
                <a:latin typeface="Times New Roman"/>
                <a:ea typeface="Times New Roman"/>
                <a:cs typeface="Times New Roman"/>
                <a:sym typeface="Times New Roman"/>
              </a:rPr>
              <a:t>se ejecutará asíncronamente una vez que la promesa del </a:t>
            </a:r>
            <a:r>
              <a:rPr i="1" lang="es-ES" sz="1800">
                <a:solidFill>
                  <a:srgbClr val="000000"/>
                </a:solidFill>
                <a:latin typeface="Times New Roman"/>
                <a:ea typeface="Times New Roman"/>
                <a:cs typeface="Times New Roman"/>
                <a:sym typeface="Times New Roman"/>
              </a:rPr>
              <a:t>fetch </a:t>
            </a:r>
            <a:r>
              <a:rPr lang="es-ES" sz="1800">
                <a:solidFill>
                  <a:srgbClr val="000000"/>
                </a:solidFill>
                <a:latin typeface="Times New Roman"/>
                <a:ea typeface="Times New Roman"/>
                <a:cs typeface="Times New Roman"/>
                <a:sym typeface="Times New Roman"/>
              </a:rPr>
              <a:t>se resuelva, sin necesidad de </a:t>
            </a:r>
            <a:r>
              <a:rPr i="1" lang="es-ES" sz="1800">
                <a:solidFill>
                  <a:srgbClr val="000000"/>
                </a:solidFill>
                <a:latin typeface="Times New Roman"/>
                <a:ea typeface="Times New Roman"/>
                <a:cs typeface="Times New Roman"/>
                <a:sym typeface="Times New Roman"/>
              </a:rPr>
              <a:t>callbacks</a:t>
            </a:r>
            <a:r>
              <a:rPr lang="es-ES" sz="1800">
                <a:solidFill>
                  <a:srgbClr val="000000"/>
                </a:solidFill>
                <a:latin typeface="Times New Roman"/>
                <a:ea typeface="Times New Roman"/>
                <a:cs typeface="Times New Roman"/>
                <a:sym typeface="Times New Roman"/>
              </a:rPr>
              <a:t>, con nuestro código escrito de forma secuencial. Casi magia.</a:t>
            </a:r>
            <a:endParaRPr/>
          </a:p>
          <a:p>
            <a:pPr indent="0" lvl="0" marL="0" marR="0" rtl="0" algn="l">
              <a:spcBef>
                <a:spcPts val="0"/>
              </a:spcBef>
              <a:spcAft>
                <a:spcPts val="0"/>
              </a:spcAft>
              <a:buNone/>
            </a:pPr>
            <a:r>
              <a:rPr lang="es-ES" sz="1800">
                <a:solidFill>
                  <a:srgbClr val="000000"/>
                </a:solidFill>
                <a:latin typeface="Times New Roman"/>
                <a:ea typeface="Times New Roman"/>
                <a:cs typeface="Times New Roman"/>
                <a:sym typeface="Times New Roman"/>
              </a:rPr>
              <a:t>En la práctica, este comportamiento es equivalente a decir que el operador </a:t>
            </a:r>
            <a:r>
              <a:rPr i="1" lang="es-ES" sz="1800">
                <a:solidFill>
                  <a:srgbClr val="000000"/>
                </a:solidFill>
                <a:latin typeface="Times New Roman"/>
                <a:ea typeface="Times New Roman"/>
                <a:cs typeface="Times New Roman"/>
                <a:sym typeface="Times New Roman"/>
              </a:rPr>
              <a:t>await </a:t>
            </a:r>
            <a:r>
              <a:rPr lang="es-ES" sz="1800">
                <a:solidFill>
                  <a:srgbClr val="000000"/>
                </a:solidFill>
                <a:latin typeface="Times New Roman"/>
                <a:ea typeface="Times New Roman"/>
                <a:cs typeface="Times New Roman"/>
                <a:sym typeface="Times New Roman"/>
              </a:rPr>
              <a:t>'</a:t>
            </a:r>
            <a:r>
              <a:rPr i="1" lang="es-ES" sz="1800">
                <a:solidFill>
                  <a:srgbClr val="000000"/>
                </a:solidFill>
                <a:latin typeface="Times New Roman"/>
                <a:ea typeface="Times New Roman"/>
                <a:cs typeface="Times New Roman"/>
                <a:sym typeface="Times New Roman"/>
              </a:rPr>
              <a:t>pausa la ejecución</a:t>
            </a:r>
            <a:r>
              <a:rPr lang="es-ES" sz="1800">
                <a:solidFill>
                  <a:srgbClr val="000000"/>
                </a:solidFill>
                <a:latin typeface="Times New Roman"/>
                <a:ea typeface="Times New Roman"/>
                <a:cs typeface="Times New Roman"/>
                <a:sym typeface="Times New Roman"/>
              </a:rPr>
              <a:t>' o '</a:t>
            </a:r>
            <a:r>
              <a:rPr i="1" lang="es-ES" sz="1800">
                <a:solidFill>
                  <a:srgbClr val="000000"/>
                </a:solidFill>
                <a:latin typeface="Times New Roman"/>
                <a:ea typeface="Times New Roman"/>
                <a:cs typeface="Times New Roman"/>
                <a:sym typeface="Times New Roman"/>
              </a:rPr>
              <a:t>espera a una promesa. C</a:t>
            </a:r>
            <a:r>
              <a:rPr lang="es-ES" sz="1800">
                <a:solidFill>
                  <a:srgbClr val="000000"/>
                </a:solidFill>
                <a:latin typeface="Times New Roman"/>
                <a:ea typeface="Times New Roman"/>
                <a:cs typeface="Times New Roman"/>
                <a:sym typeface="Times New Roman"/>
              </a:rPr>
              <a:t>uidado con los matices, ya que sugiere la idea errónea de que </a:t>
            </a:r>
            <a:r>
              <a:rPr i="1" lang="es-ES" sz="1800">
                <a:solidFill>
                  <a:srgbClr val="000000"/>
                </a:solidFill>
                <a:latin typeface="Times New Roman"/>
                <a:ea typeface="Times New Roman"/>
                <a:cs typeface="Times New Roman"/>
                <a:sym typeface="Times New Roman"/>
              </a:rPr>
              <a:t>await </a:t>
            </a:r>
            <a:r>
              <a:rPr lang="es-ES" sz="1800">
                <a:solidFill>
                  <a:srgbClr val="000000"/>
                </a:solidFill>
                <a:latin typeface="Times New Roman"/>
                <a:ea typeface="Times New Roman"/>
                <a:cs typeface="Times New Roman"/>
                <a:sym typeface="Times New Roman"/>
              </a:rPr>
              <a:t>bloquea o espera de forma síncrona, y no, no lo hace.</a:t>
            </a:r>
            <a:endParaRPr b="0" i="0" sz="1800">
              <a:solidFill>
                <a:srgbClr val="000000"/>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66"/>
          <p:cNvSpPr txBox="1"/>
          <p:nvPr>
            <p:ph type="title"/>
          </p:nvPr>
        </p:nvSpPr>
        <p:spPr>
          <a:xfrm>
            <a:off x="838200" y="365125"/>
            <a:ext cx="10515600" cy="1325563"/>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s-ES">
                <a:solidFill>
                  <a:schemeClr val="dk1"/>
                </a:solidFill>
                <a:latin typeface="Calibri"/>
                <a:ea typeface="Calibri"/>
                <a:cs typeface="Calibri"/>
                <a:sym typeface="Calibri"/>
              </a:rPr>
              <a:t>Manejo de Errores</a:t>
            </a:r>
            <a:endParaRPr/>
          </a:p>
        </p:txBody>
      </p:sp>
      <p:sp>
        <p:nvSpPr>
          <p:cNvPr id="489" name="Google Shape;489;p66"/>
          <p:cNvSpPr/>
          <p:nvPr/>
        </p:nvSpPr>
        <p:spPr>
          <a:xfrm>
            <a:off x="838200" y="1690688"/>
            <a:ext cx="4867141" cy="4375261"/>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checkServerWithSugar(document.URL.toString())</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.then(result =&gt; console.log(result))</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.catch(e =&gt; console.log(`Error Capturado Fuera de la función async: ${e}`));</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67"/>
          <p:cNvSpPr/>
          <p:nvPr/>
        </p:nvSpPr>
        <p:spPr>
          <a:xfrm>
            <a:off x="183241" y="144381"/>
            <a:ext cx="6907369" cy="6557832"/>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const checkServerWithSugar = async (url) =&gt;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try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const response = await fetch(url);</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return `Estado del servidor: ${response.status === 200 ? "OK" : "NOT OK"}`;</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 catch (e)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throw `Manejo intero del error. Error original: ${e}`;</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checkServerWithSugar(document.URL.toString())</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.then(result =&gt; console.log(result))</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.catch(e =&gt; console.log(`Error Capturado Fuera de la función async: ${e}`));</a:t>
            </a:r>
            <a:endParaRPr/>
          </a:p>
        </p:txBody>
      </p:sp>
      <p:sp>
        <p:nvSpPr>
          <p:cNvPr id="495" name="Google Shape;495;p67"/>
          <p:cNvSpPr/>
          <p:nvPr/>
        </p:nvSpPr>
        <p:spPr>
          <a:xfrm>
            <a:off x="7475619" y="2030792"/>
            <a:ext cx="4363454" cy="2246769"/>
          </a:xfrm>
          <a:prstGeom prst="rect">
            <a:avLst/>
          </a:prstGeom>
          <a:solidFill>
            <a:schemeClr val="accent1"/>
          </a:solidFill>
          <a:ln cap="flat" cmpd="sng" w="19050">
            <a:solidFill>
              <a:schemeClr val="lt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2800">
                <a:solidFill>
                  <a:srgbClr val="000000"/>
                </a:solidFill>
                <a:latin typeface="Times New Roman"/>
                <a:ea typeface="Times New Roman"/>
                <a:cs typeface="Times New Roman"/>
                <a:sym typeface="Times New Roman"/>
              </a:rPr>
              <a:t>Si necesitáramos gestionar estos erroes internamente, en la propia función async, deberemos envolver nuestro código con un try / catch </a:t>
            </a:r>
            <a:endParaRPr sz="2800">
              <a:solidFill>
                <a:srgbClr val="000000"/>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68"/>
          <p:cNvSpPr txBox="1"/>
          <p:nvPr>
            <p:ph type="title"/>
          </p:nvPr>
        </p:nvSpPr>
        <p:spPr>
          <a:xfrm>
            <a:off x="838200" y="365125"/>
            <a:ext cx="10515600" cy="1325563"/>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solidFill>
                  <a:schemeClr val="dk1"/>
                </a:solidFill>
                <a:latin typeface="Calibri"/>
                <a:ea typeface="Calibri"/>
                <a:cs typeface="Calibri"/>
                <a:sym typeface="Calibri"/>
              </a:rPr>
              <a:t>Multiples awaits</a:t>
            </a:r>
            <a:endParaRPr/>
          </a:p>
        </p:txBody>
      </p:sp>
      <p:sp>
        <p:nvSpPr>
          <p:cNvPr id="501" name="Google Shape;501;p6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s-ES"/>
              <a:t>Cuidado especial cuando trabajes con múltiples promesas con el operador </a:t>
            </a:r>
            <a:r>
              <a:rPr i="1" lang="es-ES"/>
              <a:t>await</a:t>
            </a:r>
            <a:r>
              <a:rPr lang="es-ES"/>
              <a:t>.</a:t>
            </a:r>
            <a:endParaRPr/>
          </a:p>
          <a:p>
            <a:pPr indent="-228600" lvl="0" marL="228600" rtl="0" algn="l">
              <a:lnSpc>
                <a:spcPct val="90000"/>
              </a:lnSpc>
              <a:spcBef>
                <a:spcPts val="1000"/>
              </a:spcBef>
              <a:spcAft>
                <a:spcPts val="0"/>
              </a:spcAft>
              <a:buClr>
                <a:schemeClr val="dk1"/>
              </a:buClr>
              <a:buSzPts val="2800"/>
              <a:buChar char="•"/>
            </a:pPr>
            <a:r>
              <a:rPr lang="es-ES"/>
              <a:t> La mayoría de las veces querrás evitar apilar sentencias </a:t>
            </a:r>
            <a:r>
              <a:rPr i="1" lang="es-ES"/>
              <a:t>await</a:t>
            </a:r>
            <a:r>
              <a:rPr lang="es-ES"/>
              <a:t>, a menos que una dependa de la otra.</a:t>
            </a:r>
            <a:endParaRPr/>
          </a:p>
          <a:p>
            <a:pPr indent="-228600" lvl="0" marL="228600" rtl="0" algn="l">
              <a:lnSpc>
                <a:spcPct val="90000"/>
              </a:lnSpc>
              <a:spcBef>
                <a:spcPts val="1000"/>
              </a:spcBef>
              <a:spcAft>
                <a:spcPts val="0"/>
              </a:spcAft>
              <a:buClr>
                <a:schemeClr val="dk1"/>
              </a:buClr>
              <a:buSzPts val="2800"/>
              <a:buChar char="•"/>
            </a:pPr>
            <a:r>
              <a:rPr lang="es-ES"/>
              <a:t> Apilar múltiples </a:t>
            </a:r>
            <a:r>
              <a:rPr i="1" lang="es-ES"/>
              <a:t>await</a:t>
            </a:r>
            <a:r>
              <a:rPr lang="es-ES"/>
              <a:t> es equivalente a lanzar una promesa cuando la anterior haya sido resuelta. </a:t>
            </a:r>
            <a:endParaRPr/>
          </a:p>
          <a:p>
            <a:pPr indent="-228600" lvl="0" marL="228600" rtl="0" algn="l">
              <a:lnSpc>
                <a:spcPct val="90000"/>
              </a:lnSpc>
              <a:spcBef>
                <a:spcPts val="1000"/>
              </a:spcBef>
              <a:spcAft>
                <a:spcPts val="0"/>
              </a:spcAft>
              <a:buClr>
                <a:schemeClr val="dk1"/>
              </a:buClr>
              <a:buSzPts val="2800"/>
              <a:buChar char="•"/>
            </a:pPr>
            <a:r>
              <a:rPr lang="es-ES"/>
              <a:t>Es decir, ejecutar las promesas encadenadamente, de forma secuencial. </a:t>
            </a:r>
            <a:endParaRPr/>
          </a:p>
          <a:p>
            <a:pPr indent="-228600" lvl="1" marL="685800" rtl="0" algn="l">
              <a:lnSpc>
                <a:spcPct val="90000"/>
              </a:lnSpc>
              <a:spcBef>
                <a:spcPts val="500"/>
              </a:spcBef>
              <a:spcAft>
                <a:spcPts val="0"/>
              </a:spcAft>
              <a:buClr>
                <a:schemeClr val="dk1"/>
              </a:buClr>
              <a:buSzPts val="2400"/>
              <a:buChar char="•"/>
            </a:pPr>
            <a:r>
              <a:rPr lang="es-ES"/>
              <a:t>Y esto no siempre es lo deseable.</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69"/>
          <p:cNvSpPr/>
          <p:nvPr/>
        </p:nvSpPr>
        <p:spPr>
          <a:xfrm>
            <a:off x="463639" y="154546"/>
            <a:ext cx="4572000" cy="3284113"/>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async function wait()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await delay(500);</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await delay(500);</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return "Ha transcurrido, como mínimo, 1 segundo.";</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a:t>
            </a:r>
            <a:endParaRPr/>
          </a:p>
        </p:txBody>
      </p:sp>
      <p:sp>
        <p:nvSpPr>
          <p:cNvPr id="507" name="Google Shape;507;p69"/>
          <p:cNvSpPr/>
          <p:nvPr/>
        </p:nvSpPr>
        <p:spPr>
          <a:xfrm>
            <a:off x="6272011" y="3477296"/>
            <a:ext cx="5602310" cy="3142445"/>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async function wait()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const d1 = delay(500);</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const d2 = delay(500);</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await d1;</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await d2;</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return "Ha transcurrido, como mínimo, 500ms.";</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a:t>
            </a:r>
            <a:endParaRPr/>
          </a:p>
        </p:txBody>
      </p:sp>
      <p:sp>
        <p:nvSpPr>
          <p:cNvPr id="508" name="Google Shape;508;p69"/>
          <p:cNvSpPr/>
          <p:nvPr/>
        </p:nvSpPr>
        <p:spPr>
          <a:xfrm>
            <a:off x="6025166" y="457774"/>
            <a:ext cx="6096000" cy="2677656"/>
          </a:xfrm>
          <a:prstGeom prst="rect">
            <a:avLst/>
          </a:prstGeom>
          <a:solidFill>
            <a:schemeClr val="accent1"/>
          </a:solidFill>
          <a:ln cap="flat" cmpd="sng" w="19050">
            <a:solidFill>
              <a:schemeClr val="lt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2800">
                <a:solidFill>
                  <a:srgbClr val="000000"/>
                </a:solidFill>
                <a:latin typeface="Times New Roman"/>
                <a:ea typeface="Times New Roman"/>
                <a:cs typeface="Times New Roman"/>
                <a:sym typeface="Times New Roman"/>
              </a:rPr>
              <a:t>Solo cuando el primer delay() haya sido resuelto, se llamará al segundo delay(). Apilar varios await implica una espera síncrona entre ellos. Sin embargo, podemos hacer una espera en paralelo del siguiente modo:</a:t>
            </a:r>
            <a:endParaRPr/>
          </a:p>
        </p:txBody>
      </p:sp>
      <p:sp>
        <p:nvSpPr>
          <p:cNvPr id="509" name="Google Shape;509;p69"/>
          <p:cNvSpPr/>
          <p:nvPr/>
        </p:nvSpPr>
        <p:spPr>
          <a:xfrm>
            <a:off x="176011" y="3511198"/>
            <a:ext cx="6096000" cy="3108543"/>
          </a:xfrm>
          <a:prstGeom prst="rect">
            <a:avLst/>
          </a:prstGeom>
          <a:solidFill>
            <a:schemeClr val="accent1"/>
          </a:solidFill>
          <a:ln cap="flat" cmpd="sng" w="19050">
            <a:solidFill>
              <a:schemeClr val="lt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2800">
                <a:solidFill>
                  <a:srgbClr val="000000"/>
                </a:solidFill>
                <a:latin typeface="Times New Roman"/>
                <a:ea typeface="Times New Roman"/>
                <a:cs typeface="Times New Roman"/>
                <a:sym typeface="Times New Roman"/>
              </a:rPr>
              <a:t>Es una solución mucho más interesante ya que ambas llamadas a delay() serán lanzadas, y una vez iniciadas nos quedamos a la espera de su resolución. De este modo, permitimos que las llamadas asíncronas a delay() sucedan de forma concurrente y progresen a la vez.</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70"/>
          <p:cNvSpPr/>
          <p:nvPr/>
        </p:nvSpPr>
        <p:spPr>
          <a:xfrm>
            <a:off x="2537138" y="1584101"/>
            <a:ext cx="7907628" cy="2562896"/>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async function wait()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const d1 = delay(500);</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const d2 = delay(500);</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await Promise.all([d1, d2]);</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return "Ha transcurrido, como mínimo, 500ms.";</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a:t>
            </a:r>
            <a:endParaRPr/>
          </a:p>
        </p:txBody>
      </p:sp>
      <p:sp>
        <p:nvSpPr>
          <p:cNvPr id="515" name="Google Shape;515;p70"/>
          <p:cNvSpPr/>
          <p:nvPr/>
        </p:nvSpPr>
        <p:spPr>
          <a:xfrm>
            <a:off x="807076" y="660771"/>
            <a:ext cx="7589950" cy="461665"/>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rgbClr val="000000"/>
                </a:solidFill>
                <a:latin typeface="Times New Roman"/>
                <a:ea typeface="Times New Roman"/>
                <a:cs typeface="Times New Roman"/>
                <a:sym typeface="Times New Roman"/>
              </a:rPr>
              <a:t> </a:t>
            </a:r>
            <a:r>
              <a:rPr i="1" lang="es-ES" sz="2400">
                <a:solidFill>
                  <a:srgbClr val="000000"/>
                </a:solidFill>
                <a:latin typeface="Times New Roman"/>
                <a:ea typeface="Times New Roman"/>
                <a:cs typeface="Times New Roman"/>
                <a:sym typeface="Times New Roman"/>
              </a:rPr>
              <a:t>async </a:t>
            </a:r>
            <a:r>
              <a:rPr lang="es-ES" sz="2400">
                <a:solidFill>
                  <a:srgbClr val="000000"/>
                </a:solidFill>
                <a:latin typeface="Times New Roman"/>
                <a:ea typeface="Times New Roman"/>
                <a:cs typeface="Times New Roman"/>
                <a:sym typeface="Times New Roman"/>
              </a:rPr>
              <a:t>/ </a:t>
            </a:r>
            <a:r>
              <a:rPr i="1" lang="es-ES" sz="2400">
                <a:solidFill>
                  <a:srgbClr val="000000"/>
                </a:solidFill>
                <a:latin typeface="Times New Roman"/>
                <a:ea typeface="Times New Roman"/>
                <a:cs typeface="Times New Roman"/>
                <a:sym typeface="Times New Roman"/>
              </a:rPr>
              <a:t>await</a:t>
            </a:r>
            <a:r>
              <a:rPr lang="es-ES" sz="2400">
                <a:solidFill>
                  <a:srgbClr val="000000"/>
                </a:solidFill>
                <a:latin typeface="Times New Roman"/>
                <a:ea typeface="Times New Roman"/>
                <a:cs typeface="Times New Roman"/>
                <a:sym typeface="Times New Roman"/>
              </a:rPr>
              <a:t> era puro azúcar sintáctico sobre promesas</a:t>
            </a:r>
            <a:endParaRPr sz="2400">
              <a:solidFill>
                <a:schemeClr val="dk1"/>
              </a:solidFill>
              <a:latin typeface="Calibri"/>
              <a:ea typeface="Calibri"/>
              <a:cs typeface="Calibri"/>
              <a:sym typeface="Calibri"/>
            </a:endParaRPr>
          </a:p>
        </p:txBody>
      </p:sp>
      <p:sp>
        <p:nvSpPr>
          <p:cNvPr id="516" name="Google Shape;516;p70"/>
          <p:cNvSpPr/>
          <p:nvPr/>
        </p:nvSpPr>
        <p:spPr>
          <a:xfrm>
            <a:off x="465221" y="4570651"/>
            <a:ext cx="10732167" cy="1815882"/>
          </a:xfrm>
          <a:prstGeom prst="rect">
            <a:avLst/>
          </a:prstGeom>
          <a:solidFill>
            <a:schemeClr val="accent1"/>
          </a:solidFill>
          <a:ln cap="flat" cmpd="sng" w="19050">
            <a:solidFill>
              <a:schemeClr val="lt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ES" sz="2800">
                <a:solidFill>
                  <a:srgbClr val="000000"/>
                </a:solidFill>
                <a:latin typeface="Times New Roman"/>
                <a:ea typeface="Times New Roman"/>
                <a:cs typeface="Times New Roman"/>
                <a:sym typeface="Times New Roman"/>
              </a:rPr>
              <a:t>Reemplazamos los dos await apilados por un Promise.all(), al que a su vez esperamos con un único await (Promise.all() devuelve una promesa). De este modo eliminamos elegantemente el riesgo que conlleva usar múltiples await e incurrir en una espera secuencial no deseada.</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pic>
        <p:nvPicPr>
          <p:cNvPr descr="https://jonmircha.github.io/edjs-paradigmas2017/img/def-asincrono.png" id="521" name="Google Shape;521;p71"/>
          <p:cNvPicPr preferRelativeResize="0"/>
          <p:nvPr/>
        </p:nvPicPr>
        <p:blipFill rotWithShape="1">
          <a:blip r:embed="rId3">
            <a:alphaModFix/>
          </a:blip>
          <a:srcRect b="0" l="0" r="0" t="0"/>
          <a:stretch/>
        </p:blipFill>
        <p:spPr>
          <a:xfrm>
            <a:off x="456334" y="759853"/>
            <a:ext cx="11011452" cy="5217577"/>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72"/>
          <p:cNvSpPr txBox="1"/>
          <p:nvPr>
            <p:ph type="title"/>
          </p:nvPr>
        </p:nvSpPr>
        <p:spPr>
          <a:xfrm>
            <a:off x="838200" y="365125"/>
            <a:ext cx="10515600" cy="1325563"/>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solidFill>
                  <a:schemeClr val="dk1"/>
                </a:solidFill>
                <a:latin typeface="Calibri"/>
                <a:ea typeface="Calibri"/>
                <a:cs typeface="Calibri"/>
                <a:sym typeface="Calibri"/>
              </a:rPr>
              <a:t>AJAX y JSON </a:t>
            </a:r>
            <a:endParaRPr/>
          </a:p>
        </p:txBody>
      </p:sp>
      <p:sp>
        <p:nvSpPr>
          <p:cNvPr id="527" name="Google Shape;527;p7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s-ES"/>
              <a:t>AJAX</a:t>
            </a:r>
            <a:endParaRPr/>
          </a:p>
          <a:p>
            <a:pPr indent="-228600" lvl="1" marL="685800" rtl="0" algn="l">
              <a:lnSpc>
                <a:spcPct val="90000"/>
              </a:lnSpc>
              <a:spcBef>
                <a:spcPts val="500"/>
              </a:spcBef>
              <a:spcAft>
                <a:spcPts val="0"/>
              </a:spcAft>
              <a:buClr>
                <a:schemeClr val="dk1"/>
              </a:buClr>
              <a:buSzPts val="2400"/>
              <a:buChar char="•"/>
            </a:pPr>
            <a:r>
              <a:rPr lang="es-ES"/>
              <a:t>Es un API JavaScript para realizar peticiones asíncronas al servidor utilizando XML o JSON</a:t>
            </a:r>
            <a:endParaRPr/>
          </a:p>
        </p:txBody>
      </p:sp>
      <p:pic>
        <p:nvPicPr>
          <p:cNvPr id="528" name="Google Shape;528;p72"/>
          <p:cNvPicPr preferRelativeResize="0"/>
          <p:nvPr/>
        </p:nvPicPr>
        <p:blipFill rotWithShape="1">
          <a:blip r:embed="rId3">
            <a:alphaModFix/>
          </a:blip>
          <a:srcRect b="0" l="0" r="0" t="0"/>
          <a:stretch/>
        </p:blipFill>
        <p:spPr>
          <a:xfrm>
            <a:off x="376977" y="3644106"/>
            <a:ext cx="6543675" cy="2600325"/>
          </a:xfrm>
          <a:prstGeom prst="rect">
            <a:avLst/>
          </a:prstGeom>
          <a:noFill/>
          <a:ln>
            <a:noFill/>
          </a:ln>
        </p:spPr>
      </p:pic>
      <p:pic>
        <p:nvPicPr>
          <p:cNvPr descr="https://jonmircha.github.io/edjs-paradigmas2017/img/ajax-tecnologias.gif" id="529" name="Google Shape;529;p72"/>
          <p:cNvPicPr preferRelativeResize="0"/>
          <p:nvPr/>
        </p:nvPicPr>
        <p:blipFill rotWithShape="1">
          <a:blip r:embed="rId4">
            <a:alphaModFix/>
          </a:blip>
          <a:srcRect b="0" l="0" r="0" t="0"/>
          <a:stretch/>
        </p:blipFill>
        <p:spPr>
          <a:xfrm>
            <a:off x="8671773" y="3058319"/>
            <a:ext cx="3143250" cy="1885950"/>
          </a:xfrm>
          <a:prstGeom prst="rect">
            <a:avLst/>
          </a:prstGeom>
          <a:noFill/>
          <a:ln>
            <a:noFill/>
          </a:ln>
        </p:spPr>
      </p:pic>
      <p:sp>
        <p:nvSpPr>
          <p:cNvPr id="530" name="Google Shape;530;p72"/>
          <p:cNvSpPr/>
          <p:nvPr/>
        </p:nvSpPr>
        <p:spPr>
          <a:xfrm>
            <a:off x="7276563" y="5164428"/>
            <a:ext cx="4198513" cy="1429555"/>
          </a:xfrm>
          <a:prstGeom prst="roundRect">
            <a:avLst>
              <a:gd fmla="val 16667" name="adj"/>
            </a:avLst>
          </a:prstGeom>
          <a:gradFill>
            <a:gsLst>
              <a:gs pos="0">
                <a:srgbClr val="F7BCA2"/>
              </a:gs>
              <a:gs pos="50000">
                <a:srgbClr val="F4B093"/>
              </a:gs>
              <a:gs pos="100000">
                <a:srgbClr val="F7A47F"/>
              </a:gs>
            </a:gsLst>
            <a:lin ang="5400000" scaled="0"/>
          </a:gradFill>
          <a:ln cap="flat" cmpd="sng" w="9525">
            <a:solidFill>
              <a:schemeClr val="accent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dk1"/>
                </a:solidFill>
                <a:latin typeface="Calibri"/>
                <a:ea typeface="Calibri"/>
                <a:cs typeface="Calibri"/>
                <a:sym typeface="Calibri"/>
              </a:rPr>
              <a:t>Ajax no es una tecnología en sí mismo. En realidad, se trata de varias tecnologías independientes que se unen</a:t>
            </a:r>
            <a:endParaRPr b="1" sz="1800">
              <a:solidFill>
                <a:schemeClr val="dk1"/>
              </a:solidFill>
              <a:latin typeface="Calibri"/>
              <a:ea typeface="Calibri"/>
              <a:cs typeface="Calibri"/>
              <a:sym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pic>
        <p:nvPicPr>
          <p:cNvPr descr="https://jonmircha.github.io/edjs-paradigmas2017/img/ajax-modelo.gif" id="535" name="Google Shape;535;p73"/>
          <p:cNvPicPr preferRelativeResize="0"/>
          <p:nvPr/>
        </p:nvPicPr>
        <p:blipFill rotWithShape="1">
          <a:blip r:embed="rId3">
            <a:alphaModFix/>
          </a:blip>
          <a:srcRect b="0" l="0" r="0" t="0"/>
          <a:stretch/>
        </p:blipFill>
        <p:spPr>
          <a:xfrm>
            <a:off x="417446" y="402608"/>
            <a:ext cx="6446540" cy="6175107"/>
          </a:xfrm>
          <a:prstGeom prst="rect">
            <a:avLst/>
          </a:prstGeom>
          <a:noFill/>
          <a:ln>
            <a:noFill/>
          </a:ln>
        </p:spPr>
      </p:pic>
      <p:pic>
        <p:nvPicPr>
          <p:cNvPr descr="https://jonmircha.github.io/edjs-paradigmas2017/img/ajax-flujo.gif" id="536" name="Google Shape;536;p73"/>
          <p:cNvPicPr preferRelativeResize="0"/>
          <p:nvPr/>
        </p:nvPicPr>
        <p:blipFill rotWithShape="1">
          <a:blip r:embed="rId4">
            <a:alphaModFix/>
          </a:blip>
          <a:srcRect b="0" l="0" r="0" t="0"/>
          <a:stretch/>
        </p:blipFill>
        <p:spPr>
          <a:xfrm>
            <a:off x="7168786" y="0"/>
            <a:ext cx="5021732" cy="6322096"/>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pic>
        <p:nvPicPr>
          <p:cNvPr id="541" name="Google Shape;541;p74"/>
          <p:cNvPicPr preferRelativeResize="0"/>
          <p:nvPr/>
        </p:nvPicPr>
        <p:blipFill rotWithShape="1">
          <a:blip r:embed="rId3">
            <a:alphaModFix/>
          </a:blip>
          <a:srcRect b="0" l="0" r="0" t="0"/>
          <a:stretch/>
        </p:blipFill>
        <p:spPr>
          <a:xfrm>
            <a:off x="770021" y="645747"/>
            <a:ext cx="10780295" cy="5633574"/>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75"/>
          <p:cNvSpPr txBox="1"/>
          <p:nvPr>
            <p:ph type="title"/>
          </p:nvPr>
        </p:nvSpPr>
        <p:spPr>
          <a:xfrm>
            <a:off x="838200" y="365125"/>
            <a:ext cx="10515600" cy="1325563"/>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solidFill>
                  <a:schemeClr val="dk1"/>
                </a:solidFill>
                <a:latin typeface="Calibri"/>
                <a:ea typeface="Calibri"/>
                <a:cs typeface="Calibri"/>
                <a:sym typeface="Calibri"/>
              </a:rPr>
              <a:t>JSON</a:t>
            </a:r>
            <a:endParaRPr/>
          </a:p>
        </p:txBody>
      </p:sp>
      <p:sp>
        <p:nvSpPr>
          <p:cNvPr id="547" name="Google Shape;547;p7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s-ES"/>
              <a:t>Es un formato ligero de intercambio de datos. </a:t>
            </a:r>
            <a:endParaRPr/>
          </a:p>
          <a:p>
            <a:pPr indent="-228600" lvl="1" marL="685800" rtl="0" algn="l">
              <a:lnSpc>
                <a:spcPct val="90000"/>
              </a:lnSpc>
              <a:spcBef>
                <a:spcPts val="500"/>
              </a:spcBef>
              <a:spcAft>
                <a:spcPts val="0"/>
              </a:spcAft>
              <a:buClr>
                <a:schemeClr val="dk1"/>
              </a:buClr>
              <a:buSzPts val="2400"/>
              <a:buChar char="•"/>
            </a:pPr>
            <a:r>
              <a:rPr lang="es-ES"/>
              <a:t>Leerlo y escribirlo es simple para humanos, y facil de interpretar y generar para las máquinas</a:t>
            </a:r>
            <a:endParaRPr/>
          </a:p>
          <a:p>
            <a:pPr indent="-228600" lvl="0" marL="228600" rtl="0" algn="l">
              <a:lnSpc>
                <a:spcPct val="90000"/>
              </a:lnSpc>
              <a:spcBef>
                <a:spcPts val="1000"/>
              </a:spcBef>
              <a:spcAft>
                <a:spcPts val="0"/>
              </a:spcAft>
              <a:buClr>
                <a:schemeClr val="dk1"/>
              </a:buClr>
              <a:buSzPts val="2800"/>
              <a:buChar char="•"/>
            </a:pPr>
            <a:r>
              <a:rPr lang="es-ES"/>
              <a:t>Basado en un subconjunto del Lenguaje de Programación JavaScript, Standard ECMA-262 3rd Edition - Diciembre 1999, creado por Douglas Crockford</a:t>
            </a:r>
            <a:endParaRPr/>
          </a:p>
          <a:p>
            <a:pPr indent="-228600" lvl="0" marL="228600" rtl="0" algn="l">
              <a:lnSpc>
                <a:spcPct val="90000"/>
              </a:lnSpc>
              <a:spcBef>
                <a:spcPts val="1000"/>
              </a:spcBef>
              <a:spcAft>
                <a:spcPts val="0"/>
              </a:spcAft>
              <a:buClr>
                <a:schemeClr val="dk1"/>
              </a:buClr>
              <a:buSzPts val="2800"/>
              <a:buChar char="•"/>
            </a:pPr>
            <a:r>
              <a:rPr lang="es-ES"/>
              <a:t>Es independiente del lenguaje pero utiliza convenciones que son ampliamente conocidos por los programadores de la familia de lenguajes C, Java, JavaScript, Perl, Python, y muchos otros</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548" name="Google Shape;548;p75"/>
          <p:cNvPicPr preferRelativeResize="0"/>
          <p:nvPr/>
        </p:nvPicPr>
        <p:blipFill rotWithShape="1">
          <a:blip r:embed="rId3">
            <a:alphaModFix/>
          </a:blip>
          <a:srcRect b="0" l="0" r="0" t="0"/>
          <a:stretch/>
        </p:blipFill>
        <p:spPr>
          <a:xfrm>
            <a:off x="5161796" y="365125"/>
            <a:ext cx="6192004" cy="1000036"/>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76"/>
          <p:cNvSpPr txBox="1"/>
          <p:nvPr>
            <p:ph type="title"/>
          </p:nvPr>
        </p:nvSpPr>
        <p:spPr>
          <a:xfrm>
            <a:off x="838200" y="365125"/>
            <a:ext cx="10515600" cy="1325563"/>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solidFill>
                  <a:schemeClr val="dk1"/>
                </a:solidFill>
                <a:latin typeface="Calibri"/>
                <a:ea typeface="Calibri"/>
                <a:cs typeface="Calibri"/>
                <a:sym typeface="Calibri"/>
              </a:rPr>
              <a:t>JSON - </a:t>
            </a:r>
            <a:endParaRPr/>
          </a:p>
        </p:txBody>
      </p:sp>
      <p:sp>
        <p:nvSpPr>
          <p:cNvPr id="554" name="Google Shape;554;p7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s-ES"/>
              <a:t>Está constituido por dos estructuras:</a:t>
            </a:r>
            <a:endParaRPr/>
          </a:p>
          <a:p>
            <a:pPr indent="-228600" lvl="1" marL="685800" rtl="0" algn="l">
              <a:lnSpc>
                <a:spcPct val="90000"/>
              </a:lnSpc>
              <a:spcBef>
                <a:spcPts val="500"/>
              </a:spcBef>
              <a:spcAft>
                <a:spcPts val="0"/>
              </a:spcAft>
              <a:buClr>
                <a:schemeClr val="dk1"/>
              </a:buClr>
              <a:buSzPts val="2400"/>
              <a:buChar char="•"/>
            </a:pPr>
            <a:r>
              <a:rPr lang="es-ES"/>
              <a:t>Una colección de pares de nombre/valor. </a:t>
            </a:r>
            <a:endParaRPr/>
          </a:p>
          <a:p>
            <a:pPr indent="-228600" lvl="2" marL="1143000" rtl="0" algn="l">
              <a:lnSpc>
                <a:spcPct val="90000"/>
              </a:lnSpc>
              <a:spcBef>
                <a:spcPts val="500"/>
              </a:spcBef>
              <a:spcAft>
                <a:spcPts val="0"/>
              </a:spcAft>
              <a:buClr>
                <a:schemeClr val="dk1"/>
              </a:buClr>
              <a:buSzPts val="2000"/>
              <a:buChar char="•"/>
            </a:pPr>
            <a:r>
              <a:rPr lang="es-ES"/>
              <a:t>En varios lenguajes esto es conocido como un objeto, registro, estructura, diccionario, tabla hash, lista de claves o un arreglo asociativo</a:t>
            </a:r>
            <a:endParaRPr/>
          </a:p>
          <a:p>
            <a:pPr indent="-228600" lvl="1" marL="685800" rtl="0" algn="l">
              <a:lnSpc>
                <a:spcPct val="90000"/>
              </a:lnSpc>
              <a:spcBef>
                <a:spcPts val="500"/>
              </a:spcBef>
              <a:spcAft>
                <a:spcPts val="0"/>
              </a:spcAft>
              <a:buClr>
                <a:schemeClr val="dk1"/>
              </a:buClr>
              <a:buSzPts val="2400"/>
              <a:buChar char="•"/>
            </a:pPr>
            <a:r>
              <a:rPr lang="es-ES"/>
              <a:t>Una lista ordenada de valores. </a:t>
            </a:r>
            <a:endParaRPr/>
          </a:p>
          <a:p>
            <a:pPr indent="-228600" lvl="2" marL="1143000" rtl="0" algn="l">
              <a:lnSpc>
                <a:spcPct val="90000"/>
              </a:lnSpc>
              <a:spcBef>
                <a:spcPts val="500"/>
              </a:spcBef>
              <a:spcAft>
                <a:spcPts val="0"/>
              </a:spcAft>
              <a:buClr>
                <a:schemeClr val="dk1"/>
              </a:buClr>
              <a:buSzPts val="2000"/>
              <a:buChar char="•"/>
            </a:pPr>
            <a:r>
              <a:rPr lang="es-ES"/>
              <a:t>En la mayoría de los lenguajes, esto se implementa como arreglos, vectores, listas o sequencias</a:t>
            </a:r>
            <a:endParaRPr/>
          </a:p>
          <a:p>
            <a:pPr indent="-228600" lvl="0" marL="228600" rtl="0" algn="l">
              <a:lnSpc>
                <a:spcPct val="90000"/>
              </a:lnSpc>
              <a:spcBef>
                <a:spcPts val="1000"/>
              </a:spcBef>
              <a:spcAft>
                <a:spcPts val="0"/>
              </a:spcAft>
              <a:buClr>
                <a:schemeClr val="dk1"/>
              </a:buClr>
              <a:buSzPts val="2800"/>
              <a:buChar char="•"/>
            </a:pPr>
            <a:r>
              <a:rPr lang="es-ES"/>
              <a:t>Características</a:t>
            </a:r>
            <a:endParaRPr/>
          </a:p>
          <a:p>
            <a:pPr indent="-228600" lvl="1" marL="685800" rtl="0" algn="l">
              <a:lnSpc>
                <a:spcPct val="90000"/>
              </a:lnSpc>
              <a:spcBef>
                <a:spcPts val="500"/>
              </a:spcBef>
              <a:spcAft>
                <a:spcPts val="0"/>
              </a:spcAft>
              <a:buClr>
                <a:schemeClr val="dk1"/>
              </a:buClr>
              <a:buSzPts val="2400"/>
              <a:buChar char="•"/>
            </a:pPr>
            <a:r>
              <a:rPr lang="es-ES"/>
              <a:t>Es una sintaxis para almacenar e intercambiar datos</a:t>
            </a:r>
            <a:endParaRPr/>
          </a:p>
          <a:p>
            <a:pPr indent="-228600" lvl="1" marL="685800" rtl="0" algn="l">
              <a:lnSpc>
                <a:spcPct val="90000"/>
              </a:lnSpc>
              <a:spcBef>
                <a:spcPts val="500"/>
              </a:spcBef>
              <a:spcAft>
                <a:spcPts val="0"/>
              </a:spcAft>
              <a:buClr>
                <a:schemeClr val="dk1"/>
              </a:buClr>
              <a:buSzPts val="2400"/>
              <a:buChar char="•"/>
            </a:pPr>
            <a:r>
              <a:rPr lang="es-ES"/>
              <a:t>Es una alternativa más fácil de usar a XML</a:t>
            </a:r>
            <a:endParaRPr/>
          </a:p>
          <a:p>
            <a:pPr indent="-228600" lvl="1" marL="685800" rtl="0" algn="l">
              <a:lnSpc>
                <a:spcPct val="90000"/>
              </a:lnSpc>
              <a:spcBef>
                <a:spcPts val="500"/>
              </a:spcBef>
              <a:spcAft>
                <a:spcPts val="0"/>
              </a:spcAft>
              <a:buClr>
                <a:schemeClr val="dk1"/>
              </a:buClr>
              <a:buSzPts val="2400"/>
              <a:buChar char="•"/>
            </a:pPr>
            <a:r>
              <a:rPr lang="es-ES"/>
              <a:t>En aplicaciones AJAX, JSON es más rápido y más fácil que XML</a:t>
            </a:r>
            <a:endParaRPr/>
          </a:p>
        </p:txBody>
      </p:sp>
      <p:pic>
        <p:nvPicPr>
          <p:cNvPr descr="Resultado de imagen de json" id="555" name="Google Shape;555;p76"/>
          <p:cNvPicPr preferRelativeResize="0"/>
          <p:nvPr/>
        </p:nvPicPr>
        <p:blipFill rotWithShape="1">
          <a:blip r:embed="rId3">
            <a:alphaModFix/>
          </a:blip>
          <a:srcRect b="0" l="0" r="0" t="0"/>
          <a:stretch/>
        </p:blipFill>
        <p:spPr>
          <a:xfrm>
            <a:off x="6775385" y="223837"/>
            <a:ext cx="4695889" cy="2042845"/>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pic>
        <p:nvPicPr>
          <p:cNvPr descr="Resultado de imagen de json" id="560" name="Google Shape;560;p77"/>
          <p:cNvPicPr preferRelativeResize="0"/>
          <p:nvPr/>
        </p:nvPicPr>
        <p:blipFill rotWithShape="1">
          <a:blip r:embed="rId3">
            <a:alphaModFix/>
          </a:blip>
          <a:srcRect b="0" l="0" r="0" t="0"/>
          <a:stretch/>
        </p:blipFill>
        <p:spPr>
          <a:xfrm>
            <a:off x="696488" y="407406"/>
            <a:ext cx="9014182" cy="6440734"/>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78"/>
          <p:cNvSpPr txBox="1"/>
          <p:nvPr>
            <p:ph type="title"/>
          </p:nvPr>
        </p:nvSpPr>
        <p:spPr>
          <a:xfrm>
            <a:off x="838200" y="365125"/>
            <a:ext cx="10515600" cy="1325563"/>
          </a:xfrm>
          <a:prstGeom prst="rect">
            <a:avLst/>
          </a:prstGeom>
          <a:solidFill>
            <a:schemeClr val="lt1"/>
          </a:solidFill>
          <a:ln cap="flat" cmpd="sng" w="12700">
            <a:solidFill>
              <a:schemeClr val="accent2"/>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solidFill>
                  <a:schemeClr val="dk1"/>
                </a:solidFill>
                <a:latin typeface="Calibri"/>
                <a:ea typeface="Calibri"/>
                <a:cs typeface="Calibri"/>
                <a:sym typeface="Calibri"/>
              </a:rPr>
              <a:t>Callbacks</a:t>
            </a:r>
            <a:endParaRPr/>
          </a:p>
        </p:txBody>
      </p:sp>
      <p:sp>
        <p:nvSpPr>
          <p:cNvPr id="566" name="Google Shape;566;p78">
            <a:hlinkClick r:id="rId3"/>
          </p:cNvPr>
          <p:cNvSpPr/>
          <p:nvPr/>
        </p:nvSpPr>
        <p:spPr>
          <a:xfrm>
            <a:off x="1177852" y="1941998"/>
            <a:ext cx="4870022" cy="2196865"/>
          </a:xfrm>
          <a:prstGeom prst="roundRect">
            <a:avLst>
              <a:gd fmla="val 16667" name="adj"/>
            </a:avLst>
          </a:prstGeom>
          <a:solidFill>
            <a:schemeClr val="accent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3200">
                <a:solidFill>
                  <a:schemeClr val="lt1"/>
                </a:solidFill>
                <a:latin typeface="Calibri"/>
                <a:ea typeface="Calibri"/>
                <a:cs typeface="Calibri"/>
                <a:sym typeface="Calibri"/>
              </a:rPr>
              <a:t>http://callbackhell.com/</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79"/>
          <p:cNvSpPr txBox="1"/>
          <p:nvPr>
            <p:ph type="title"/>
          </p:nvPr>
        </p:nvSpPr>
        <p:spPr>
          <a:xfrm>
            <a:off x="838200" y="365125"/>
            <a:ext cx="10515600" cy="1325563"/>
          </a:xfrm>
          <a:prstGeom prst="rect">
            <a:avLst/>
          </a:prstGeom>
          <a:solidFill>
            <a:schemeClr val="lt1"/>
          </a:solidFill>
          <a:ln cap="flat" cmpd="sng" w="12700">
            <a:solidFill>
              <a:schemeClr val="accent2"/>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solidFill>
                  <a:schemeClr val="dk1"/>
                </a:solidFill>
                <a:latin typeface="Calibri"/>
                <a:ea typeface="Calibri"/>
                <a:cs typeface="Calibri"/>
                <a:sym typeface="Calibri"/>
              </a:rPr>
              <a:t>Promesas</a:t>
            </a:r>
            <a:endParaRPr/>
          </a:p>
        </p:txBody>
      </p:sp>
      <p:sp>
        <p:nvSpPr>
          <p:cNvPr id="572" name="Google Shape;572;p79">
            <a:hlinkClick r:id="rId3"/>
          </p:cNvPr>
          <p:cNvSpPr/>
          <p:nvPr/>
        </p:nvSpPr>
        <p:spPr>
          <a:xfrm>
            <a:off x="1899069" y="2402472"/>
            <a:ext cx="6298447" cy="1575970"/>
          </a:xfrm>
          <a:prstGeom prst="roundRect">
            <a:avLst>
              <a:gd fmla="val 16667" name="adj"/>
            </a:avLst>
          </a:prstGeom>
          <a:solidFill>
            <a:schemeClr val="accent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3200">
                <a:solidFill>
                  <a:schemeClr val="lt1"/>
                </a:solidFill>
                <a:latin typeface="Calibri"/>
                <a:ea typeface="Calibri"/>
                <a:cs typeface="Calibri"/>
                <a:sym typeface="Calibri"/>
              </a:rPr>
              <a:t>https://www.promisejs.org/</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80"/>
          <p:cNvSpPr txBox="1"/>
          <p:nvPr>
            <p:ph type="title"/>
          </p:nvPr>
        </p:nvSpPr>
        <p:spPr>
          <a:xfrm>
            <a:off x="838200" y="365125"/>
            <a:ext cx="10515600" cy="1325563"/>
          </a:xfrm>
          <a:prstGeom prst="rect">
            <a:avLst/>
          </a:prstGeom>
          <a:solidFill>
            <a:schemeClr val="lt1"/>
          </a:solidFill>
          <a:ln cap="flat" cmpd="sng" w="12700">
            <a:solidFill>
              <a:schemeClr val="accent2"/>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solidFill>
                  <a:schemeClr val="dk1"/>
                </a:solidFill>
                <a:latin typeface="Calibri"/>
                <a:ea typeface="Calibri"/>
                <a:cs typeface="Calibri"/>
                <a:sym typeface="Calibri"/>
              </a:rPr>
              <a:t>Generadores </a:t>
            </a:r>
            <a:endParaRPr/>
          </a:p>
        </p:txBody>
      </p:sp>
      <p:sp>
        <p:nvSpPr>
          <p:cNvPr id="578" name="Google Shape;578;p80">
            <a:hlinkClick r:id="rId3"/>
          </p:cNvPr>
          <p:cNvSpPr/>
          <p:nvPr/>
        </p:nvSpPr>
        <p:spPr>
          <a:xfrm>
            <a:off x="1488526" y="2375135"/>
            <a:ext cx="8521748" cy="1433111"/>
          </a:xfrm>
          <a:prstGeom prst="roundRect">
            <a:avLst>
              <a:gd fmla="val 16667" name="adj"/>
            </a:avLst>
          </a:prstGeom>
          <a:solidFill>
            <a:schemeClr val="accent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3200">
                <a:solidFill>
                  <a:schemeClr val="lt1"/>
                </a:solidFill>
                <a:latin typeface="Calibri"/>
                <a:ea typeface="Calibri"/>
                <a:cs typeface="Calibri"/>
                <a:sym typeface="Calibri"/>
              </a:rPr>
              <a:t>https://www.promisejs.org/generators/</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81"/>
          <p:cNvSpPr txBox="1"/>
          <p:nvPr>
            <p:ph type="title"/>
          </p:nvPr>
        </p:nvSpPr>
        <p:spPr>
          <a:xfrm>
            <a:off x="838200" y="365125"/>
            <a:ext cx="10515600" cy="1325563"/>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solidFill>
                  <a:schemeClr val="dk1"/>
                </a:solidFill>
                <a:latin typeface="Calibri"/>
                <a:ea typeface="Calibri"/>
                <a:cs typeface="Calibri"/>
                <a:sym typeface="Calibri"/>
              </a:rPr>
              <a:t>Funciones Asíncronas (async y await) </a:t>
            </a:r>
            <a:endParaRPr/>
          </a:p>
        </p:txBody>
      </p:sp>
      <p:sp>
        <p:nvSpPr>
          <p:cNvPr id="584" name="Google Shape;584;p81">
            <a:hlinkClick r:id="rId3"/>
          </p:cNvPr>
          <p:cNvSpPr/>
          <p:nvPr/>
        </p:nvSpPr>
        <p:spPr>
          <a:xfrm>
            <a:off x="2833577" y="2620058"/>
            <a:ext cx="7016276" cy="1984025"/>
          </a:xfrm>
          <a:prstGeom prst="roundRect">
            <a:avLst>
              <a:gd fmla="val 16667" name="adj"/>
            </a:avLst>
          </a:prstGeom>
          <a:solidFill>
            <a:schemeClr val="accent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3600">
                <a:solidFill>
                  <a:schemeClr val="lt1"/>
                </a:solidFill>
                <a:latin typeface="Calibri"/>
                <a:ea typeface="Calibri"/>
                <a:cs typeface="Calibri"/>
                <a:sym typeface="Calibri"/>
              </a:rPr>
              <a:t>https://tc39.github.io/ecmascript-asyncawait/</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82"/>
          <p:cNvSpPr txBox="1"/>
          <p:nvPr>
            <p:ph type="title"/>
          </p:nvPr>
        </p:nvSpPr>
        <p:spPr>
          <a:xfrm>
            <a:off x="838200" y="365125"/>
            <a:ext cx="10515600" cy="1325563"/>
          </a:xfrm>
          <a:prstGeom prst="rect">
            <a:avLst/>
          </a:prstGeom>
          <a:solidFill>
            <a:schemeClr val="accent2"/>
          </a:solidFill>
          <a:ln cap="flat" cmpd="sng" w="12700">
            <a:solidFill>
              <a:srgbClr val="AC5B23"/>
            </a:solidFill>
            <a:prstDash val="solid"/>
            <a:miter lim="8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s-ES">
                <a:solidFill>
                  <a:schemeClr val="lt1"/>
                </a:solidFill>
                <a:latin typeface="Calibri"/>
                <a:ea typeface="Calibri"/>
                <a:cs typeface="Calibri"/>
                <a:sym typeface="Calibri"/>
              </a:rPr>
              <a:t>Referencias - Lecturas</a:t>
            </a:r>
            <a:endParaRPr/>
          </a:p>
        </p:txBody>
      </p:sp>
      <p:sp>
        <p:nvSpPr>
          <p:cNvPr id="590" name="Google Shape;590;p82">
            <a:hlinkClick r:id="rId3"/>
          </p:cNvPr>
          <p:cNvSpPr/>
          <p:nvPr/>
        </p:nvSpPr>
        <p:spPr>
          <a:xfrm>
            <a:off x="838200" y="2051808"/>
            <a:ext cx="8835189" cy="1326524"/>
          </a:xfrm>
          <a:prstGeom prst="roundRect">
            <a:avLst>
              <a:gd fmla="val 16667" name="adj"/>
            </a:avLst>
          </a:prstGeom>
          <a:solidFill>
            <a:schemeClr val="accent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800">
                <a:solidFill>
                  <a:schemeClr val="lt1"/>
                </a:solidFill>
                <a:latin typeface="Calibri"/>
                <a:ea typeface="Calibri"/>
                <a:cs typeface="Calibri"/>
                <a:sym typeface="Calibri"/>
              </a:rPr>
              <a:t>http://lemoncode.net/lemoncode-blog/2018/1/29/javascript-asincrono</a:t>
            </a:r>
            <a:endParaRPr/>
          </a:p>
        </p:txBody>
      </p:sp>
      <p:sp>
        <p:nvSpPr>
          <p:cNvPr id="591" name="Google Shape;591;p82">
            <a:hlinkClick r:id="rId4"/>
          </p:cNvPr>
          <p:cNvSpPr/>
          <p:nvPr/>
        </p:nvSpPr>
        <p:spPr>
          <a:xfrm>
            <a:off x="838200" y="3935286"/>
            <a:ext cx="8835189" cy="1133341"/>
          </a:xfrm>
          <a:prstGeom prst="roundRect">
            <a:avLst>
              <a:gd fmla="val 16667" name="adj"/>
            </a:avLst>
          </a:prstGeom>
          <a:solidFill>
            <a:schemeClr val="accent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800">
                <a:solidFill>
                  <a:schemeClr val="lt1"/>
                </a:solidFill>
                <a:latin typeface="Calibri"/>
                <a:ea typeface="Calibri"/>
                <a:cs typeface="Calibri"/>
                <a:sym typeface="Calibri"/>
              </a:rPr>
              <a:t>https://carlosazaustre.es/manejando-la-asincronia-en-javascript/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2018-09-07T15:17:17Z</dcterms:created>
  <dc:creator>Carmelo Escribano Lopez</dc:creator>
</cp:coreProperties>
</file>